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4"/>
  </p:sldMasterIdLst>
  <p:sldIdLst>
    <p:sldId id="256" r:id="rId5"/>
    <p:sldId id="257" r:id="rId6"/>
    <p:sldId id="258" r:id="rId7"/>
    <p:sldId id="259" r:id="rId8"/>
    <p:sldId id="264" r:id="rId9"/>
    <p:sldId id="265" r:id="rId10"/>
    <p:sldId id="260" r:id="rId11"/>
    <p:sldId id="261" r:id="rId12"/>
    <p:sldId id="262" r:id="rId13"/>
    <p:sldId id="263" r:id="rId14"/>
    <p:sldId id="266" r:id="rId15"/>
    <p:sldId id="269" r:id="rId16"/>
    <p:sldId id="272" r:id="rId17"/>
    <p:sldId id="267" r:id="rId18"/>
    <p:sldId id="268" r:id="rId19"/>
    <p:sldId id="270" r:id="rId20"/>
    <p:sldId id="280" r:id="rId21"/>
    <p:sldId id="281" r:id="rId22"/>
    <p:sldId id="282" r:id="rId23"/>
    <p:sldId id="271" r:id="rId24"/>
    <p:sldId id="273" r:id="rId25"/>
    <p:sldId id="274" r:id="rId26"/>
    <p:sldId id="275" r:id="rId27"/>
    <p:sldId id="276" r:id="rId28"/>
    <p:sldId id="278" r:id="rId29"/>
    <p:sldId id="279" r:id="rId30"/>
    <p:sldId id="27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FD6A98-CAA6-0A41-E9A7-789C47C27623}" v="935" dt="2025-11-20T22:25:32.090"/>
    <p1510:client id="{82158FBE-60F8-441D-ACD7-14E0EB848B76}" v="606" dt="2025-11-20T22:41:48.6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varScale="1">
        <p:scale>
          <a:sx n="70" d="100"/>
          <a:sy n="70" d="100"/>
        </p:scale>
        <p:origin x="7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1T21:29:10.219"/>
    </inkml:context>
    <inkml:brush xml:id="br0">
      <inkml:brushProperty name="width" value="0.05" units="cm"/>
      <inkml:brushProperty name="height" value="0.05" units="cm"/>
    </inkml:brush>
  </inkml:definitions>
  <inkml:trace contextRef="#ctx0" brushRef="#br0">1 0 32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E56D6-F195-48D7-978E-7EE16D430469}"/>
              </a:ext>
            </a:extLst>
          </p:cNvPr>
          <p:cNvSpPr>
            <a:spLocks noGrp="1"/>
          </p:cNvSpPr>
          <p:nvPr>
            <p:ph type="ctrTitle"/>
          </p:nvPr>
        </p:nvSpPr>
        <p:spPr>
          <a:xfrm>
            <a:off x="1756946" y="1104900"/>
            <a:ext cx="8376514" cy="3120504"/>
          </a:xfrm>
        </p:spPr>
        <p:txBody>
          <a:bodyPr anchor="b">
            <a:normAutofit/>
          </a:bodyPr>
          <a:lstStyle>
            <a:lvl1pPr algn="ctr">
              <a:lnSpc>
                <a:spcPct val="110000"/>
              </a:lnSpc>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0A72F42-5C88-4F7D-803B-C371B570D784}"/>
              </a:ext>
            </a:extLst>
          </p:cNvPr>
          <p:cNvSpPr>
            <a:spLocks noGrp="1"/>
          </p:cNvSpPr>
          <p:nvPr>
            <p:ph type="subTitle" idx="1"/>
          </p:nvPr>
        </p:nvSpPr>
        <p:spPr>
          <a:xfrm>
            <a:off x="2908039" y="4442385"/>
            <a:ext cx="6074328" cy="984023"/>
          </a:xfrm>
        </p:spPr>
        <p:txBody>
          <a:bodyPr>
            <a:normAutofit/>
          </a:bodyPr>
          <a:lstStyle>
            <a:lvl1pPr marL="0" indent="0" algn="ctr">
              <a:lnSpc>
                <a:spcPct val="100000"/>
              </a:lnSpc>
              <a:buNone/>
              <a:defRPr sz="2000" i="0" spc="16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A0384F3-2D6A-49F6-8F79-F3955E90484E}"/>
              </a:ext>
            </a:extLst>
          </p:cNvPr>
          <p:cNvSpPr>
            <a:spLocks noGrp="1"/>
          </p:cNvSpPr>
          <p:nvPr>
            <p:ph type="dt" sz="half" idx="10"/>
          </p:nvPr>
        </p:nvSpPr>
        <p:spPr/>
        <p:txBody>
          <a:bodyPr/>
          <a:lstStyle/>
          <a:p>
            <a:fld id="{91F9259A-1FE3-4FF9-8A07-BDD8177164ED}" type="datetime4">
              <a:rPr lang="en-US" smtClean="0"/>
              <a:t>November 21, 2025</a:t>
            </a:fld>
            <a:endParaRPr lang="en-US"/>
          </a:p>
        </p:txBody>
      </p:sp>
      <p:sp>
        <p:nvSpPr>
          <p:cNvPr id="5" name="Footer Placeholder 4">
            <a:extLst>
              <a:ext uri="{FF2B5EF4-FFF2-40B4-BE49-F238E27FC236}">
                <a16:creationId xmlns:a16="http://schemas.microsoft.com/office/drawing/2014/main" id="{95363F32-CD31-4801-BAE4-09EEB1262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5D34C-49ED-4ADB-8693-73B790764F39}"/>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227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B333-9E16-4502-96B5-3F586B7E003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6ED0795-5EC7-4FF8-9FC7-22AFA3C55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A2DA5B-9862-4A23-8FEC-5C1ABC2EEF1B}"/>
              </a:ext>
            </a:extLst>
          </p:cNvPr>
          <p:cNvSpPr>
            <a:spLocks noGrp="1"/>
          </p:cNvSpPr>
          <p:nvPr>
            <p:ph type="dt" sz="half" idx="10"/>
          </p:nvPr>
        </p:nvSpPr>
        <p:spPr>
          <a:xfrm rot="5400000">
            <a:off x="10506456" y="5074920"/>
            <a:ext cx="2647667" cy="365125"/>
          </a:xfrm>
        </p:spPr>
        <p:txBody>
          <a:bodyPr/>
          <a:lstStyle/>
          <a:p>
            <a:fld id="{5D340FED-6E95-4177-A7EF-CD303B9E611D}" type="datetime4">
              <a:rPr lang="en-US" smtClean="0"/>
              <a:t>November 21, 2025</a:t>
            </a:fld>
            <a:endParaRPr lang="en-US"/>
          </a:p>
        </p:txBody>
      </p:sp>
      <p:sp>
        <p:nvSpPr>
          <p:cNvPr id="5" name="Footer Placeholder 4">
            <a:extLst>
              <a:ext uri="{FF2B5EF4-FFF2-40B4-BE49-F238E27FC236}">
                <a16:creationId xmlns:a16="http://schemas.microsoft.com/office/drawing/2014/main" id="{C63D9A4B-0DA7-46BB-9DCE-3F26075C44C6}"/>
              </a:ext>
            </a:extLst>
          </p:cNvPr>
          <p:cNvSpPr>
            <a:spLocks noGrp="1"/>
          </p:cNvSpPr>
          <p:nvPr>
            <p:ph type="ftr" sz="quarter" idx="11"/>
          </p:nvPr>
        </p:nvSpPr>
        <p:spPr>
          <a:xfrm rot="5400000">
            <a:off x="10451592" y="1408176"/>
            <a:ext cx="2770499" cy="365125"/>
          </a:xfrm>
        </p:spPr>
        <p:txBody>
          <a:bodyPr/>
          <a:lstStyle/>
          <a:p>
            <a:endParaRPr lang="en-US" dirty="0"/>
          </a:p>
        </p:txBody>
      </p:sp>
      <p:sp>
        <p:nvSpPr>
          <p:cNvPr id="6" name="Slide Number Placeholder 5">
            <a:extLst>
              <a:ext uri="{FF2B5EF4-FFF2-40B4-BE49-F238E27FC236}">
                <a16:creationId xmlns:a16="http://schemas.microsoft.com/office/drawing/2014/main" id="{EE6A7C47-81AC-431C-A7C3-2BC71AD14417}"/>
              </a:ext>
            </a:extLst>
          </p:cNvPr>
          <p:cNvSpPr>
            <a:spLocks noGrp="1"/>
          </p:cNvSpPr>
          <p:nvPr>
            <p:ph type="sldNum" sz="quarter" idx="12"/>
          </p:nvPr>
        </p:nvSpPr>
        <p:spPr>
          <a:xfrm>
            <a:off x="11558016" y="3136392"/>
            <a:ext cx="545911" cy="580029"/>
          </a:xfrm>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867268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D2E47-4DC7-46C4-9407-FA4CF7E0AAE3}"/>
              </a:ext>
            </a:extLst>
          </p:cNvPr>
          <p:cNvSpPr>
            <a:spLocks noGrp="1"/>
          </p:cNvSpPr>
          <p:nvPr>
            <p:ph type="title"/>
          </p:nvPr>
        </p:nvSpPr>
        <p:spPr>
          <a:xfrm>
            <a:off x="1052513" y="1709738"/>
            <a:ext cx="9087774" cy="3438524"/>
          </a:xfrm>
        </p:spPr>
        <p:txBody>
          <a:bodyPr anchor="b">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BF7B502-122E-4177-A408-FC436A254215}"/>
              </a:ext>
            </a:extLst>
          </p:cNvPr>
          <p:cNvSpPr>
            <a:spLocks noGrp="1"/>
          </p:cNvSpPr>
          <p:nvPr>
            <p:ph type="body" idx="1"/>
          </p:nvPr>
        </p:nvSpPr>
        <p:spPr>
          <a:xfrm>
            <a:off x="1052513" y="5148262"/>
            <a:ext cx="8844522" cy="113823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229696-2AEF-4765-B33E-7DA328E464FF}"/>
              </a:ext>
            </a:extLst>
          </p:cNvPr>
          <p:cNvSpPr>
            <a:spLocks noGrp="1"/>
          </p:cNvSpPr>
          <p:nvPr>
            <p:ph type="dt" sz="half" idx="10"/>
          </p:nvPr>
        </p:nvSpPr>
        <p:spPr/>
        <p:txBody>
          <a:bodyPr/>
          <a:lstStyle/>
          <a:p>
            <a:fld id="{477962CB-39AD-45A9-800F-54DAB53D6021}" type="datetime4">
              <a:rPr lang="en-US" smtClean="0"/>
              <a:t>November 21, 2025</a:t>
            </a:fld>
            <a:endParaRPr lang="en-US"/>
          </a:p>
        </p:txBody>
      </p:sp>
      <p:sp>
        <p:nvSpPr>
          <p:cNvPr id="5" name="Footer Placeholder 4">
            <a:extLst>
              <a:ext uri="{FF2B5EF4-FFF2-40B4-BE49-F238E27FC236}">
                <a16:creationId xmlns:a16="http://schemas.microsoft.com/office/drawing/2014/main" id="{4729B2E4-2F1C-4FEE-AAB2-4FCC3EEFD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7D4B8-E107-480A-AA17-261CA49BBB5D}"/>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579120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BAE8-3305-4F08-BECB-56AD7FD4E4B1}"/>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77021AC-6D8D-4D24-8B01-8AE8F41BE4B8}"/>
              </a:ext>
            </a:extLst>
          </p:cNvPr>
          <p:cNvSpPr>
            <a:spLocks noGrp="1"/>
          </p:cNvSpPr>
          <p:nvPr>
            <p:ph sz="half" idx="1"/>
          </p:nvPr>
        </p:nvSpPr>
        <p:spPr>
          <a:xfrm>
            <a:off x="1050878" y="1825624"/>
            <a:ext cx="4473622" cy="4460875"/>
          </a:xfrm>
        </p:spPr>
        <p:txBody>
          <a:bodyPr/>
          <a:lstStyle>
            <a:lvl2pPr marL="274320" indent="0">
              <a:buFontTx/>
              <a:buNone/>
              <a:defRPr/>
            </a:lvl2pPr>
            <a:lvl3pPr marL="502920">
              <a:defRPr/>
            </a:lvl3pPr>
            <a:lvl4pPr marL="548640" indent="0">
              <a:buFontTx/>
              <a:buNone/>
              <a:defRPr/>
            </a:lvl4pPr>
            <a:lvl5pPr marL="7315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8E7F49C-3DB3-40B7-89B3-E3BC32FC110F}"/>
              </a:ext>
            </a:extLst>
          </p:cNvPr>
          <p:cNvSpPr>
            <a:spLocks noGrp="1"/>
          </p:cNvSpPr>
          <p:nvPr>
            <p:ph sz="half" idx="2"/>
          </p:nvPr>
        </p:nvSpPr>
        <p:spPr>
          <a:xfrm>
            <a:off x="5844540" y="1825624"/>
            <a:ext cx="5016943"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1E33D58-BDF5-4F1F-806B-0491CB3624A9}"/>
              </a:ext>
            </a:extLst>
          </p:cNvPr>
          <p:cNvSpPr>
            <a:spLocks noGrp="1"/>
          </p:cNvSpPr>
          <p:nvPr>
            <p:ph type="dt" sz="half" idx="10"/>
          </p:nvPr>
        </p:nvSpPr>
        <p:spPr/>
        <p:txBody>
          <a:bodyPr/>
          <a:lstStyle/>
          <a:p>
            <a:fld id="{2DEDF93D-55AB-4606-B9D7-742F1FC51983}" type="datetime4">
              <a:rPr lang="en-US" smtClean="0"/>
              <a:t>November 21, 2025</a:t>
            </a:fld>
            <a:endParaRPr lang="en-US" dirty="0"/>
          </a:p>
        </p:txBody>
      </p:sp>
      <p:sp>
        <p:nvSpPr>
          <p:cNvPr id="6" name="Footer Placeholder 5">
            <a:extLst>
              <a:ext uri="{FF2B5EF4-FFF2-40B4-BE49-F238E27FC236}">
                <a16:creationId xmlns:a16="http://schemas.microsoft.com/office/drawing/2014/main" id="{848BCBFD-1FE1-441A-B3AF-C3E7E7B8D11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70CE272-E6FB-455B-BACB-2471D66D956F}"/>
              </a:ext>
            </a:extLst>
          </p:cNvPr>
          <p:cNvSpPr>
            <a:spLocks noGrp="1"/>
          </p:cNvSpPr>
          <p:nvPr>
            <p:ph type="sldNum" sz="quarter" idx="12"/>
          </p:nvPr>
        </p:nvSpPr>
        <p:spPr/>
        <p:txBody>
          <a:bodyPr/>
          <a:lstStyle/>
          <a:p>
            <a:fld id="{9D4AEF59-F28E-467C-9EA3-92D1CFAD475A}" type="slidenum">
              <a:rPr lang="en-US" smtClean="0"/>
              <a:t>‹#›</a:t>
            </a:fld>
            <a:endParaRPr lang="en-US" dirty="0"/>
          </a:p>
        </p:txBody>
      </p:sp>
    </p:spTree>
    <p:extLst>
      <p:ext uri="{BB962C8B-B14F-4D97-AF65-F5344CB8AC3E}">
        <p14:creationId xmlns:p14="http://schemas.microsoft.com/office/powerpoint/2010/main" val="307032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73A4FB-9EF5-4D6C-A275-2DE1077A29E7}"/>
              </a:ext>
            </a:extLst>
          </p:cNvPr>
          <p:cNvSpPr>
            <a:spLocks noGrp="1"/>
          </p:cNvSpPr>
          <p:nvPr>
            <p:ph type="body" idx="1"/>
          </p:nvPr>
        </p:nvSpPr>
        <p:spPr>
          <a:xfrm>
            <a:off x="1071563" y="1835219"/>
            <a:ext cx="4452938"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DC9972A-4D34-4A9F-84EB-8D64A703B56C}"/>
              </a:ext>
            </a:extLst>
          </p:cNvPr>
          <p:cNvSpPr>
            <a:spLocks noGrp="1"/>
          </p:cNvSpPr>
          <p:nvPr>
            <p:ph sz="half" idx="2"/>
          </p:nvPr>
        </p:nvSpPr>
        <p:spPr>
          <a:xfrm>
            <a:off x="1071562" y="2717801"/>
            <a:ext cx="4452938" cy="3559452"/>
          </a:xfrm>
        </p:spPr>
        <p:txBody>
          <a:bodyPr/>
          <a:lstStyle>
            <a:lvl2pPr marL="274320" indent="0">
              <a:buFontTx/>
              <a:buNone/>
              <a:defRPr/>
            </a:lvl2pPr>
            <a:lvl3pPr marL="548640">
              <a:defRPr/>
            </a:lvl3pPr>
            <a:lvl4pPr marL="594360" indent="0">
              <a:buFontTx/>
              <a:buNone/>
              <a:defRPr/>
            </a:lvl4pPr>
            <a:lvl5pPr marL="82296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DBBDDE3-C8D7-4600-8259-24E1F8118A41}"/>
              </a:ext>
            </a:extLst>
          </p:cNvPr>
          <p:cNvSpPr>
            <a:spLocks noGrp="1"/>
          </p:cNvSpPr>
          <p:nvPr>
            <p:ph type="body" sz="quarter" idx="3"/>
          </p:nvPr>
        </p:nvSpPr>
        <p:spPr>
          <a:xfrm>
            <a:off x="5844540" y="1835219"/>
            <a:ext cx="5016943"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4649FFF-44C7-4256-AFE1-C5457C7AB501}"/>
              </a:ext>
            </a:extLst>
          </p:cNvPr>
          <p:cNvSpPr>
            <a:spLocks noGrp="1"/>
          </p:cNvSpPr>
          <p:nvPr>
            <p:ph sz="quarter" idx="4"/>
          </p:nvPr>
        </p:nvSpPr>
        <p:spPr>
          <a:xfrm>
            <a:off x="5844540" y="2717800"/>
            <a:ext cx="5016943" cy="3559453"/>
          </a:xfrm>
        </p:spPr>
        <p:txBody>
          <a:bodyPr/>
          <a:lstStyle>
            <a:lvl2pPr marL="457200" indent="0">
              <a:buNone/>
              <a:defRPr/>
            </a:lvl2pPr>
            <a:lvl3pPr marL="548640">
              <a:defRPr/>
            </a:lvl3pPr>
            <a:lvl4pPr marL="594360" indent="0">
              <a:buFontTx/>
              <a:buNone/>
              <a:defRPr/>
            </a:lvl4pPr>
            <a:lvl5pPr marL="82296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BEC6ACF-080E-4B7C-B0C0-77E90C16E9F6}"/>
              </a:ext>
            </a:extLst>
          </p:cNvPr>
          <p:cNvSpPr>
            <a:spLocks noGrp="1"/>
          </p:cNvSpPr>
          <p:nvPr>
            <p:ph type="dt" sz="half" idx="10"/>
          </p:nvPr>
        </p:nvSpPr>
        <p:spPr/>
        <p:txBody>
          <a:bodyPr/>
          <a:lstStyle/>
          <a:p>
            <a:fld id="{DDF2841D-FB5C-47AB-B2FF-32E855C1EA71}" type="datetime4">
              <a:rPr lang="en-US" smtClean="0"/>
              <a:t>November 21, 2025</a:t>
            </a:fld>
            <a:endParaRPr lang="en-US"/>
          </a:p>
        </p:txBody>
      </p:sp>
      <p:sp>
        <p:nvSpPr>
          <p:cNvPr id="8" name="Footer Placeholder 7">
            <a:extLst>
              <a:ext uri="{FF2B5EF4-FFF2-40B4-BE49-F238E27FC236}">
                <a16:creationId xmlns:a16="http://schemas.microsoft.com/office/drawing/2014/main" id="{39A68C0B-BC90-4ADA-B6E6-2B30BFF9E7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BCE559-C82B-4E27-965B-4AC3C66FC8F8}"/>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12" name="Title 11">
            <a:extLst>
              <a:ext uri="{FF2B5EF4-FFF2-40B4-BE49-F238E27FC236}">
                <a16:creationId xmlns:a16="http://schemas.microsoft.com/office/drawing/2014/main" id="{3752B99E-38EC-4745-889B-124D347596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47349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3DE7304-D393-47F0-ACCC-1F72EFCCE7CA}"/>
              </a:ext>
            </a:extLst>
          </p:cNvPr>
          <p:cNvSpPr>
            <a:spLocks noGrp="1"/>
          </p:cNvSpPr>
          <p:nvPr>
            <p:ph type="dt" sz="half" idx="10"/>
          </p:nvPr>
        </p:nvSpPr>
        <p:spPr/>
        <p:txBody>
          <a:bodyPr/>
          <a:lstStyle/>
          <a:p>
            <a:fld id="{118537E9-D174-424D-BEE8-AFC4CA5F9F97}" type="datetime4">
              <a:rPr lang="en-US" smtClean="0"/>
              <a:t>November 21, 2025</a:t>
            </a:fld>
            <a:endParaRPr lang="en-US"/>
          </a:p>
        </p:txBody>
      </p:sp>
      <p:sp>
        <p:nvSpPr>
          <p:cNvPr id="4" name="Footer Placeholder 3">
            <a:extLst>
              <a:ext uri="{FF2B5EF4-FFF2-40B4-BE49-F238E27FC236}">
                <a16:creationId xmlns:a16="http://schemas.microsoft.com/office/drawing/2014/main" id="{B68451FF-032D-4787-BA4B-5EB415494A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B7511D-7256-4A08-BF62-3B3F821A6F02}"/>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6" name="Title 5">
            <a:extLst>
              <a:ext uri="{FF2B5EF4-FFF2-40B4-BE49-F238E27FC236}">
                <a16:creationId xmlns:a16="http://schemas.microsoft.com/office/drawing/2014/main" id="{03FCDA27-1C47-4EA1-A160-EC91FD88BC3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91647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DE8ADA-7BF8-433A-8770-61C690F37DCB}"/>
              </a:ext>
            </a:extLst>
          </p:cNvPr>
          <p:cNvSpPr>
            <a:spLocks noGrp="1"/>
          </p:cNvSpPr>
          <p:nvPr>
            <p:ph type="dt" sz="half" idx="10"/>
          </p:nvPr>
        </p:nvSpPr>
        <p:spPr/>
        <p:txBody>
          <a:bodyPr/>
          <a:lstStyle/>
          <a:p>
            <a:fld id="{1C7A44C0-F7AC-49C2-8289-1E7A86D9FB50}" type="datetime4">
              <a:rPr lang="en-US" smtClean="0"/>
              <a:t>November 21, 2025</a:t>
            </a:fld>
            <a:endParaRPr lang="en-US"/>
          </a:p>
        </p:txBody>
      </p:sp>
      <p:sp>
        <p:nvSpPr>
          <p:cNvPr id="3" name="Footer Placeholder 2">
            <a:extLst>
              <a:ext uri="{FF2B5EF4-FFF2-40B4-BE49-F238E27FC236}">
                <a16:creationId xmlns:a16="http://schemas.microsoft.com/office/drawing/2014/main" id="{16357B86-EC22-49C6-BBC6-639D57D1AF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63764B-CF91-4C81-B4C3-5B5E5A973610}"/>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295955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4801-B0C7-4458-B413-24D6E68FAA57}"/>
              </a:ext>
            </a:extLst>
          </p:cNvPr>
          <p:cNvSpPr>
            <a:spLocks noGrp="1"/>
          </p:cNvSpPr>
          <p:nvPr>
            <p:ph type="title"/>
          </p:nvPr>
        </p:nvSpPr>
        <p:spPr>
          <a:xfrm>
            <a:off x="1063633" y="457200"/>
            <a:ext cx="4170355" cy="1917509"/>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2FA0C76-733A-488A-89FB-7D04FD64BD68}"/>
              </a:ext>
            </a:extLst>
          </p:cNvPr>
          <p:cNvSpPr>
            <a:spLocks noGrp="1"/>
          </p:cNvSpPr>
          <p:nvPr>
            <p:ph idx="1"/>
          </p:nvPr>
        </p:nvSpPr>
        <p:spPr>
          <a:xfrm>
            <a:off x="5481637" y="457200"/>
            <a:ext cx="5562601" cy="59436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D45B9DE-016A-4B31-BB52-99C76E28B4B9}"/>
              </a:ext>
            </a:extLst>
          </p:cNvPr>
          <p:cNvSpPr>
            <a:spLocks noGrp="1"/>
          </p:cNvSpPr>
          <p:nvPr>
            <p:ph type="body" sz="half" idx="2"/>
          </p:nvPr>
        </p:nvSpPr>
        <p:spPr>
          <a:xfrm>
            <a:off x="1063633" y="2374708"/>
            <a:ext cx="4170355" cy="40260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ED6CC3-66DD-4D9A-A9C7-F588BA88C992}"/>
              </a:ext>
            </a:extLst>
          </p:cNvPr>
          <p:cNvSpPr>
            <a:spLocks noGrp="1"/>
          </p:cNvSpPr>
          <p:nvPr>
            <p:ph type="dt" sz="half" idx="10"/>
          </p:nvPr>
        </p:nvSpPr>
        <p:spPr/>
        <p:txBody>
          <a:bodyPr/>
          <a:lstStyle/>
          <a:p>
            <a:fld id="{73BB84BC-6E78-40D1-8831-40AB1F596614}" type="datetime4">
              <a:rPr lang="en-US" smtClean="0"/>
              <a:t>November 21, 2025</a:t>
            </a:fld>
            <a:endParaRPr lang="en-US"/>
          </a:p>
        </p:txBody>
      </p:sp>
      <p:sp>
        <p:nvSpPr>
          <p:cNvPr id="6" name="Footer Placeholder 5">
            <a:extLst>
              <a:ext uri="{FF2B5EF4-FFF2-40B4-BE49-F238E27FC236}">
                <a16:creationId xmlns:a16="http://schemas.microsoft.com/office/drawing/2014/main" id="{31359FC8-04EF-4F7D-8E43-4EE0E95DA9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71C964-4227-4DEE-87A1-026162DDF664}"/>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530572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EB4E-D4BB-4C86-A820-63474E5A4086}"/>
              </a:ext>
            </a:extLst>
          </p:cNvPr>
          <p:cNvSpPr>
            <a:spLocks noGrp="1"/>
          </p:cNvSpPr>
          <p:nvPr>
            <p:ph type="title"/>
          </p:nvPr>
        </p:nvSpPr>
        <p:spPr>
          <a:xfrm>
            <a:off x="1062038" y="457199"/>
            <a:ext cx="3913241" cy="192881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4FA99A1-8FAF-415D-A399-1B2C2A0F2300}"/>
              </a:ext>
            </a:extLst>
          </p:cNvPr>
          <p:cNvSpPr>
            <a:spLocks noGrp="1"/>
          </p:cNvSpPr>
          <p:nvPr>
            <p:ph type="pic" idx="1"/>
          </p:nvPr>
        </p:nvSpPr>
        <p:spPr>
          <a:xfrm>
            <a:off x="5257752" y="457200"/>
            <a:ext cx="6110288"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4A15BEE-9915-4637-85A2-2AF2872C72BC}"/>
              </a:ext>
            </a:extLst>
          </p:cNvPr>
          <p:cNvSpPr>
            <a:spLocks noGrp="1"/>
          </p:cNvSpPr>
          <p:nvPr>
            <p:ph type="body" sz="half" idx="2"/>
          </p:nvPr>
        </p:nvSpPr>
        <p:spPr>
          <a:xfrm>
            <a:off x="1062038" y="2386013"/>
            <a:ext cx="3913241" cy="40147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73427C-3B67-4ED4-925D-04B9C09AA54B}"/>
              </a:ext>
            </a:extLst>
          </p:cNvPr>
          <p:cNvSpPr>
            <a:spLocks noGrp="1"/>
          </p:cNvSpPr>
          <p:nvPr>
            <p:ph type="dt" sz="half" idx="10"/>
          </p:nvPr>
        </p:nvSpPr>
        <p:spPr/>
        <p:txBody>
          <a:bodyPr/>
          <a:lstStyle/>
          <a:p>
            <a:fld id="{ADFA080F-3961-4D42-BEDE-84A1FED032F1}" type="datetime4">
              <a:rPr lang="en-US" smtClean="0"/>
              <a:t>November 21, 2025</a:t>
            </a:fld>
            <a:endParaRPr lang="en-US"/>
          </a:p>
        </p:txBody>
      </p:sp>
      <p:sp>
        <p:nvSpPr>
          <p:cNvPr id="6" name="Footer Placeholder 5">
            <a:extLst>
              <a:ext uri="{FF2B5EF4-FFF2-40B4-BE49-F238E27FC236}">
                <a16:creationId xmlns:a16="http://schemas.microsoft.com/office/drawing/2014/main" id="{EEB5DAFD-22DE-4E9E-9C72-B16C1F273D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E8EE99-49CC-4A30-8ADA-39EFD8DAAD22}"/>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803186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BF0171A2-02C1-4543-8B6B-FCF7E69712DF}"/>
              </a:ext>
            </a:extLst>
          </p:cNvPr>
          <p:cNvSpPr>
            <a:spLocks noGrp="1"/>
          </p:cNvSpPr>
          <p:nvPr>
            <p:ph type="body" orient="vert" idx="1"/>
          </p:nvPr>
        </p:nvSpPr>
        <p:spPr>
          <a:xfrm>
            <a:off x="1050879" y="1825625"/>
            <a:ext cx="9810604" cy="451669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F95027C-A386-44E4-AFE1-33AFFDA3AD8F}"/>
              </a:ext>
            </a:extLst>
          </p:cNvPr>
          <p:cNvSpPr>
            <a:spLocks noGrp="1"/>
          </p:cNvSpPr>
          <p:nvPr>
            <p:ph type="dt" sz="half" idx="10"/>
          </p:nvPr>
        </p:nvSpPr>
        <p:spPr/>
        <p:txBody>
          <a:bodyPr/>
          <a:lstStyle/>
          <a:p>
            <a:fld id="{E5CC3C8F-D4A7-4EAD-92AD-82C91CB8BB85}" type="datetime4">
              <a:rPr lang="en-US" smtClean="0"/>
              <a:t>November 21, 2025</a:t>
            </a:fld>
            <a:endParaRPr lang="en-US"/>
          </a:p>
        </p:txBody>
      </p:sp>
      <p:sp>
        <p:nvSpPr>
          <p:cNvPr id="5" name="Footer Placeholder 4">
            <a:extLst>
              <a:ext uri="{FF2B5EF4-FFF2-40B4-BE49-F238E27FC236}">
                <a16:creationId xmlns:a16="http://schemas.microsoft.com/office/drawing/2014/main" id="{FB1BF710-0558-4457-825D-48713CAED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7F93D-5DC3-4C36-AEB0-79CDB15C316A}"/>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7" name="Title 6">
            <a:extLst>
              <a:ext uri="{FF2B5EF4-FFF2-40B4-BE49-F238E27FC236}">
                <a16:creationId xmlns:a16="http://schemas.microsoft.com/office/drawing/2014/main" id="{87CFC0C8-11FE-4003-B2D6-B7B8E279056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81296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B41C5-3638-439D-BA61-4DAA142226E8}"/>
              </a:ext>
            </a:extLst>
          </p:cNvPr>
          <p:cNvSpPr>
            <a:spLocks noGrp="1"/>
          </p:cNvSpPr>
          <p:nvPr>
            <p:ph type="title" orient="vert"/>
          </p:nvPr>
        </p:nvSpPr>
        <p:spPr>
          <a:xfrm>
            <a:off x="8724901" y="464025"/>
            <a:ext cx="2161540" cy="580029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99B91A0-A376-483C-926E-189F376E5520}"/>
              </a:ext>
            </a:extLst>
          </p:cNvPr>
          <p:cNvSpPr>
            <a:spLocks noGrp="1"/>
          </p:cNvSpPr>
          <p:nvPr>
            <p:ph type="body" orient="vert" idx="1"/>
          </p:nvPr>
        </p:nvSpPr>
        <p:spPr>
          <a:xfrm>
            <a:off x="838200" y="464023"/>
            <a:ext cx="7886700" cy="58002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A14134E-B7D5-4664-BB2E-6A98ED630A9F}"/>
              </a:ext>
            </a:extLst>
          </p:cNvPr>
          <p:cNvSpPr>
            <a:spLocks noGrp="1"/>
          </p:cNvSpPr>
          <p:nvPr>
            <p:ph type="dt" sz="half" idx="10"/>
          </p:nvPr>
        </p:nvSpPr>
        <p:spPr/>
        <p:txBody>
          <a:bodyPr/>
          <a:lstStyle/>
          <a:p>
            <a:fld id="{BC011D41-E33C-4BC7-8272-37E8417FD097}" type="datetime4">
              <a:rPr lang="en-US" smtClean="0"/>
              <a:t>November 21, 2025</a:t>
            </a:fld>
            <a:endParaRPr lang="en-US"/>
          </a:p>
        </p:txBody>
      </p:sp>
      <p:sp>
        <p:nvSpPr>
          <p:cNvPr id="5" name="Footer Placeholder 4">
            <a:extLst>
              <a:ext uri="{FF2B5EF4-FFF2-40B4-BE49-F238E27FC236}">
                <a16:creationId xmlns:a16="http://schemas.microsoft.com/office/drawing/2014/main" id="{92A54E2A-B1CE-4F2E-9D9A-D47E514D5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E7C304-46A8-4179-87A2-B8CC10BAAFAE}"/>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589033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customXml" Target="../ink/ink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A person in a dark room&#10;&#10;Description automatically generated">
            <a:extLst>
              <a:ext uri="{FF2B5EF4-FFF2-40B4-BE49-F238E27FC236}">
                <a16:creationId xmlns:a16="http://schemas.microsoft.com/office/drawing/2014/main" id="{DEB2E8C4-C3E7-4048-A43D-9859510CFA9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p:sp>
        <p:nvSpPr>
          <p:cNvPr id="2" name="Title Placeholder 1">
            <a:extLst>
              <a:ext uri="{FF2B5EF4-FFF2-40B4-BE49-F238E27FC236}">
                <a16:creationId xmlns:a16="http://schemas.microsoft.com/office/drawing/2014/main" id="{9AFBD2E1-C16B-4996-869C-DD03823A80A4}"/>
              </a:ext>
            </a:extLst>
          </p:cNvPr>
          <p:cNvSpPr>
            <a:spLocks noGrp="1"/>
          </p:cNvSpPr>
          <p:nvPr>
            <p:ph type="title"/>
          </p:nvPr>
        </p:nvSpPr>
        <p:spPr>
          <a:xfrm>
            <a:off x="1050879" y="609601"/>
            <a:ext cx="9810604" cy="1216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844DB6A-ED8E-4755-BC7A-B7AA65244231}"/>
              </a:ext>
            </a:extLst>
          </p:cNvPr>
          <p:cNvSpPr>
            <a:spLocks noGrp="1"/>
          </p:cNvSpPr>
          <p:nvPr>
            <p:ph type="body" idx="1"/>
          </p:nvPr>
        </p:nvSpPr>
        <p:spPr>
          <a:xfrm>
            <a:off x="1050879" y="1825624"/>
            <a:ext cx="9810604" cy="44287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F5CE27-B558-4B88-ACE3-B70423127730}"/>
              </a:ext>
            </a:extLst>
          </p:cNvPr>
          <p:cNvSpPr>
            <a:spLocks noGrp="1"/>
          </p:cNvSpPr>
          <p:nvPr>
            <p:ph type="dt" sz="half" idx="2"/>
          </p:nvPr>
        </p:nvSpPr>
        <p:spPr>
          <a:xfrm rot="5400000">
            <a:off x="10509243" y="5071825"/>
            <a:ext cx="2647667" cy="365125"/>
          </a:xfrm>
          <a:prstGeom prst="rect">
            <a:avLst/>
          </a:prstGeom>
        </p:spPr>
        <p:txBody>
          <a:bodyPr vert="horz" lIns="91440" tIns="45720" rIns="91440" bIns="45720" rtlCol="0" anchor="ctr"/>
          <a:lstStyle>
            <a:lvl1pPr algn="l">
              <a:defRPr sz="900" cap="all" spc="300" baseline="0">
                <a:solidFill>
                  <a:schemeClr val="tx1">
                    <a:lumMod val="85000"/>
                    <a:lumOff val="15000"/>
                  </a:schemeClr>
                </a:solidFill>
                <a:latin typeface="+mn-lt"/>
              </a:defRPr>
            </a:lvl1pPr>
          </a:lstStyle>
          <a:p>
            <a:fld id="{A33960BD-7AC1-4217-9611-AAA56D3EE38F}" type="datetime4">
              <a:rPr lang="en-US" smtClean="0"/>
              <a:pPr/>
              <a:t>November 21, 2025</a:t>
            </a:fld>
            <a:endParaRPr lang="en-US" dirty="0">
              <a:latin typeface="+mn-lt"/>
            </a:endParaRPr>
          </a:p>
        </p:txBody>
      </p:sp>
      <p:sp>
        <p:nvSpPr>
          <p:cNvPr id="5" name="Footer Placeholder 4">
            <a:extLst>
              <a:ext uri="{FF2B5EF4-FFF2-40B4-BE49-F238E27FC236}">
                <a16:creationId xmlns:a16="http://schemas.microsoft.com/office/drawing/2014/main" id="{4ACE5D61-F203-4F00-9CF1-AB0AE4937006}"/>
              </a:ext>
            </a:extLst>
          </p:cNvPr>
          <p:cNvSpPr>
            <a:spLocks noGrp="1"/>
          </p:cNvSpPr>
          <p:nvPr>
            <p:ph type="ftr" sz="quarter" idx="3"/>
          </p:nvPr>
        </p:nvSpPr>
        <p:spPr>
          <a:xfrm rot="5400000">
            <a:off x="10447827" y="1407402"/>
            <a:ext cx="2770499" cy="365125"/>
          </a:xfrm>
          <a:prstGeom prst="rect">
            <a:avLst/>
          </a:prstGeom>
        </p:spPr>
        <p:txBody>
          <a:bodyPr vert="horz" lIns="91440" tIns="45720" rIns="91440" bIns="45720" rtlCol="0" anchor="ctr"/>
          <a:lstStyle>
            <a:lvl1pPr algn="r">
              <a:defRPr sz="900" cap="all" spc="300" baseline="0">
                <a:solidFill>
                  <a:schemeClr val="tx1">
                    <a:lumMod val="85000"/>
                    <a:lumOff val="15000"/>
                  </a:schemeClr>
                </a:solidFill>
                <a:latin typeface="+mn-lt"/>
              </a:defRPr>
            </a:lvl1pPr>
          </a:lstStyle>
          <a:p>
            <a:endParaRPr lang="en-US" dirty="0">
              <a:latin typeface="+mn-lt"/>
            </a:endParaRPr>
          </a:p>
        </p:txBody>
      </p:sp>
      <p:sp>
        <p:nvSpPr>
          <p:cNvPr id="6" name="Slide Number Placeholder 5">
            <a:extLst>
              <a:ext uri="{FF2B5EF4-FFF2-40B4-BE49-F238E27FC236}">
                <a16:creationId xmlns:a16="http://schemas.microsoft.com/office/drawing/2014/main" id="{39FF38BD-5F38-4F6E-B5DD-EB1AF06002E2}"/>
              </a:ext>
            </a:extLst>
          </p:cNvPr>
          <p:cNvSpPr>
            <a:spLocks noGrp="1"/>
          </p:cNvSpPr>
          <p:nvPr>
            <p:ph type="sldNum" sz="quarter" idx="4"/>
          </p:nvPr>
        </p:nvSpPr>
        <p:spPr>
          <a:xfrm>
            <a:off x="11560121" y="3138985"/>
            <a:ext cx="545911" cy="580029"/>
          </a:xfrm>
          <a:prstGeom prst="rect">
            <a:avLst/>
          </a:prstGeom>
        </p:spPr>
        <p:txBody>
          <a:bodyPr vert="horz" lIns="91440" tIns="45720" rIns="91440" bIns="45720" rtlCol="0" anchor="ctr"/>
          <a:lstStyle>
            <a:lvl1pPr algn="ctr">
              <a:defRPr sz="1600">
                <a:solidFill>
                  <a:schemeClr val="tx1">
                    <a:lumMod val="85000"/>
                    <a:lumOff val="15000"/>
                  </a:schemeClr>
                </a:solidFill>
                <a:latin typeface="+mn-lt"/>
              </a:defRPr>
            </a:lvl1pPr>
          </a:lstStyle>
          <a:p>
            <a:fld id="{9D4AEF59-F28E-467C-9EA3-92D1CFAD475A}" type="slidenum">
              <a:rPr lang="en-US" smtClean="0"/>
              <a:pPr/>
              <a:t>‹#›</a:t>
            </a:fld>
            <a:endParaRPr lang="en-US">
              <a:latin typeface="+mn-lt"/>
            </a:endParaRPr>
          </a:p>
        </p:txBody>
      </p:sp>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24D29CCB-7956-4E3E-8880-304085F04BF4}"/>
                  </a:ext>
                </a:extLst>
              </p14:cNvPr>
              <p14:cNvContentPartPr/>
              <p14:nvPr/>
            </p14:nvContentPartPr>
            <p14:xfrm>
              <a:off x="12490710" y="6342652"/>
              <a:ext cx="360" cy="360"/>
            </p14:xfrm>
          </p:contentPart>
        </mc:Choice>
        <mc:Fallback xmlns="">
          <p:pic>
            <p:nvPicPr>
              <p:cNvPr id="18" name="Ink 17">
                <a:extLst>
                  <a:ext uri="{FF2B5EF4-FFF2-40B4-BE49-F238E27FC236}">
                    <a16:creationId xmlns:a16="http://schemas.microsoft.com/office/drawing/2014/main" id="{24D29CCB-7956-4E3E-8880-304085F04BF4}"/>
                  </a:ext>
                </a:extLst>
              </p:cNvPr>
              <p:cNvPicPr/>
              <p:nvPr/>
            </p:nvPicPr>
            <p:blipFill>
              <a:blip r:embed="rId15"/>
              <a:stretch>
                <a:fillRect/>
              </a:stretch>
            </p:blipFill>
            <p:spPr>
              <a:xfrm>
                <a:off x="12481710" y="6333652"/>
                <a:ext cx="18000" cy="18000"/>
              </a:xfrm>
              <a:prstGeom prst="rect">
                <a:avLst/>
              </a:prstGeom>
            </p:spPr>
          </p:pic>
        </mc:Fallback>
      </mc:AlternateContent>
    </p:spTree>
    <p:extLst>
      <p:ext uri="{BB962C8B-B14F-4D97-AF65-F5344CB8AC3E}">
        <p14:creationId xmlns:p14="http://schemas.microsoft.com/office/powerpoint/2010/main" val="3990538985"/>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11" r:id="rId7"/>
    <p:sldLayoutId id="2147483707" r:id="rId8"/>
    <p:sldLayoutId id="2147483708" r:id="rId9"/>
    <p:sldLayoutId id="2147483709" r:id="rId10"/>
    <p:sldLayoutId id="2147483710" r:id="rId11"/>
  </p:sldLayoutIdLst>
  <p:hf sldNum="0" hdr="0" ftr="0" dt="0"/>
  <p:txStyles>
    <p:titleStyle>
      <a:lvl1pPr algn="l" defTabSz="914400" rtl="0" eaLnBrk="1" latinLnBrk="0" hangingPunct="1">
        <a:lnSpc>
          <a:spcPct val="110000"/>
        </a:lnSpc>
        <a:spcBef>
          <a:spcPct val="0"/>
        </a:spcBef>
        <a:buNone/>
        <a:defRPr sz="2800" kern="1200" cap="all" spc="600" baseline="0">
          <a:solidFill>
            <a:schemeClr val="tx1">
              <a:lumMod val="85000"/>
              <a:lumOff val="15000"/>
            </a:schemeClr>
          </a:solidFill>
          <a:latin typeface="+mj-lt"/>
          <a:ea typeface="Batang" panose="02030600000101010101" pitchFamily="18" charset="-127"/>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000" kern="1200" spc="50" baseline="0">
          <a:solidFill>
            <a:schemeClr val="tx1">
              <a:lumMod val="85000"/>
              <a:lumOff val="15000"/>
            </a:schemeClr>
          </a:solidFill>
          <a:latin typeface="+mn-lt"/>
          <a:ea typeface="Batang" panose="02030600000101010101" pitchFamily="18" charset="-127"/>
          <a:cs typeface="+mn-cs"/>
        </a:defRPr>
      </a:lvl1pPr>
      <a:lvl2pPr marL="274320" indent="0" algn="l" defTabSz="914400" rtl="0" eaLnBrk="1" latinLnBrk="0" hangingPunct="1">
        <a:lnSpc>
          <a:spcPct val="100000"/>
        </a:lnSpc>
        <a:spcBef>
          <a:spcPts val="500"/>
        </a:spcBef>
        <a:buFontTx/>
        <a:buNone/>
        <a:defRPr sz="1800" kern="1200" spc="50" baseline="0">
          <a:solidFill>
            <a:schemeClr val="tx1">
              <a:lumMod val="85000"/>
              <a:lumOff val="15000"/>
            </a:schemeClr>
          </a:solidFill>
          <a:latin typeface="+mn-lt"/>
          <a:ea typeface="Batang" panose="02030600000101010101" pitchFamily="18" charset="-127"/>
          <a:cs typeface="+mn-cs"/>
        </a:defRPr>
      </a:lvl2pPr>
      <a:lvl3pPr marL="605790" indent="-285750" algn="l" defTabSz="914400" rtl="0" eaLnBrk="1" latinLnBrk="0" hangingPunct="1">
        <a:lnSpc>
          <a:spcPct val="100000"/>
        </a:lnSpc>
        <a:spcBef>
          <a:spcPts val="500"/>
        </a:spcBef>
        <a:buSzPct val="80000"/>
        <a:buFont typeface="Arial" panose="020B0604020202020204" pitchFamily="34" charset="0"/>
        <a:buChar char="•"/>
        <a:defRPr sz="1600" kern="1200" spc="50" baseline="0">
          <a:solidFill>
            <a:schemeClr val="tx1">
              <a:lumMod val="85000"/>
              <a:lumOff val="15000"/>
            </a:schemeClr>
          </a:solidFill>
          <a:latin typeface="+mn-lt"/>
          <a:ea typeface="Batang" panose="02030600000101010101" pitchFamily="18" charset="-127"/>
          <a:cs typeface="+mn-cs"/>
        </a:defRPr>
      </a:lvl3pPr>
      <a:lvl4pPr marL="630936" indent="0" algn="l" defTabSz="914400" rtl="0" eaLnBrk="1" latinLnBrk="0" hangingPunct="1">
        <a:lnSpc>
          <a:spcPct val="100000"/>
        </a:lnSpc>
        <a:spcBef>
          <a:spcPts val="500"/>
        </a:spcBef>
        <a:buFontTx/>
        <a:buNone/>
        <a:defRPr sz="1400" kern="1200" spc="50" baseline="0">
          <a:solidFill>
            <a:schemeClr val="tx1">
              <a:lumMod val="85000"/>
              <a:lumOff val="15000"/>
            </a:schemeClr>
          </a:solidFill>
          <a:latin typeface="+mn-lt"/>
          <a:ea typeface="Batang" panose="02030600000101010101" pitchFamily="18" charset="-127"/>
          <a:cs typeface="+mn-cs"/>
        </a:defRPr>
      </a:lvl4pPr>
      <a:lvl5pPr marL="822960" indent="-228600" algn="l" defTabSz="914400" rtl="0" eaLnBrk="1" latinLnBrk="0" hangingPunct="1">
        <a:lnSpc>
          <a:spcPct val="100000"/>
        </a:lnSpc>
        <a:spcBef>
          <a:spcPts val="500"/>
        </a:spcBef>
        <a:buSzPct val="80000"/>
        <a:buFont typeface="Arial" panose="020B0604020202020204" pitchFamily="34" charset="0"/>
        <a:buChar char="•"/>
        <a:defRPr sz="1400" kern="1200" spc="50" baseline="0">
          <a:solidFill>
            <a:schemeClr val="tx1">
              <a:lumMod val="85000"/>
              <a:lumOff val="15000"/>
            </a:schemeClr>
          </a:solidFill>
          <a:latin typeface="+mn-lt"/>
          <a:ea typeface="Batang" panose="02030600000101010101"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3FE92E-FF21-46DB-BE36-B3A5D4149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E9DFFEE-526A-4D56-A70C-EADE7289B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E9CDAE-4859-90F6-A837-8007F78C3C70}"/>
              </a:ext>
            </a:extLst>
          </p:cNvPr>
          <p:cNvSpPr>
            <a:spLocks noGrp="1"/>
          </p:cNvSpPr>
          <p:nvPr>
            <p:ph type="ctrTitle"/>
          </p:nvPr>
        </p:nvSpPr>
        <p:spPr>
          <a:xfrm>
            <a:off x="319557" y="3111650"/>
            <a:ext cx="7296658" cy="634699"/>
          </a:xfrm>
        </p:spPr>
        <p:txBody>
          <a:bodyPr>
            <a:normAutofit/>
          </a:bodyPr>
          <a:lstStyle/>
          <a:p>
            <a:r>
              <a:rPr lang="en-US" dirty="0"/>
              <a:t>Practice dataset Analysis</a:t>
            </a:r>
          </a:p>
        </p:txBody>
      </p:sp>
      <p:pic>
        <p:nvPicPr>
          <p:cNvPr id="4" name="Picture 3" descr="Top view of wood desk with the plant, white keyboard, coffee in a white mug, notebook, and pen">
            <a:extLst>
              <a:ext uri="{FF2B5EF4-FFF2-40B4-BE49-F238E27FC236}">
                <a16:creationId xmlns:a16="http://schemas.microsoft.com/office/drawing/2014/main" id="{5B5D9AD5-49A7-5FED-4AE0-B276E1D06E24}"/>
              </a:ext>
            </a:extLst>
          </p:cNvPr>
          <p:cNvPicPr>
            <a:picLocks noChangeAspect="1"/>
          </p:cNvPicPr>
          <p:nvPr/>
        </p:nvPicPr>
        <p:blipFill>
          <a:blip r:embed="rId2"/>
          <a:srcRect l="27380" r="27643" b="-2"/>
          <a:stretch>
            <a:fillRect/>
          </a:stretch>
        </p:blipFill>
        <p:spPr>
          <a:xfrm>
            <a:off x="7616215" y="-23854"/>
            <a:ext cx="4575785" cy="6892740"/>
          </a:xfrm>
          <a:custGeom>
            <a:avLst/>
            <a:gdLst/>
            <a:ahLst/>
            <a:cxnLst/>
            <a:rect l="l" t="t" r="r" b="b"/>
            <a:pathLst>
              <a:path w="4575785" h="6857999">
                <a:moveTo>
                  <a:pt x="517468" y="0"/>
                </a:moveTo>
                <a:lnTo>
                  <a:pt x="4575785" y="0"/>
                </a:lnTo>
                <a:lnTo>
                  <a:pt x="4575785" y="6857999"/>
                </a:lnTo>
                <a:lnTo>
                  <a:pt x="960511" y="6857999"/>
                </a:lnTo>
                <a:lnTo>
                  <a:pt x="942694" y="6843617"/>
                </a:lnTo>
                <a:cubicBezTo>
                  <a:pt x="964945" y="6792705"/>
                  <a:pt x="892574" y="6836929"/>
                  <a:pt x="865960" y="6827318"/>
                </a:cubicBezTo>
                <a:lnTo>
                  <a:pt x="861487" y="6823037"/>
                </a:lnTo>
                <a:lnTo>
                  <a:pt x="859513" y="6806858"/>
                </a:lnTo>
                <a:lnTo>
                  <a:pt x="860461" y="6800037"/>
                </a:lnTo>
                <a:cubicBezTo>
                  <a:pt x="860484" y="6795612"/>
                  <a:pt x="859691" y="6793024"/>
                  <a:pt x="858251" y="6791626"/>
                </a:cubicBezTo>
                <a:lnTo>
                  <a:pt x="857660" y="6791654"/>
                </a:lnTo>
                <a:lnTo>
                  <a:pt x="856643" y="6783314"/>
                </a:lnTo>
                <a:cubicBezTo>
                  <a:pt x="856157" y="6768705"/>
                  <a:pt x="856848" y="6753980"/>
                  <a:pt x="858459" y="6739543"/>
                </a:cubicBezTo>
                <a:cubicBezTo>
                  <a:pt x="825704" y="6742272"/>
                  <a:pt x="849542" y="6681110"/>
                  <a:pt x="794118" y="6710916"/>
                </a:cubicBezTo>
                <a:cubicBezTo>
                  <a:pt x="794610" y="6692179"/>
                  <a:pt x="815573" y="6671806"/>
                  <a:pt x="779817" y="6693690"/>
                </a:cubicBezTo>
                <a:cubicBezTo>
                  <a:pt x="778915" y="6687990"/>
                  <a:pt x="774885" y="6685995"/>
                  <a:pt x="769310" y="6685745"/>
                </a:cubicBezTo>
                <a:lnTo>
                  <a:pt x="766802" y="6686064"/>
                </a:lnTo>
                <a:cubicBezTo>
                  <a:pt x="767473" y="6672038"/>
                  <a:pt x="768145" y="6658011"/>
                  <a:pt x="768816" y="6643985"/>
                </a:cubicBezTo>
                <a:lnTo>
                  <a:pt x="764758" y="6640288"/>
                </a:lnTo>
                <a:lnTo>
                  <a:pt x="771603" y="6610439"/>
                </a:lnTo>
                <a:cubicBezTo>
                  <a:pt x="771799" y="6605729"/>
                  <a:pt x="776328" y="6505678"/>
                  <a:pt x="776524" y="6500968"/>
                </a:cubicBezTo>
                <a:lnTo>
                  <a:pt x="716862" y="6252242"/>
                </a:lnTo>
                <a:cubicBezTo>
                  <a:pt x="710358" y="6209033"/>
                  <a:pt x="712158" y="6177416"/>
                  <a:pt x="706006" y="6116988"/>
                </a:cubicBezTo>
                <a:cubicBezTo>
                  <a:pt x="664744" y="6009788"/>
                  <a:pt x="669134" y="5997889"/>
                  <a:pt x="675681" y="5921438"/>
                </a:cubicBezTo>
                <a:cubicBezTo>
                  <a:pt x="609567" y="5910253"/>
                  <a:pt x="667197" y="5880778"/>
                  <a:pt x="646967" y="5848021"/>
                </a:cubicBezTo>
                <a:cubicBezTo>
                  <a:pt x="633539" y="5819166"/>
                  <a:pt x="610193" y="5775630"/>
                  <a:pt x="595120" y="5722308"/>
                </a:cubicBezTo>
                <a:cubicBezTo>
                  <a:pt x="587517" y="5685814"/>
                  <a:pt x="566330" y="5564010"/>
                  <a:pt x="556522" y="5528087"/>
                </a:cubicBezTo>
                <a:cubicBezTo>
                  <a:pt x="551310" y="5519174"/>
                  <a:pt x="556171" y="5505252"/>
                  <a:pt x="536270" y="5506770"/>
                </a:cubicBezTo>
                <a:cubicBezTo>
                  <a:pt x="512052" y="5506489"/>
                  <a:pt x="543356" y="5459435"/>
                  <a:pt x="516612" y="5473320"/>
                </a:cubicBezTo>
                <a:cubicBezTo>
                  <a:pt x="537947" y="5440196"/>
                  <a:pt x="486731" y="5435838"/>
                  <a:pt x="471989" y="5418523"/>
                </a:cubicBezTo>
                <a:cubicBezTo>
                  <a:pt x="493820" y="5390817"/>
                  <a:pt x="454363" y="5377479"/>
                  <a:pt x="442299" y="5333204"/>
                </a:cubicBezTo>
                <a:cubicBezTo>
                  <a:pt x="467689" y="5302287"/>
                  <a:pt x="420786" y="5307848"/>
                  <a:pt x="452960" y="5255192"/>
                </a:cubicBezTo>
                <a:cubicBezTo>
                  <a:pt x="453300" y="5233631"/>
                  <a:pt x="429983" y="5195187"/>
                  <a:pt x="431339" y="5156169"/>
                </a:cubicBezTo>
                <a:cubicBezTo>
                  <a:pt x="398945" y="5067566"/>
                  <a:pt x="403718" y="5079988"/>
                  <a:pt x="404757" y="5025421"/>
                </a:cubicBezTo>
                <a:cubicBezTo>
                  <a:pt x="400018" y="4966103"/>
                  <a:pt x="402758" y="4976631"/>
                  <a:pt x="395660" y="4924394"/>
                </a:cubicBezTo>
                <a:cubicBezTo>
                  <a:pt x="383838" y="4897752"/>
                  <a:pt x="406451" y="4876973"/>
                  <a:pt x="390158" y="4861232"/>
                </a:cubicBezTo>
                <a:cubicBezTo>
                  <a:pt x="362582" y="4877952"/>
                  <a:pt x="368360" y="4813711"/>
                  <a:pt x="341238" y="4838615"/>
                </a:cubicBezTo>
                <a:cubicBezTo>
                  <a:pt x="311503" y="4831441"/>
                  <a:pt x="352577" y="4804970"/>
                  <a:pt x="326273" y="4796524"/>
                </a:cubicBezTo>
                <a:lnTo>
                  <a:pt x="284996" y="4672372"/>
                </a:lnTo>
                <a:cubicBezTo>
                  <a:pt x="298118" y="4649489"/>
                  <a:pt x="287003" y="4640074"/>
                  <a:pt x="267970" y="4634255"/>
                </a:cubicBezTo>
                <a:cubicBezTo>
                  <a:pt x="263754" y="4595383"/>
                  <a:pt x="222766" y="4593405"/>
                  <a:pt x="203275" y="4555830"/>
                </a:cubicBezTo>
                <a:cubicBezTo>
                  <a:pt x="181514" y="4524570"/>
                  <a:pt x="154438" y="4520149"/>
                  <a:pt x="133797" y="4479914"/>
                </a:cubicBezTo>
                <a:cubicBezTo>
                  <a:pt x="124082" y="4457346"/>
                  <a:pt x="105185" y="4427564"/>
                  <a:pt x="84156" y="4415916"/>
                </a:cubicBezTo>
                <a:lnTo>
                  <a:pt x="83303" y="4414752"/>
                </a:lnTo>
                <a:lnTo>
                  <a:pt x="72062" y="4388525"/>
                </a:lnTo>
                <a:lnTo>
                  <a:pt x="75315" y="4375182"/>
                </a:lnTo>
                <a:cubicBezTo>
                  <a:pt x="75941" y="4370194"/>
                  <a:pt x="75530" y="4367154"/>
                  <a:pt x="74333" y="4365355"/>
                </a:cubicBezTo>
                <a:lnTo>
                  <a:pt x="68893" y="4364787"/>
                </a:lnTo>
                <a:cubicBezTo>
                  <a:pt x="68887" y="4364737"/>
                  <a:pt x="68881" y="4364686"/>
                  <a:pt x="68875" y="4364636"/>
                </a:cubicBezTo>
                <a:cubicBezTo>
                  <a:pt x="68620" y="4351507"/>
                  <a:pt x="69309" y="4337030"/>
                  <a:pt x="58168" y="4323582"/>
                </a:cubicBezTo>
                <a:cubicBezTo>
                  <a:pt x="61811" y="4263350"/>
                  <a:pt x="99263" y="4233013"/>
                  <a:pt x="79972" y="4208494"/>
                </a:cubicBezTo>
                <a:cubicBezTo>
                  <a:pt x="88758" y="4180446"/>
                  <a:pt x="125844" y="4152085"/>
                  <a:pt x="106280" y="4120638"/>
                </a:cubicBezTo>
                <a:cubicBezTo>
                  <a:pt x="111598" y="4121936"/>
                  <a:pt x="113804" y="4120147"/>
                  <a:pt x="114398" y="4116558"/>
                </a:cubicBezTo>
                <a:cubicBezTo>
                  <a:pt x="114157" y="4114248"/>
                  <a:pt x="113917" y="4111937"/>
                  <a:pt x="113677" y="4109627"/>
                </a:cubicBezTo>
                <a:lnTo>
                  <a:pt x="105699" y="4105626"/>
                </a:lnTo>
                <a:cubicBezTo>
                  <a:pt x="77890" y="4088880"/>
                  <a:pt x="108987" y="4082598"/>
                  <a:pt x="106408" y="4051443"/>
                </a:cubicBezTo>
                <a:cubicBezTo>
                  <a:pt x="106858" y="4036630"/>
                  <a:pt x="97032" y="3985550"/>
                  <a:pt x="103822" y="3988496"/>
                </a:cubicBezTo>
                <a:lnTo>
                  <a:pt x="75372" y="3857059"/>
                </a:lnTo>
                <a:cubicBezTo>
                  <a:pt x="82817" y="3836376"/>
                  <a:pt x="81742" y="3824520"/>
                  <a:pt x="64937" y="3815652"/>
                </a:cubicBezTo>
                <a:cubicBezTo>
                  <a:pt x="102287" y="3718925"/>
                  <a:pt x="55573" y="3772320"/>
                  <a:pt x="59080" y="3696747"/>
                </a:cubicBezTo>
                <a:cubicBezTo>
                  <a:pt x="66269" y="3629648"/>
                  <a:pt x="63240" y="3571908"/>
                  <a:pt x="85623" y="3491441"/>
                </a:cubicBezTo>
                <a:cubicBezTo>
                  <a:pt x="98410" y="3474059"/>
                  <a:pt x="99525" y="3431012"/>
                  <a:pt x="100691" y="3417526"/>
                </a:cubicBezTo>
                <a:cubicBezTo>
                  <a:pt x="101857" y="3404040"/>
                  <a:pt x="95556" y="3412369"/>
                  <a:pt x="92620" y="3410525"/>
                </a:cubicBezTo>
                <a:cubicBezTo>
                  <a:pt x="92153" y="3374230"/>
                  <a:pt x="83244" y="3285268"/>
                  <a:pt x="79737" y="3235496"/>
                </a:cubicBezTo>
                <a:cubicBezTo>
                  <a:pt x="70953" y="3207448"/>
                  <a:pt x="52012" y="3143347"/>
                  <a:pt x="71576" y="3111898"/>
                </a:cubicBezTo>
                <a:cubicBezTo>
                  <a:pt x="66408" y="3077014"/>
                  <a:pt x="53542" y="3056489"/>
                  <a:pt x="48725" y="3026189"/>
                </a:cubicBezTo>
                <a:cubicBezTo>
                  <a:pt x="35029" y="3013335"/>
                  <a:pt x="35295" y="2950066"/>
                  <a:pt x="42673" y="2930099"/>
                </a:cubicBezTo>
                <a:cubicBezTo>
                  <a:pt x="72765" y="2876461"/>
                  <a:pt x="20837" y="2811743"/>
                  <a:pt x="43260" y="2768401"/>
                </a:cubicBezTo>
                <a:cubicBezTo>
                  <a:pt x="44784" y="2755816"/>
                  <a:pt x="43709" y="2744724"/>
                  <a:pt x="41022" y="2734617"/>
                </a:cubicBezTo>
                <a:lnTo>
                  <a:pt x="29707" y="2708118"/>
                </a:lnTo>
                <a:lnTo>
                  <a:pt x="18896" y="2704187"/>
                </a:lnTo>
                <a:lnTo>
                  <a:pt x="16157" y="2686013"/>
                </a:lnTo>
                <a:lnTo>
                  <a:pt x="0" y="2656506"/>
                </a:lnTo>
                <a:cubicBezTo>
                  <a:pt x="46275" y="2648213"/>
                  <a:pt x="-21852" y="2580542"/>
                  <a:pt x="20000" y="2589495"/>
                </a:cubicBezTo>
                <a:cubicBezTo>
                  <a:pt x="9004" y="2539865"/>
                  <a:pt x="51725" y="2561406"/>
                  <a:pt x="4503" y="2517909"/>
                </a:cubicBezTo>
                <a:cubicBezTo>
                  <a:pt x="18312" y="2426183"/>
                  <a:pt x="2043" y="2320005"/>
                  <a:pt x="38580" y="2235940"/>
                </a:cubicBezTo>
                <a:cubicBezTo>
                  <a:pt x="39530" y="2131535"/>
                  <a:pt x="31342" y="1983035"/>
                  <a:pt x="28357" y="1891475"/>
                </a:cubicBezTo>
                <a:cubicBezTo>
                  <a:pt x="18536" y="1816240"/>
                  <a:pt x="53985" y="1820215"/>
                  <a:pt x="16422" y="1754299"/>
                </a:cubicBezTo>
                <a:cubicBezTo>
                  <a:pt x="22523" y="1748800"/>
                  <a:pt x="14115" y="1712020"/>
                  <a:pt x="17619" y="1704948"/>
                </a:cubicBezTo>
                <a:lnTo>
                  <a:pt x="11875" y="1640075"/>
                </a:lnTo>
                <a:lnTo>
                  <a:pt x="10148" y="1637400"/>
                </a:lnTo>
                <a:cubicBezTo>
                  <a:pt x="6571" y="1625366"/>
                  <a:pt x="7662" y="1617809"/>
                  <a:pt x="10809" y="1612250"/>
                </a:cubicBezTo>
                <a:lnTo>
                  <a:pt x="30710" y="1498099"/>
                </a:lnTo>
                <a:lnTo>
                  <a:pt x="28832" y="1497366"/>
                </a:lnTo>
                <a:lnTo>
                  <a:pt x="25420" y="1490044"/>
                </a:lnTo>
                <a:lnTo>
                  <a:pt x="36357" y="1429750"/>
                </a:lnTo>
                <a:cubicBezTo>
                  <a:pt x="56105" y="1395764"/>
                  <a:pt x="51096" y="1348657"/>
                  <a:pt x="63323" y="1316453"/>
                </a:cubicBezTo>
                <a:cubicBezTo>
                  <a:pt x="113953" y="1206017"/>
                  <a:pt x="97314" y="1160971"/>
                  <a:pt x="167299" y="1100758"/>
                </a:cubicBezTo>
                <a:cubicBezTo>
                  <a:pt x="183322" y="1066821"/>
                  <a:pt x="207320" y="1013057"/>
                  <a:pt x="218971" y="997428"/>
                </a:cubicBezTo>
                <a:cubicBezTo>
                  <a:pt x="225661" y="983599"/>
                  <a:pt x="245059" y="996998"/>
                  <a:pt x="249304" y="969068"/>
                </a:cubicBezTo>
                <a:cubicBezTo>
                  <a:pt x="273910" y="912445"/>
                  <a:pt x="257335" y="876944"/>
                  <a:pt x="307518" y="815816"/>
                </a:cubicBezTo>
                <a:cubicBezTo>
                  <a:pt x="319844" y="734499"/>
                  <a:pt x="427269" y="648257"/>
                  <a:pt x="438631" y="588216"/>
                </a:cubicBezTo>
                <a:cubicBezTo>
                  <a:pt x="468336" y="534577"/>
                  <a:pt x="480025" y="521047"/>
                  <a:pt x="494548" y="466832"/>
                </a:cubicBezTo>
                <a:cubicBezTo>
                  <a:pt x="513994" y="444023"/>
                  <a:pt x="469014" y="421695"/>
                  <a:pt x="512985" y="406165"/>
                </a:cubicBezTo>
                <a:cubicBezTo>
                  <a:pt x="519819" y="312467"/>
                  <a:pt x="496295" y="285415"/>
                  <a:pt x="499246" y="226337"/>
                </a:cubicBezTo>
                <a:cubicBezTo>
                  <a:pt x="511217" y="180655"/>
                  <a:pt x="525793" y="85726"/>
                  <a:pt x="530694" y="51692"/>
                </a:cubicBezTo>
                <a:cubicBezTo>
                  <a:pt x="512001" y="39736"/>
                  <a:pt x="522977" y="34428"/>
                  <a:pt x="528655" y="22135"/>
                </a:cubicBezTo>
                <a:cubicBezTo>
                  <a:pt x="511506" y="14446"/>
                  <a:pt x="513258" y="7722"/>
                  <a:pt x="516964" y="1039"/>
                </a:cubicBezTo>
                <a:close/>
              </a:path>
            </a:pathLst>
          </a:custGeom>
        </p:spPr>
      </p:pic>
    </p:spTree>
    <p:extLst>
      <p:ext uri="{BB962C8B-B14F-4D97-AF65-F5344CB8AC3E}">
        <p14:creationId xmlns:p14="http://schemas.microsoft.com/office/powerpoint/2010/main" val="3921516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735F0-B032-7E5C-93EA-22006EA01536}"/>
              </a:ext>
            </a:extLst>
          </p:cNvPr>
          <p:cNvSpPr>
            <a:spLocks noGrp="1"/>
          </p:cNvSpPr>
          <p:nvPr>
            <p:ph type="title"/>
          </p:nvPr>
        </p:nvSpPr>
        <p:spPr>
          <a:xfrm>
            <a:off x="1257817" y="315936"/>
            <a:ext cx="8886644" cy="6321531"/>
          </a:xfrm>
        </p:spPr>
        <p:txBody>
          <a:bodyPr>
            <a:normAutofit/>
          </a:bodyPr>
          <a:lstStyle/>
          <a:p>
            <a:pPr algn="ctr"/>
            <a:r>
              <a:rPr lang="en-US" sz="2400" b="1" dirty="0"/>
              <a:t>1.Introduction</a:t>
            </a:r>
            <a:br>
              <a:rPr lang="en-US" sz="2400" b="1" dirty="0"/>
            </a:br>
            <a:r>
              <a:rPr lang="en-US" sz="2400" b="1" dirty="0"/>
              <a:t>2.Loding Data</a:t>
            </a:r>
            <a:br>
              <a:rPr lang="en-US" sz="2400" b="1" dirty="0"/>
            </a:br>
            <a:r>
              <a:rPr lang="en-US" sz="2400" b="1" dirty="0"/>
              <a:t>3.Data Cleaning</a:t>
            </a:r>
            <a:br>
              <a:rPr lang="en-US" sz="2400" b="1" dirty="0"/>
            </a:br>
            <a:r>
              <a:rPr lang="en-US" sz="2400" b="1" dirty="0"/>
              <a:t>4. Descriptive Statistics</a:t>
            </a:r>
            <a:br>
              <a:rPr lang="en-US" sz="2400" b="1" dirty="0"/>
            </a:br>
            <a:r>
              <a:rPr lang="en-US" sz="2400" b="1" dirty="0"/>
              <a:t>5. correlation</a:t>
            </a:r>
            <a:br>
              <a:rPr lang="en-US" sz="2400" b="1" dirty="0"/>
            </a:br>
            <a:r>
              <a:rPr lang="en-US" sz="2400" b="1" dirty="0"/>
              <a:t>6. Reliability</a:t>
            </a:r>
            <a:br>
              <a:rPr lang="en-US" sz="2400" b="1" dirty="0"/>
            </a:br>
            <a:r>
              <a:rPr lang="en-US" sz="2400" b="1" dirty="0"/>
              <a:t>7. Regression</a:t>
            </a:r>
            <a:br>
              <a:rPr lang="ar-EG" sz="2400" b="1" dirty="0"/>
            </a:br>
            <a:r>
              <a:rPr lang="ar-EG" sz="2400" dirty="0"/>
              <a:t>8.</a:t>
            </a:r>
            <a:r>
              <a:rPr lang="en-US" sz="2400" b="1" dirty="0"/>
              <a:t>validity</a:t>
            </a:r>
            <a:r>
              <a:rPr lang="ar-EG" sz="2400" b="1" dirty="0"/>
              <a:t>&amp;</a:t>
            </a:r>
            <a:r>
              <a:rPr lang="en-US" sz="2400" b="1" dirty="0"/>
              <a:t>t_test</a:t>
            </a:r>
            <a:br>
              <a:rPr lang="en-US" sz="2400" b="1" dirty="0"/>
            </a:br>
            <a:r>
              <a:rPr lang="en-US" sz="2400" b="1" dirty="0"/>
              <a:t>9.anova</a:t>
            </a:r>
            <a:br>
              <a:rPr lang="en-US" sz="2400" b="1" dirty="0"/>
            </a:br>
            <a:r>
              <a:rPr lang="en-US" sz="2400" b="1" dirty="0"/>
              <a:t>10. Visualizations</a:t>
            </a:r>
            <a:br>
              <a:rPr lang="en-US" sz="2400" b="1" dirty="0"/>
            </a:br>
            <a:r>
              <a:rPr lang="en-US" sz="2400" b="1" dirty="0"/>
              <a:t>11.conclution</a:t>
            </a:r>
            <a:br>
              <a:rPr lang="en-US" sz="2400" b="1" dirty="0"/>
            </a:br>
            <a:r>
              <a:rPr lang="en-US" sz="2400" b="1" dirty="0"/>
              <a:t>12.recommendition</a:t>
            </a:r>
            <a:br>
              <a:rPr lang="en-US" sz="2400" b="1" dirty="0"/>
            </a:br>
            <a:br>
              <a:rPr lang="en-US" sz="2400" dirty="0"/>
            </a:br>
            <a:endParaRPr lang="en-US" sz="2400" dirty="0"/>
          </a:p>
        </p:txBody>
      </p:sp>
    </p:spTree>
    <p:extLst>
      <p:ext uri="{BB962C8B-B14F-4D97-AF65-F5344CB8AC3E}">
        <p14:creationId xmlns:p14="http://schemas.microsoft.com/office/powerpoint/2010/main" val="1256777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96375-1978-1D46-A3A4-99DC06FFA204}"/>
              </a:ext>
            </a:extLst>
          </p:cNvPr>
          <p:cNvSpPr>
            <a:spLocks noGrp="1"/>
          </p:cNvSpPr>
          <p:nvPr>
            <p:ph type="title"/>
          </p:nvPr>
        </p:nvSpPr>
        <p:spPr/>
        <p:txBody>
          <a:bodyPr/>
          <a:lstStyle/>
          <a:p>
            <a:pPr algn="ctr"/>
            <a:r>
              <a:rPr lang="en-US" sz="2400" b="1" dirty="0"/>
              <a:t>INtroduction</a:t>
            </a:r>
            <a:endParaRPr lang="en-US" b="1" dirty="0"/>
          </a:p>
        </p:txBody>
      </p:sp>
      <p:sp>
        <p:nvSpPr>
          <p:cNvPr id="3" name="Content Placeholder 2">
            <a:extLst>
              <a:ext uri="{FF2B5EF4-FFF2-40B4-BE49-F238E27FC236}">
                <a16:creationId xmlns:a16="http://schemas.microsoft.com/office/drawing/2014/main" id="{D345FC3B-4927-EA13-5044-67711484B7D4}"/>
              </a:ext>
            </a:extLst>
          </p:cNvPr>
          <p:cNvSpPr>
            <a:spLocks noGrp="1"/>
          </p:cNvSpPr>
          <p:nvPr>
            <p:ph idx="1"/>
          </p:nvPr>
        </p:nvSpPr>
        <p:spPr/>
        <p:txBody>
          <a:bodyPr>
            <a:normAutofit fontScale="92500" lnSpcReduction="10000"/>
          </a:bodyPr>
          <a:lstStyle/>
          <a:p>
            <a:pPr marL="0" indent="0">
              <a:buNone/>
            </a:pPr>
            <a:r>
              <a:rPr lang="en-US" dirty="0"/>
              <a:t>This project aims to analyze how real estate marketing messages—specifically scarcity and urgency cues—shape consumer behavior and influence purchase intention. The dataset consists of multiple Likert-scale items measuring respondents’ perceptions of scarcity messaging, perceived urgency, and their intention to purchase a property. Additional demographic variables, such as age, gender, and education level, are included to help understand patterns across different groups. The analysis begins with data cleaning, variable renaming, and the grouping of survey items into conceptual dimensions. Reliability tests (Cronbach’s Alpha) are used to assess the internal consistency of each dimension, ensuring the measurement scales are valid. Next, descriptive statistics and correlation matrices offer insight into the relationships between the main constructs. Advanced visualizations—including divergent bar charts, heatmaps, and group-wise comparisons—are used to highlight how respondents react to different marketing statements. Overall, this project provides a comprehensive view of how psychological triggers used in real estate marketing can impact customer decision-making. The findings can support marketers, developers, and researchers in understanding which types of messages are most effective in driving consumer engagement and shaping purchase intention.</a:t>
            </a:r>
          </a:p>
        </p:txBody>
      </p:sp>
    </p:spTree>
    <p:extLst>
      <p:ext uri="{BB962C8B-B14F-4D97-AF65-F5344CB8AC3E}">
        <p14:creationId xmlns:p14="http://schemas.microsoft.com/office/powerpoint/2010/main" val="541823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7C19D-2A21-15EC-FC86-DAABDDE711BB}"/>
              </a:ext>
            </a:extLst>
          </p:cNvPr>
          <p:cNvSpPr>
            <a:spLocks noGrp="1"/>
          </p:cNvSpPr>
          <p:nvPr>
            <p:ph type="title"/>
          </p:nvPr>
        </p:nvSpPr>
        <p:spPr/>
        <p:txBody>
          <a:bodyPr>
            <a:normAutofit/>
          </a:bodyPr>
          <a:lstStyle/>
          <a:p>
            <a:pPr algn="ctr"/>
            <a:r>
              <a:rPr lang="en-US" sz="2400" b="1" dirty="0"/>
              <a:t>Loading Data</a:t>
            </a:r>
          </a:p>
        </p:txBody>
      </p:sp>
      <p:sp>
        <p:nvSpPr>
          <p:cNvPr id="3" name="Content Placeholder 2">
            <a:extLst>
              <a:ext uri="{FF2B5EF4-FFF2-40B4-BE49-F238E27FC236}">
                <a16:creationId xmlns:a16="http://schemas.microsoft.com/office/drawing/2014/main" id="{7420DF29-D89E-72E8-1F56-C375F056F060}"/>
              </a:ext>
            </a:extLst>
          </p:cNvPr>
          <p:cNvSpPr>
            <a:spLocks noGrp="1"/>
          </p:cNvSpPr>
          <p:nvPr>
            <p:ph idx="1"/>
          </p:nvPr>
        </p:nvSpPr>
        <p:spPr/>
        <p:txBody>
          <a:bodyPr/>
          <a:lstStyle/>
          <a:p>
            <a:pPr marL="0" indent="0">
              <a:buNone/>
            </a:pPr>
            <a:r>
              <a:rPr lang="en-US" dirty="0"/>
              <a:t>The first step in this project involves loading the survey dataset into the analysis environment. The dataset, provided as an Excel or CSV file, contains responses from participants regarding their perceptions of scarcity messaging, perceived urgency, and purchase intention, as well as demographic information such as age, gender, and education.</a:t>
            </a:r>
          </a:p>
        </p:txBody>
      </p:sp>
    </p:spTree>
    <p:extLst>
      <p:ext uri="{BB962C8B-B14F-4D97-AF65-F5344CB8AC3E}">
        <p14:creationId xmlns:p14="http://schemas.microsoft.com/office/powerpoint/2010/main" val="1526065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DD7237-CEDC-3E23-602B-0E3092141205}"/>
              </a:ext>
            </a:extLst>
          </p:cNvPr>
          <p:cNvSpPr>
            <a:spLocks noGrp="1"/>
          </p:cNvSpPr>
          <p:nvPr>
            <p:ph type="title"/>
          </p:nvPr>
        </p:nvSpPr>
        <p:spPr>
          <a:xfrm>
            <a:off x="1050879" y="609601"/>
            <a:ext cx="9810604" cy="1216024"/>
          </a:xfrm>
        </p:spPr>
        <p:txBody>
          <a:bodyPr>
            <a:normAutofit/>
          </a:bodyPr>
          <a:lstStyle/>
          <a:p>
            <a:pPr algn="ctr"/>
            <a:r>
              <a:rPr lang="en-US" sz="2400" b="1" dirty="0"/>
              <a:t>Cleaning Data</a:t>
            </a:r>
          </a:p>
        </p:txBody>
      </p:sp>
      <p:sp>
        <p:nvSpPr>
          <p:cNvPr id="5" name="Content Placeholder 2">
            <a:extLst>
              <a:ext uri="{FF2B5EF4-FFF2-40B4-BE49-F238E27FC236}">
                <a16:creationId xmlns:a16="http://schemas.microsoft.com/office/drawing/2014/main" id="{803B1DFB-443F-45FB-89FC-E317E3FA64CC}"/>
              </a:ext>
            </a:extLst>
          </p:cNvPr>
          <p:cNvSpPr>
            <a:spLocks noGrp="1"/>
          </p:cNvSpPr>
          <p:nvPr>
            <p:ph idx="1"/>
          </p:nvPr>
        </p:nvSpPr>
        <p:spPr>
          <a:xfrm>
            <a:off x="1190698" y="1807094"/>
            <a:ext cx="9810604" cy="4428753"/>
          </a:xfrm>
        </p:spPr>
        <p:txBody>
          <a:bodyPr>
            <a:normAutofit fontScale="70000" lnSpcReduction="20000"/>
          </a:bodyPr>
          <a:lstStyle/>
          <a:p>
            <a:pPr marL="0" indent="0">
              <a:buNone/>
            </a:pPr>
            <a:r>
              <a:rPr lang="en-US" dirty="0"/>
              <a:t>The survey dataset was first loaded into the analysis environment and underwent several preprocessing steps to ensure it was clean, consistent, and ready for analysis:</a:t>
            </a:r>
          </a:p>
          <a:p>
            <a:pPr marL="457200" indent="-457200">
              <a:buAutoNum type="arabicPeriod"/>
            </a:pPr>
            <a:r>
              <a:rPr lang="en-US" b="1" dirty="0"/>
              <a:t>Removing Unnecessary Columns: </a:t>
            </a:r>
            <a:r>
              <a:rPr lang="en-US" dirty="0"/>
              <a:t>Columns such as ‘Timestamp’ and ‘Education Level’ were dropped because they were not required for the analysis.</a:t>
            </a:r>
          </a:p>
          <a:p>
            <a:pPr marL="457200" indent="-457200">
              <a:buAutoNum type="arabicPeriod"/>
            </a:pPr>
            <a:r>
              <a:rPr lang="en-US" b="1" dirty="0"/>
              <a:t>Removing Duplicates: </a:t>
            </a:r>
            <a:r>
              <a:rPr lang="en-US" dirty="0"/>
              <a:t>Duplicate rows were removed to ensure each participant's responses were counted only once.</a:t>
            </a:r>
          </a:p>
          <a:p>
            <a:pPr marL="457200" indent="-457200">
              <a:buAutoNum type="arabicPeriod"/>
            </a:pPr>
            <a:r>
              <a:rPr lang="en-US" b="1" dirty="0"/>
              <a:t>Mapping Categorical Responses to Numerical Values: </a:t>
            </a:r>
            <a:r>
              <a:rPr lang="en-US" dirty="0"/>
              <a:t>Likert-scale responses </a:t>
            </a:r>
            <a:r>
              <a:rPr lang="en-US" b="1" dirty="0"/>
              <a:t>(‘Strongly Disagree’ → ‘Strongly Agree’) </a:t>
            </a:r>
            <a:r>
              <a:rPr lang="en-US" dirty="0"/>
              <a:t>were converted to numerical values (1–5).  Yes/No answers were mapped to 1 and 0. </a:t>
            </a:r>
            <a:r>
              <a:rPr lang="en-US" b="1" dirty="0"/>
              <a:t>‘Gender’ </a:t>
            </a:r>
            <a:r>
              <a:rPr lang="en-US" dirty="0"/>
              <a:t>and </a:t>
            </a:r>
            <a:r>
              <a:rPr lang="en-US" b="1" dirty="0"/>
              <a:t>‘Education’ </a:t>
            </a:r>
            <a:r>
              <a:rPr lang="en-US" dirty="0"/>
              <a:t>fields were also encoded numerically. This standardization allows statistical calculations and visualizations to be performed correctly.</a:t>
            </a:r>
          </a:p>
          <a:p>
            <a:pPr marL="457200" indent="-457200">
              <a:buAutoNum type="arabicPeriod"/>
            </a:pPr>
            <a:r>
              <a:rPr lang="en-US" b="1" dirty="0"/>
              <a:t>Renaming Columns:   </a:t>
            </a:r>
            <a:r>
              <a:rPr lang="en-US" dirty="0"/>
              <a:t>Long, descriptive survey item names were replaced with concise and meaningful labels to make the dataset easier to work with and improve readability in visualizations and analysis.</a:t>
            </a:r>
          </a:p>
          <a:p>
            <a:pPr marL="457200" indent="-457200">
              <a:buAutoNum type="arabicPeriod"/>
            </a:pPr>
            <a:r>
              <a:rPr lang="en-US" b="1" dirty="0"/>
              <a:t>Grouping Related Questions:   </a:t>
            </a:r>
            <a:r>
              <a:rPr lang="en-US" dirty="0"/>
              <a:t>Survey items were grouped into three conceptual dimensions: </a:t>
            </a:r>
            <a:r>
              <a:rPr lang="en-US" b="1" dirty="0"/>
              <a:t>Scarcity Messaging</a:t>
            </a:r>
            <a:r>
              <a:rPr lang="en-US" dirty="0"/>
              <a:t>, </a:t>
            </a:r>
            <a:r>
              <a:rPr lang="en-US" b="1" dirty="0"/>
              <a:t>Perceived Urgency</a:t>
            </a:r>
            <a:r>
              <a:rPr lang="en-US" dirty="0"/>
              <a:t>, and</a:t>
            </a:r>
            <a:r>
              <a:rPr lang="en-US" b="1" dirty="0"/>
              <a:t> Purchase Intention. </a:t>
            </a:r>
            <a:r>
              <a:rPr lang="en-US" dirty="0"/>
              <a:t>This grouping facilitates dimension-wise analysis, reliability testing, and correlation analysis.</a:t>
            </a:r>
          </a:p>
          <a:p>
            <a:pPr marL="457200" indent="-457200">
              <a:buAutoNum type="arabicPeriod"/>
            </a:pPr>
            <a:r>
              <a:rPr lang="en-US" b="1" dirty="0"/>
              <a:t>Saving the Cleaned Dataset:   </a:t>
            </a:r>
            <a:r>
              <a:rPr lang="en-US" dirty="0"/>
              <a:t>The cleaned and preprocessed dataset was saved as </a:t>
            </a:r>
            <a:r>
              <a:rPr lang="en-US" b="1" dirty="0"/>
              <a:t>‘cleaned_practice_dataset_240_modified_v3.csv’</a:t>
            </a:r>
            <a:r>
              <a:rPr lang="en-US" dirty="0"/>
              <a:t> for further </a:t>
            </a:r>
            <a:r>
              <a:rPr lang="en-US" dirty="0" err="1"/>
              <a:t>analysis.These</a:t>
            </a:r>
            <a:r>
              <a:rPr lang="en-US" dirty="0"/>
              <a:t> steps ensure that the dataset is fully prepared for subsequent statistical analysis, reliability testing, and visualizations such as correlation matrices, divergent bar charts, and group-wise comparisons.</a:t>
            </a:r>
          </a:p>
        </p:txBody>
      </p:sp>
    </p:spTree>
    <p:extLst>
      <p:ext uri="{BB962C8B-B14F-4D97-AF65-F5344CB8AC3E}">
        <p14:creationId xmlns:p14="http://schemas.microsoft.com/office/powerpoint/2010/main" val="970044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AC1294D-DCF9-BB7C-B1C9-7973A1D7EA78}"/>
              </a:ext>
            </a:extLst>
          </p:cNvPr>
          <p:cNvGraphicFramePr>
            <a:graphicFrameLocks noGrp="1"/>
          </p:cNvGraphicFramePr>
          <p:nvPr>
            <p:extLst>
              <p:ext uri="{D42A27DB-BD31-4B8C-83A1-F6EECF244321}">
                <p14:modId xmlns:p14="http://schemas.microsoft.com/office/powerpoint/2010/main" val="4167669603"/>
              </p:ext>
            </p:extLst>
          </p:nvPr>
        </p:nvGraphicFramePr>
        <p:xfrm>
          <a:off x="698050" y="622847"/>
          <a:ext cx="2981064" cy="1483360"/>
        </p:xfrm>
        <a:graphic>
          <a:graphicData uri="http://schemas.openxmlformats.org/drawingml/2006/table">
            <a:tbl>
              <a:tblPr firstRow="1" bandRow="1">
                <a:tableStyleId>{5C22544A-7EE6-4342-B048-85BDC9FD1C3A}</a:tableStyleId>
              </a:tblPr>
              <a:tblGrid>
                <a:gridCol w="2981064">
                  <a:extLst>
                    <a:ext uri="{9D8B030D-6E8A-4147-A177-3AD203B41FA5}">
                      <a16:colId xmlns:a16="http://schemas.microsoft.com/office/drawing/2014/main" val="531129816"/>
                    </a:ext>
                  </a:extLst>
                </a:gridCol>
              </a:tblGrid>
              <a:tr h="370840">
                <a:tc>
                  <a:txBody>
                    <a:bodyPr/>
                    <a:lstStyle/>
                    <a:p>
                      <a:pPr algn="ctr"/>
                      <a:r>
                        <a:rPr lang="en-US" sz="1600" b="0" i="0" kern="1200" dirty="0" err="1">
                          <a:solidFill>
                            <a:schemeClr val="dk1"/>
                          </a:solidFill>
                          <a:effectLst/>
                          <a:latin typeface="Arial" panose="020B0604020202020204" pitchFamily="34" charset="0"/>
                          <a:ea typeface="+mn-ea"/>
                          <a:cs typeface="Arial" panose="020B0604020202020204" pitchFamily="34" charset="0"/>
                        </a:rPr>
                        <a:t>Scarcity_MissingOutFearing</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57151009"/>
                  </a:ext>
                </a:extLst>
              </a:tr>
              <a:tr h="370840">
                <a:tc>
                  <a:txBody>
                    <a:bodyPr/>
                    <a:lstStyle/>
                    <a:p>
                      <a:pPr algn="ctr"/>
                      <a:r>
                        <a:rPr lang="en-US" sz="1600" b="0" i="0" kern="1200" dirty="0" err="1">
                          <a:solidFill>
                            <a:schemeClr val="dk1"/>
                          </a:solidFill>
                          <a:effectLst/>
                          <a:latin typeface="Arial" panose="020B0604020202020204" pitchFamily="34" charset="0"/>
                          <a:ea typeface="+mn-ea"/>
                          <a:cs typeface="Arial" panose="020B0604020202020204" pitchFamily="34" charset="0"/>
                        </a:rPr>
                        <a:t>Scarcity_MotivationIncrease</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46763570"/>
                  </a:ext>
                </a:extLst>
              </a:tr>
              <a:tr h="370840">
                <a:tc>
                  <a:txBody>
                    <a:bodyPr/>
                    <a:lstStyle/>
                    <a:p>
                      <a:pPr algn="ctr"/>
                      <a:r>
                        <a:rPr lang="en-US" sz="1600" b="0" i="0" kern="1200" dirty="0" err="1">
                          <a:solidFill>
                            <a:schemeClr val="dk1"/>
                          </a:solidFill>
                          <a:effectLst/>
                          <a:latin typeface="Arial" panose="020B0604020202020204" pitchFamily="34" charset="0"/>
                          <a:ea typeface="+mn-ea"/>
                          <a:cs typeface="Arial" panose="020B0604020202020204" pitchFamily="34" charset="0"/>
                        </a:rPr>
                        <a:t>Scarcity_InterestBoosting</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50379677"/>
                  </a:ext>
                </a:extLst>
              </a:tr>
              <a:tr h="370840">
                <a:tc>
                  <a:txBody>
                    <a:bodyPr/>
                    <a:lstStyle/>
                    <a:p>
                      <a:pPr algn="ctr"/>
                      <a:r>
                        <a:rPr lang="en-US" sz="1600" b="0" i="0" kern="1200" dirty="0" err="1">
                          <a:solidFill>
                            <a:schemeClr val="dk1"/>
                          </a:solidFill>
                          <a:effectLst/>
                          <a:latin typeface="Arial" panose="020B0604020202020204" pitchFamily="34" charset="0"/>
                          <a:ea typeface="+mn-ea"/>
                          <a:cs typeface="Arial" panose="020B0604020202020204" pitchFamily="34" charset="0"/>
                        </a:rPr>
                        <a:t>Scarcity_SellOutExpecting</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04238721"/>
                  </a:ext>
                </a:extLst>
              </a:tr>
            </a:tbl>
          </a:graphicData>
        </a:graphic>
      </p:graphicFrame>
      <p:graphicFrame>
        <p:nvGraphicFramePr>
          <p:cNvPr id="9" name="Table 8">
            <a:extLst>
              <a:ext uri="{FF2B5EF4-FFF2-40B4-BE49-F238E27FC236}">
                <a16:creationId xmlns:a16="http://schemas.microsoft.com/office/drawing/2014/main" id="{78EC6371-F601-41DF-D12C-7811EF832E25}"/>
              </a:ext>
            </a:extLst>
          </p:cNvPr>
          <p:cNvGraphicFramePr>
            <a:graphicFrameLocks noGrp="1"/>
          </p:cNvGraphicFramePr>
          <p:nvPr>
            <p:extLst>
              <p:ext uri="{D42A27DB-BD31-4B8C-83A1-F6EECF244321}">
                <p14:modId xmlns:p14="http://schemas.microsoft.com/office/powerpoint/2010/main" val="2028363524"/>
              </p:ext>
            </p:extLst>
          </p:nvPr>
        </p:nvGraphicFramePr>
        <p:xfrm>
          <a:off x="3679114" y="2687320"/>
          <a:ext cx="2981064" cy="1483360"/>
        </p:xfrm>
        <a:graphic>
          <a:graphicData uri="http://schemas.openxmlformats.org/drawingml/2006/table">
            <a:tbl>
              <a:tblPr firstRow="1" bandRow="1">
                <a:tableStyleId>{5C22544A-7EE6-4342-B048-85BDC9FD1C3A}</a:tableStyleId>
              </a:tblPr>
              <a:tblGrid>
                <a:gridCol w="2981064">
                  <a:extLst>
                    <a:ext uri="{9D8B030D-6E8A-4147-A177-3AD203B41FA5}">
                      <a16:colId xmlns:a16="http://schemas.microsoft.com/office/drawing/2014/main" val="531129816"/>
                    </a:ext>
                  </a:extLst>
                </a:gridCol>
              </a:tblGrid>
              <a:tr h="370840">
                <a:tc>
                  <a:txBody>
                    <a:bodyPr/>
                    <a:lstStyle/>
                    <a:p>
                      <a:pPr algn="ctr"/>
                      <a:r>
                        <a:rPr lang="en-US" sz="1600" b="0" i="0" kern="1200" dirty="0" err="1">
                          <a:solidFill>
                            <a:schemeClr val="lt1"/>
                          </a:solidFill>
                          <a:effectLst/>
                          <a:latin typeface="Arial" panose="020B0604020202020204" pitchFamily="34" charset="0"/>
                          <a:ea typeface="+mn-ea"/>
                          <a:cs typeface="Arial" panose="020B0604020202020204" pitchFamily="34" charset="0"/>
                        </a:rPr>
                        <a:t>Urgency_PressureFeeling</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57151009"/>
                  </a:ext>
                </a:extLst>
              </a:tr>
              <a:tr h="370840">
                <a:tc>
                  <a:txBody>
                    <a:bodyPr/>
                    <a:lstStyle/>
                    <a:p>
                      <a:pPr algn="ctr"/>
                      <a:r>
                        <a:rPr lang="en-US" sz="1600" b="0" i="0" kern="1200" dirty="0" err="1">
                          <a:solidFill>
                            <a:schemeClr val="dk1"/>
                          </a:solidFill>
                          <a:effectLst/>
                          <a:latin typeface="Arial" panose="020B0604020202020204" pitchFamily="34" charset="0"/>
                          <a:ea typeface="+mn-ea"/>
                          <a:cs typeface="Arial" panose="020B0604020202020204" pitchFamily="34" charset="0"/>
                        </a:rPr>
                        <a:t>Urgency_LossFear</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46763570"/>
                  </a:ext>
                </a:extLst>
              </a:tr>
              <a:tr h="370840">
                <a:tc>
                  <a:txBody>
                    <a:bodyPr/>
                    <a:lstStyle/>
                    <a:p>
                      <a:pPr algn="ctr"/>
                      <a:r>
                        <a:rPr lang="en-US" sz="1600" b="0" i="0" kern="1200" dirty="0" err="1">
                          <a:solidFill>
                            <a:schemeClr val="dk1"/>
                          </a:solidFill>
                          <a:effectLst/>
                          <a:latin typeface="Arial" panose="020B0604020202020204" pitchFamily="34" charset="0"/>
                          <a:ea typeface="+mn-ea"/>
                          <a:cs typeface="Arial" panose="020B0604020202020204" pitchFamily="34" charset="0"/>
                        </a:rPr>
                        <a:t>Urgency_DeadlineEffect</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50379677"/>
                  </a:ext>
                </a:extLst>
              </a:tr>
              <a:tr h="370840">
                <a:tc>
                  <a:txBody>
                    <a:bodyPr/>
                    <a:lstStyle/>
                    <a:p>
                      <a:pPr algn="ctr"/>
                      <a:r>
                        <a:rPr lang="en-US" sz="1600" b="0" i="0" kern="1200" dirty="0" err="1">
                          <a:solidFill>
                            <a:schemeClr val="dk1"/>
                          </a:solidFill>
                          <a:effectLst/>
                          <a:latin typeface="Arial" panose="020B0604020202020204" pitchFamily="34" charset="0"/>
                          <a:ea typeface="+mn-ea"/>
                          <a:cs typeface="Arial" panose="020B0604020202020204" pitchFamily="34" charset="0"/>
                        </a:rPr>
                        <a:t>Urgency_FastDecisionMaking</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04238721"/>
                  </a:ext>
                </a:extLst>
              </a:tr>
            </a:tbl>
          </a:graphicData>
        </a:graphic>
      </p:graphicFrame>
      <p:graphicFrame>
        <p:nvGraphicFramePr>
          <p:cNvPr id="10" name="Table 9">
            <a:extLst>
              <a:ext uri="{FF2B5EF4-FFF2-40B4-BE49-F238E27FC236}">
                <a16:creationId xmlns:a16="http://schemas.microsoft.com/office/drawing/2014/main" id="{614FA77A-B0C6-32F9-75B0-C377146837FC}"/>
              </a:ext>
            </a:extLst>
          </p:cNvPr>
          <p:cNvGraphicFramePr>
            <a:graphicFrameLocks noGrp="1"/>
          </p:cNvGraphicFramePr>
          <p:nvPr>
            <p:extLst>
              <p:ext uri="{D42A27DB-BD31-4B8C-83A1-F6EECF244321}">
                <p14:modId xmlns:p14="http://schemas.microsoft.com/office/powerpoint/2010/main" val="2899295271"/>
              </p:ext>
            </p:extLst>
          </p:nvPr>
        </p:nvGraphicFramePr>
        <p:xfrm>
          <a:off x="6660178" y="4638739"/>
          <a:ext cx="2981064" cy="1483360"/>
        </p:xfrm>
        <a:graphic>
          <a:graphicData uri="http://schemas.openxmlformats.org/drawingml/2006/table">
            <a:tbl>
              <a:tblPr firstRow="1" bandRow="1">
                <a:tableStyleId>{5C22544A-7EE6-4342-B048-85BDC9FD1C3A}</a:tableStyleId>
              </a:tblPr>
              <a:tblGrid>
                <a:gridCol w="2981064">
                  <a:extLst>
                    <a:ext uri="{9D8B030D-6E8A-4147-A177-3AD203B41FA5}">
                      <a16:colId xmlns:a16="http://schemas.microsoft.com/office/drawing/2014/main" val="531129816"/>
                    </a:ext>
                  </a:extLst>
                </a:gridCol>
              </a:tblGrid>
              <a:tr h="370840">
                <a:tc>
                  <a:txBody>
                    <a:bodyPr/>
                    <a:lstStyle/>
                    <a:p>
                      <a:pPr algn="ctr"/>
                      <a:r>
                        <a:rPr lang="en-US" sz="1600" b="0" i="0" kern="1200" dirty="0" err="1">
                          <a:solidFill>
                            <a:schemeClr val="lt1"/>
                          </a:solidFill>
                          <a:effectLst/>
                          <a:latin typeface="Arial" panose="020B0604020202020204" pitchFamily="34" charset="0"/>
                          <a:ea typeface="+mn-ea"/>
                          <a:cs typeface="Arial" panose="020B0604020202020204" pitchFamily="34" charset="0"/>
                        </a:rPr>
                        <a:t>Intent_FavorableOffer</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57151009"/>
                  </a:ext>
                </a:extLst>
              </a:tr>
              <a:tr h="370840">
                <a:tc>
                  <a:txBody>
                    <a:bodyPr/>
                    <a:lstStyle/>
                    <a:p>
                      <a:pPr algn="ctr"/>
                      <a:r>
                        <a:rPr lang="en-US" sz="1600" b="0" i="0" kern="1200" dirty="0" err="1">
                          <a:solidFill>
                            <a:schemeClr val="dk1"/>
                          </a:solidFill>
                          <a:effectLst/>
                          <a:latin typeface="Arial" panose="020B0604020202020204" pitchFamily="34" charset="0"/>
                          <a:ea typeface="+mn-ea"/>
                          <a:cs typeface="Arial" panose="020B0604020202020204" pitchFamily="34" charset="0"/>
                        </a:rPr>
                        <a:t>Intent_MissingOutWillingness</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46763570"/>
                  </a:ext>
                </a:extLst>
              </a:tr>
              <a:tr h="370840">
                <a:tc>
                  <a:txBody>
                    <a:bodyPr/>
                    <a:lstStyle/>
                    <a:p>
                      <a:pPr algn="ctr"/>
                      <a:r>
                        <a:rPr lang="en-US" sz="1600" b="0" i="0" kern="1200" dirty="0" err="1">
                          <a:solidFill>
                            <a:schemeClr val="dk1"/>
                          </a:solidFill>
                          <a:effectLst/>
                          <a:latin typeface="Arial" panose="020B0604020202020204" pitchFamily="34" charset="0"/>
                          <a:ea typeface="+mn-ea"/>
                          <a:cs typeface="Arial" panose="020B0604020202020204" pitchFamily="34" charset="0"/>
                        </a:rPr>
                        <a:t>Intent_BookingWillingness</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50379677"/>
                  </a:ext>
                </a:extLst>
              </a:tr>
              <a:tr h="370840">
                <a:tc>
                  <a:txBody>
                    <a:bodyPr/>
                    <a:lstStyle/>
                    <a:p>
                      <a:pPr algn="ctr"/>
                      <a:r>
                        <a:rPr lang="en-US" sz="1600" b="0" i="0" kern="1200" dirty="0" err="1">
                          <a:solidFill>
                            <a:schemeClr val="dk1"/>
                          </a:solidFill>
                          <a:effectLst/>
                          <a:latin typeface="Arial" panose="020B0604020202020204" pitchFamily="34" charset="0"/>
                          <a:ea typeface="+mn-ea"/>
                          <a:cs typeface="Arial" panose="020B0604020202020204" pitchFamily="34" charset="0"/>
                        </a:rPr>
                        <a:t>Intent_ScarcityDriven</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04238721"/>
                  </a:ext>
                </a:extLst>
              </a:tr>
            </a:tbl>
          </a:graphicData>
        </a:graphic>
      </p:graphicFrame>
      <p:sp>
        <p:nvSpPr>
          <p:cNvPr id="11" name="TextBox 10">
            <a:extLst>
              <a:ext uri="{FF2B5EF4-FFF2-40B4-BE49-F238E27FC236}">
                <a16:creationId xmlns:a16="http://schemas.microsoft.com/office/drawing/2014/main" id="{31E3ED35-3630-6BB1-2A1C-49989A3C741C}"/>
              </a:ext>
            </a:extLst>
          </p:cNvPr>
          <p:cNvSpPr txBox="1"/>
          <p:nvPr/>
        </p:nvSpPr>
        <p:spPr>
          <a:xfrm>
            <a:off x="698049" y="201511"/>
            <a:ext cx="2237591" cy="369332"/>
          </a:xfrm>
          <a:prstGeom prst="rect">
            <a:avLst/>
          </a:prstGeom>
          <a:noFill/>
        </p:spPr>
        <p:txBody>
          <a:bodyPr wrap="square" rtlCol="0">
            <a:spAutoFit/>
          </a:bodyPr>
          <a:lstStyle/>
          <a:p>
            <a:r>
              <a:rPr lang="en-US" dirty="0"/>
              <a:t>1- Scarcity Group</a:t>
            </a:r>
          </a:p>
        </p:txBody>
      </p:sp>
      <p:sp>
        <p:nvSpPr>
          <p:cNvPr id="12" name="TextBox 11">
            <a:extLst>
              <a:ext uri="{FF2B5EF4-FFF2-40B4-BE49-F238E27FC236}">
                <a16:creationId xmlns:a16="http://schemas.microsoft.com/office/drawing/2014/main" id="{4D48DDCE-91C7-E9A1-6583-836F6BA4F3D9}"/>
              </a:ext>
            </a:extLst>
          </p:cNvPr>
          <p:cNvSpPr txBox="1"/>
          <p:nvPr/>
        </p:nvSpPr>
        <p:spPr>
          <a:xfrm>
            <a:off x="7031914" y="4269407"/>
            <a:ext cx="2237591" cy="369332"/>
          </a:xfrm>
          <a:prstGeom prst="rect">
            <a:avLst/>
          </a:prstGeom>
          <a:noFill/>
        </p:spPr>
        <p:txBody>
          <a:bodyPr wrap="square" rtlCol="0">
            <a:spAutoFit/>
          </a:bodyPr>
          <a:lstStyle/>
          <a:p>
            <a:r>
              <a:rPr lang="en-US" dirty="0"/>
              <a:t>3- Intent Group</a:t>
            </a:r>
          </a:p>
        </p:txBody>
      </p:sp>
      <p:sp>
        <p:nvSpPr>
          <p:cNvPr id="13" name="TextBox 12">
            <a:extLst>
              <a:ext uri="{FF2B5EF4-FFF2-40B4-BE49-F238E27FC236}">
                <a16:creationId xmlns:a16="http://schemas.microsoft.com/office/drawing/2014/main" id="{2002BC3C-AC76-F475-A27C-9133A610970A}"/>
              </a:ext>
            </a:extLst>
          </p:cNvPr>
          <p:cNvSpPr txBox="1"/>
          <p:nvPr/>
        </p:nvSpPr>
        <p:spPr>
          <a:xfrm>
            <a:off x="4050850" y="2317988"/>
            <a:ext cx="2237591" cy="369332"/>
          </a:xfrm>
          <a:prstGeom prst="rect">
            <a:avLst/>
          </a:prstGeom>
          <a:noFill/>
        </p:spPr>
        <p:txBody>
          <a:bodyPr wrap="square" rtlCol="0">
            <a:spAutoFit/>
          </a:bodyPr>
          <a:lstStyle/>
          <a:p>
            <a:r>
              <a:rPr lang="en-US" dirty="0"/>
              <a:t>2- Urgency Group</a:t>
            </a:r>
          </a:p>
        </p:txBody>
      </p:sp>
    </p:spTree>
    <p:extLst>
      <p:ext uri="{BB962C8B-B14F-4D97-AF65-F5344CB8AC3E}">
        <p14:creationId xmlns:p14="http://schemas.microsoft.com/office/powerpoint/2010/main" val="2190990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A5BD6-AC1D-B01B-3B84-E7BD575016DD}"/>
              </a:ext>
            </a:extLst>
          </p:cNvPr>
          <p:cNvSpPr>
            <a:spLocks noGrp="1"/>
          </p:cNvSpPr>
          <p:nvPr>
            <p:ph type="title"/>
          </p:nvPr>
        </p:nvSpPr>
        <p:spPr/>
        <p:txBody>
          <a:bodyPr>
            <a:normAutofit/>
          </a:bodyPr>
          <a:lstStyle/>
          <a:p>
            <a:pPr algn="ctr"/>
            <a:r>
              <a:rPr lang="en-US" sz="2400" b="1" dirty="0"/>
              <a:t>Descriptive Statistics</a:t>
            </a:r>
          </a:p>
        </p:txBody>
      </p:sp>
      <p:graphicFrame>
        <p:nvGraphicFramePr>
          <p:cNvPr id="4" name="Table 3">
            <a:extLst>
              <a:ext uri="{FF2B5EF4-FFF2-40B4-BE49-F238E27FC236}">
                <a16:creationId xmlns:a16="http://schemas.microsoft.com/office/drawing/2014/main" id="{F2318905-181E-540F-428C-4611DEE81CF9}"/>
              </a:ext>
            </a:extLst>
          </p:cNvPr>
          <p:cNvGraphicFramePr>
            <a:graphicFrameLocks noGrp="1"/>
          </p:cNvGraphicFramePr>
          <p:nvPr>
            <p:extLst>
              <p:ext uri="{D42A27DB-BD31-4B8C-83A1-F6EECF244321}">
                <p14:modId xmlns:p14="http://schemas.microsoft.com/office/powerpoint/2010/main" val="3489367792"/>
              </p:ext>
            </p:extLst>
          </p:nvPr>
        </p:nvGraphicFramePr>
        <p:xfrm>
          <a:off x="1760698" y="2214978"/>
          <a:ext cx="8390965" cy="3711960"/>
        </p:xfrm>
        <a:graphic>
          <a:graphicData uri="http://schemas.openxmlformats.org/drawingml/2006/table">
            <a:tbl>
              <a:tblPr firstRow="1" bandRow="1">
                <a:tableStyleId>{5C22544A-7EE6-4342-B048-85BDC9FD1C3A}</a:tableStyleId>
              </a:tblPr>
              <a:tblGrid>
                <a:gridCol w="1272958">
                  <a:extLst>
                    <a:ext uri="{9D8B030D-6E8A-4147-A177-3AD203B41FA5}">
                      <a16:colId xmlns:a16="http://schemas.microsoft.com/office/drawing/2014/main" val="1306360919"/>
                    </a:ext>
                  </a:extLst>
                </a:gridCol>
                <a:gridCol w="2220732">
                  <a:extLst>
                    <a:ext uri="{9D8B030D-6E8A-4147-A177-3AD203B41FA5}">
                      <a16:colId xmlns:a16="http://schemas.microsoft.com/office/drawing/2014/main" val="4215648466"/>
                    </a:ext>
                  </a:extLst>
                </a:gridCol>
                <a:gridCol w="1540889">
                  <a:extLst>
                    <a:ext uri="{9D8B030D-6E8A-4147-A177-3AD203B41FA5}">
                      <a16:colId xmlns:a16="http://schemas.microsoft.com/office/drawing/2014/main" val="403905534"/>
                    </a:ext>
                  </a:extLst>
                </a:gridCol>
                <a:gridCol w="1678193">
                  <a:extLst>
                    <a:ext uri="{9D8B030D-6E8A-4147-A177-3AD203B41FA5}">
                      <a16:colId xmlns:a16="http://schemas.microsoft.com/office/drawing/2014/main" val="899366786"/>
                    </a:ext>
                  </a:extLst>
                </a:gridCol>
                <a:gridCol w="1678193">
                  <a:extLst>
                    <a:ext uri="{9D8B030D-6E8A-4147-A177-3AD203B41FA5}">
                      <a16:colId xmlns:a16="http://schemas.microsoft.com/office/drawing/2014/main" val="1234887049"/>
                    </a:ext>
                  </a:extLst>
                </a:gridCol>
              </a:tblGrid>
              <a:tr h="0">
                <a:tc>
                  <a:txBody>
                    <a:bodyPr/>
                    <a:lstStyle/>
                    <a:p>
                      <a:pPr algn="ctr"/>
                      <a:endParaRPr lang="en-US" dirty="0"/>
                    </a:p>
                  </a:txBody>
                  <a:tcPr/>
                </a:tc>
                <a:tc>
                  <a:txBody>
                    <a:bodyPr/>
                    <a:lstStyle/>
                    <a:p>
                      <a:pPr algn="ctr"/>
                      <a:r>
                        <a:rPr lang="en-US" sz="1800" b="1" i="0" kern="1200" dirty="0">
                          <a:solidFill>
                            <a:schemeClr val="lt1"/>
                          </a:solidFill>
                          <a:effectLst/>
                          <a:latin typeface="+mn-lt"/>
                          <a:ea typeface="+mn-ea"/>
                          <a:cs typeface="+mn-cs"/>
                        </a:rPr>
                        <a:t>LookingOrPurchased</a:t>
                      </a:r>
                      <a:endParaRPr lang="en-US" dirty="0"/>
                    </a:p>
                  </a:txBody>
                  <a:tcPr/>
                </a:tc>
                <a:tc>
                  <a:txBody>
                    <a:bodyPr/>
                    <a:lstStyle/>
                    <a:p>
                      <a:pPr algn="ctr"/>
                      <a:r>
                        <a:rPr lang="en-US" dirty="0"/>
                        <a:t>Age</a:t>
                      </a:r>
                    </a:p>
                  </a:txBody>
                  <a:tcPr/>
                </a:tc>
                <a:tc>
                  <a:txBody>
                    <a:bodyPr/>
                    <a:lstStyle/>
                    <a:p>
                      <a:pPr algn="ctr"/>
                      <a:r>
                        <a:rPr lang="en-US" dirty="0"/>
                        <a:t>Gender</a:t>
                      </a:r>
                    </a:p>
                  </a:txBody>
                  <a:tcPr/>
                </a:tc>
                <a:tc>
                  <a:txBody>
                    <a:bodyPr/>
                    <a:lstStyle/>
                    <a:p>
                      <a:pPr algn="ctr"/>
                      <a:r>
                        <a:rPr lang="en-US" dirty="0"/>
                        <a:t>Education</a:t>
                      </a:r>
                    </a:p>
                  </a:txBody>
                  <a:tcPr/>
                </a:tc>
                <a:extLst>
                  <a:ext uri="{0D108BD9-81ED-4DB2-BD59-A6C34878D82A}">
                    <a16:rowId xmlns:a16="http://schemas.microsoft.com/office/drawing/2014/main" val="1066486238"/>
                  </a:ext>
                </a:extLst>
              </a:tr>
              <a:tr h="418275">
                <a:tc>
                  <a:txBody>
                    <a:bodyPr/>
                    <a:lstStyle/>
                    <a:p>
                      <a:pPr algn="ctr"/>
                      <a:r>
                        <a:rPr lang="en-US" dirty="0"/>
                        <a:t>Count</a:t>
                      </a:r>
                    </a:p>
                  </a:txBody>
                  <a:tcPr/>
                </a:tc>
                <a:tc>
                  <a:txBody>
                    <a:bodyPr/>
                    <a:lstStyle/>
                    <a:p>
                      <a:pPr algn="ctr"/>
                      <a:r>
                        <a:rPr lang="en-US" sz="1800" b="0" i="0" kern="1200" dirty="0">
                          <a:solidFill>
                            <a:schemeClr val="dk1"/>
                          </a:solidFill>
                          <a:effectLst/>
                          <a:latin typeface="+mn-lt"/>
                          <a:ea typeface="+mn-ea"/>
                          <a:cs typeface="+mn-cs"/>
                        </a:rPr>
                        <a:t>240.0</a:t>
                      </a:r>
                      <a:endParaRPr lang="en-US" dirty="0"/>
                    </a:p>
                  </a:txBody>
                  <a:tcPr/>
                </a:tc>
                <a:tc>
                  <a:txBody>
                    <a:bodyPr/>
                    <a:lstStyle/>
                    <a:p>
                      <a:pPr algn="ctr"/>
                      <a:r>
                        <a:rPr lang="en-US">
                          <a:effectLst/>
                        </a:rPr>
                        <a:t>240.000000</a:t>
                      </a:r>
                    </a:p>
                  </a:txBody>
                  <a:tcPr anchor="ctr"/>
                </a:tc>
                <a:tc>
                  <a:txBody>
                    <a:bodyPr/>
                    <a:lstStyle/>
                    <a:p>
                      <a:pPr algn="ctr"/>
                      <a:r>
                        <a:rPr lang="en-US">
                          <a:effectLst/>
                        </a:rPr>
                        <a:t>240.000000</a:t>
                      </a:r>
                    </a:p>
                  </a:txBody>
                  <a:tcPr anchor="ctr"/>
                </a:tc>
                <a:tc>
                  <a:txBody>
                    <a:bodyPr/>
                    <a:lstStyle/>
                    <a:p>
                      <a:pPr algn="ctr"/>
                      <a:r>
                        <a:rPr lang="en-US" dirty="0">
                          <a:effectLst/>
                        </a:rPr>
                        <a:t>240.000000</a:t>
                      </a:r>
                    </a:p>
                  </a:txBody>
                  <a:tcPr anchor="ctr"/>
                </a:tc>
                <a:extLst>
                  <a:ext uri="{0D108BD9-81ED-4DB2-BD59-A6C34878D82A}">
                    <a16:rowId xmlns:a16="http://schemas.microsoft.com/office/drawing/2014/main" val="3520204816"/>
                  </a:ext>
                </a:extLst>
              </a:tr>
              <a:tr h="418275">
                <a:tc>
                  <a:txBody>
                    <a:bodyPr/>
                    <a:lstStyle/>
                    <a:p>
                      <a:pPr algn="ctr"/>
                      <a:r>
                        <a:rPr lang="en-US" dirty="0"/>
                        <a:t>Mean</a:t>
                      </a:r>
                    </a:p>
                  </a:txBody>
                  <a:tcPr/>
                </a:tc>
                <a:tc>
                  <a:txBody>
                    <a:bodyPr/>
                    <a:lstStyle/>
                    <a:p>
                      <a:pPr algn="ctr"/>
                      <a:r>
                        <a:rPr lang="en-US" sz="1800" b="0" i="0" kern="1200" dirty="0">
                          <a:solidFill>
                            <a:schemeClr val="dk1"/>
                          </a:solidFill>
                          <a:effectLst/>
                          <a:latin typeface="+mn-lt"/>
                          <a:ea typeface="+mn-ea"/>
                          <a:cs typeface="+mn-cs"/>
                        </a:rPr>
                        <a:t>1.0</a:t>
                      </a:r>
                      <a:endParaRPr lang="en-US" dirty="0"/>
                    </a:p>
                  </a:txBody>
                  <a:tcPr/>
                </a:tc>
                <a:tc>
                  <a:txBody>
                    <a:bodyPr/>
                    <a:lstStyle/>
                    <a:p>
                      <a:pPr algn="ctr"/>
                      <a:r>
                        <a:rPr lang="en-US">
                          <a:effectLst/>
                        </a:rPr>
                        <a:t>45.508333</a:t>
                      </a:r>
                    </a:p>
                  </a:txBody>
                  <a:tcPr anchor="ctr"/>
                </a:tc>
                <a:tc>
                  <a:txBody>
                    <a:bodyPr/>
                    <a:lstStyle/>
                    <a:p>
                      <a:pPr algn="ctr"/>
                      <a:r>
                        <a:rPr lang="en-US">
                          <a:effectLst/>
                        </a:rPr>
                        <a:t>0.879167</a:t>
                      </a:r>
                    </a:p>
                  </a:txBody>
                  <a:tcPr anchor="ctr"/>
                </a:tc>
                <a:tc>
                  <a:txBody>
                    <a:bodyPr/>
                    <a:lstStyle/>
                    <a:p>
                      <a:pPr algn="ctr"/>
                      <a:r>
                        <a:rPr lang="en-US" dirty="0">
                          <a:effectLst/>
                        </a:rPr>
                        <a:t>0.020833</a:t>
                      </a:r>
                    </a:p>
                  </a:txBody>
                  <a:tcPr anchor="ctr"/>
                </a:tc>
                <a:extLst>
                  <a:ext uri="{0D108BD9-81ED-4DB2-BD59-A6C34878D82A}">
                    <a16:rowId xmlns:a16="http://schemas.microsoft.com/office/drawing/2014/main" val="3035960315"/>
                  </a:ext>
                </a:extLst>
              </a:tr>
              <a:tr h="418275">
                <a:tc>
                  <a:txBody>
                    <a:bodyPr/>
                    <a:lstStyle/>
                    <a:p>
                      <a:pPr algn="ctr"/>
                      <a:r>
                        <a:rPr lang="en-US" dirty="0"/>
                        <a:t>Std</a:t>
                      </a:r>
                    </a:p>
                  </a:txBody>
                  <a:tcPr/>
                </a:tc>
                <a:tc>
                  <a:txBody>
                    <a:bodyPr/>
                    <a:lstStyle/>
                    <a:p>
                      <a:pPr algn="ctr"/>
                      <a:r>
                        <a:rPr lang="en-US" sz="1800" b="0" i="0" kern="1200" dirty="0">
                          <a:solidFill>
                            <a:schemeClr val="dk1"/>
                          </a:solidFill>
                          <a:effectLst/>
                          <a:latin typeface="+mn-lt"/>
                          <a:ea typeface="+mn-ea"/>
                          <a:cs typeface="+mn-cs"/>
                        </a:rPr>
                        <a:t>0.0</a:t>
                      </a:r>
                      <a:endParaRPr lang="en-US" dirty="0"/>
                    </a:p>
                  </a:txBody>
                  <a:tcPr/>
                </a:tc>
                <a:tc>
                  <a:txBody>
                    <a:bodyPr/>
                    <a:lstStyle/>
                    <a:p>
                      <a:pPr algn="ctr"/>
                      <a:r>
                        <a:rPr lang="en-US" dirty="0">
                          <a:effectLst/>
                        </a:rPr>
                        <a:t>11.146417</a:t>
                      </a:r>
                    </a:p>
                  </a:txBody>
                  <a:tcPr anchor="ctr"/>
                </a:tc>
                <a:tc>
                  <a:txBody>
                    <a:bodyPr/>
                    <a:lstStyle/>
                    <a:p>
                      <a:pPr algn="ctr"/>
                      <a:r>
                        <a:rPr lang="en-US">
                          <a:effectLst/>
                        </a:rPr>
                        <a:t>0.326615</a:t>
                      </a:r>
                    </a:p>
                  </a:txBody>
                  <a:tcPr anchor="ctr"/>
                </a:tc>
                <a:tc>
                  <a:txBody>
                    <a:bodyPr/>
                    <a:lstStyle/>
                    <a:p>
                      <a:pPr algn="ctr"/>
                      <a:r>
                        <a:rPr lang="en-US" dirty="0">
                          <a:effectLst/>
                        </a:rPr>
                        <a:t>0.143125</a:t>
                      </a:r>
                    </a:p>
                  </a:txBody>
                  <a:tcPr anchor="ctr"/>
                </a:tc>
                <a:extLst>
                  <a:ext uri="{0D108BD9-81ED-4DB2-BD59-A6C34878D82A}">
                    <a16:rowId xmlns:a16="http://schemas.microsoft.com/office/drawing/2014/main" val="3599210950"/>
                  </a:ext>
                </a:extLst>
              </a:tr>
              <a:tr h="418275">
                <a:tc>
                  <a:txBody>
                    <a:bodyPr/>
                    <a:lstStyle/>
                    <a:p>
                      <a:pPr algn="ctr"/>
                      <a:r>
                        <a:rPr lang="en-US" dirty="0"/>
                        <a:t>Min</a:t>
                      </a:r>
                    </a:p>
                  </a:txBody>
                  <a:tcPr/>
                </a:tc>
                <a:tc>
                  <a:txBody>
                    <a:bodyPr/>
                    <a:lstStyle/>
                    <a:p>
                      <a:pPr algn="ctr"/>
                      <a:r>
                        <a:rPr kumimoji="0" lang="en-US" sz="1800" b="0" i="0" u="none" strike="noStrike" kern="1200" cap="none" spc="0" normalizeH="0" baseline="0" noProof="0">
                          <a:ln>
                            <a:noFill/>
                          </a:ln>
                          <a:solidFill>
                            <a:prstClr val="black"/>
                          </a:solidFill>
                          <a:effectLst/>
                          <a:uLnTx/>
                          <a:uFillTx/>
                          <a:latin typeface="Bembo"/>
                          <a:ea typeface="+mn-ea"/>
                          <a:cs typeface="+mn-cs"/>
                        </a:rPr>
                        <a:t>1.0</a:t>
                      </a:r>
                      <a:endParaRPr lang="en-US" dirty="0"/>
                    </a:p>
                  </a:txBody>
                  <a:tcPr/>
                </a:tc>
                <a:tc>
                  <a:txBody>
                    <a:bodyPr/>
                    <a:lstStyle/>
                    <a:p>
                      <a:pPr algn="ctr"/>
                      <a:r>
                        <a:rPr lang="en-US" dirty="0">
                          <a:effectLst/>
                        </a:rPr>
                        <a:t>25.000000</a:t>
                      </a:r>
                    </a:p>
                  </a:txBody>
                  <a:tcPr anchor="ctr"/>
                </a:tc>
                <a:tc>
                  <a:txBody>
                    <a:bodyPr/>
                    <a:lstStyle/>
                    <a:p>
                      <a:pPr algn="ctr"/>
                      <a:r>
                        <a:rPr lang="en-US">
                          <a:effectLst/>
                        </a:rPr>
                        <a:t>0.000000</a:t>
                      </a:r>
                    </a:p>
                  </a:txBody>
                  <a:tcPr anchor="ctr"/>
                </a:tc>
                <a:tc>
                  <a:txBody>
                    <a:bodyPr/>
                    <a:lstStyle/>
                    <a:p>
                      <a:pPr algn="ctr"/>
                      <a:r>
                        <a:rPr lang="en-US" dirty="0">
                          <a:effectLst/>
                        </a:rPr>
                        <a:t>0.000000</a:t>
                      </a:r>
                    </a:p>
                  </a:txBody>
                  <a:tcPr anchor="ctr"/>
                </a:tc>
                <a:extLst>
                  <a:ext uri="{0D108BD9-81ED-4DB2-BD59-A6C34878D82A}">
                    <a16:rowId xmlns:a16="http://schemas.microsoft.com/office/drawing/2014/main" val="2324577604"/>
                  </a:ext>
                </a:extLst>
              </a:tr>
              <a:tr h="418275">
                <a:tc>
                  <a:txBody>
                    <a:bodyPr/>
                    <a:lstStyle/>
                    <a:p>
                      <a:pPr algn="ctr"/>
                      <a:r>
                        <a:rPr lang="en-US" dirty="0"/>
                        <a:t>25%</a:t>
                      </a:r>
                    </a:p>
                  </a:txBody>
                  <a:tcPr/>
                </a:tc>
                <a:tc>
                  <a:txBody>
                    <a:bodyPr/>
                    <a:lstStyle/>
                    <a:p>
                      <a:pPr algn="ctr"/>
                      <a:r>
                        <a:rPr kumimoji="0" lang="en-US" sz="1800" b="0" i="0" u="none" strike="noStrike" kern="1200" cap="none" spc="0" normalizeH="0" baseline="0" noProof="0">
                          <a:ln>
                            <a:noFill/>
                          </a:ln>
                          <a:solidFill>
                            <a:prstClr val="black"/>
                          </a:solidFill>
                          <a:effectLst/>
                          <a:uLnTx/>
                          <a:uFillTx/>
                          <a:latin typeface="Bembo"/>
                          <a:ea typeface="+mn-ea"/>
                          <a:cs typeface="+mn-cs"/>
                        </a:rPr>
                        <a:t>1.0</a:t>
                      </a:r>
                      <a:endParaRPr lang="en-US" dirty="0"/>
                    </a:p>
                  </a:txBody>
                  <a:tcPr/>
                </a:tc>
                <a:tc>
                  <a:txBody>
                    <a:bodyPr/>
                    <a:lstStyle/>
                    <a:p>
                      <a:pPr algn="ctr"/>
                      <a:r>
                        <a:rPr lang="en-US" dirty="0">
                          <a:effectLst/>
                        </a:rPr>
                        <a:t>36.750000</a:t>
                      </a:r>
                    </a:p>
                  </a:txBody>
                  <a:tcPr anchor="ctr"/>
                </a:tc>
                <a:tc>
                  <a:txBody>
                    <a:bodyPr/>
                    <a:lstStyle/>
                    <a:p>
                      <a:pPr algn="ctr"/>
                      <a:r>
                        <a:rPr lang="en-US" dirty="0">
                          <a:effectLst/>
                        </a:rPr>
                        <a:t>1.000000</a:t>
                      </a:r>
                    </a:p>
                  </a:txBody>
                  <a:tcPr anchor="ctr"/>
                </a:tc>
                <a:tc>
                  <a:txBody>
                    <a:bodyPr/>
                    <a:lstStyle/>
                    <a:p>
                      <a:pPr algn="ctr"/>
                      <a:r>
                        <a:rPr lang="en-US" dirty="0">
                          <a:effectLst/>
                        </a:rPr>
                        <a:t>0.000000</a:t>
                      </a:r>
                    </a:p>
                  </a:txBody>
                  <a:tcPr anchor="ctr"/>
                </a:tc>
                <a:extLst>
                  <a:ext uri="{0D108BD9-81ED-4DB2-BD59-A6C34878D82A}">
                    <a16:rowId xmlns:a16="http://schemas.microsoft.com/office/drawing/2014/main" val="1148500696"/>
                  </a:ext>
                </a:extLst>
              </a:tr>
              <a:tr h="418275">
                <a:tc>
                  <a:txBody>
                    <a:bodyPr/>
                    <a:lstStyle/>
                    <a:p>
                      <a:pPr algn="ctr"/>
                      <a:r>
                        <a:rPr lang="en-US" dirty="0"/>
                        <a:t>50%</a:t>
                      </a:r>
                    </a:p>
                  </a:txBody>
                  <a:tcPr/>
                </a:tc>
                <a:tc>
                  <a:txBody>
                    <a:bodyPr/>
                    <a:lstStyle/>
                    <a:p>
                      <a:pPr algn="ctr"/>
                      <a:r>
                        <a:rPr kumimoji="0" lang="en-US" sz="1800" b="0" i="0" u="none" strike="noStrike" kern="1200" cap="none" spc="0" normalizeH="0" baseline="0" noProof="0">
                          <a:ln>
                            <a:noFill/>
                          </a:ln>
                          <a:solidFill>
                            <a:prstClr val="black"/>
                          </a:solidFill>
                          <a:effectLst/>
                          <a:uLnTx/>
                          <a:uFillTx/>
                          <a:latin typeface="Bembo"/>
                          <a:ea typeface="+mn-ea"/>
                          <a:cs typeface="+mn-cs"/>
                        </a:rPr>
                        <a:t>1.0</a:t>
                      </a:r>
                      <a:endParaRPr lang="en-US" dirty="0"/>
                    </a:p>
                  </a:txBody>
                  <a:tcPr/>
                </a:tc>
                <a:tc>
                  <a:txBody>
                    <a:bodyPr/>
                    <a:lstStyle/>
                    <a:p>
                      <a:pPr algn="ctr"/>
                      <a:r>
                        <a:rPr lang="en-US" dirty="0">
                          <a:effectLst/>
                        </a:rPr>
                        <a:t>46.000000</a:t>
                      </a:r>
                    </a:p>
                  </a:txBody>
                  <a:tcPr anchor="ctr"/>
                </a:tc>
                <a:tc>
                  <a:txBody>
                    <a:bodyPr/>
                    <a:lstStyle/>
                    <a:p>
                      <a:pPr algn="ctr"/>
                      <a:r>
                        <a:rPr lang="en-US" dirty="0">
                          <a:effectLst/>
                        </a:rPr>
                        <a:t>1.000000</a:t>
                      </a:r>
                    </a:p>
                  </a:txBody>
                  <a:tcPr anchor="ctr"/>
                </a:tc>
                <a:tc>
                  <a:txBody>
                    <a:bodyPr/>
                    <a:lstStyle/>
                    <a:p>
                      <a:pPr algn="ctr"/>
                      <a:r>
                        <a:rPr lang="en-US" dirty="0">
                          <a:effectLst/>
                        </a:rPr>
                        <a:t>0.000000</a:t>
                      </a:r>
                    </a:p>
                  </a:txBody>
                  <a:tcPr anchor="ctr"/>
                </a:tc>
                <a:extLst>
                  <a:ext uri="{0D108BD9-81ED-4DB2-BD59-A6C34878D82A}">
                    <a16:rowId xmlns:a16="http://schemas.microsoft.com/office/drawing/2014/main" val="385583715"/>
                  </a:ext>
                </a:extLst>
              </a:tr>
              <a:tr h="418275">
                <a:tc>
                  <a:txBody>
                    <a:bodyPr/>
                    <a:lstStyle/>
                    <a:p>
                      <a:pPr algn="ctr"/>
                      <a:r>
                        <a:rPr lang="en-US" dirty="0"/>
                        <a:t>75%</a:t>
                      </a:r>
                    </a:p>
                  </a:txBody>
                  <a:tcPr/>
                </a:tc>
                <a:tc>
                  <a:txBody>
                    <a:bodyPr/>
                    <a:lstStyle/>
                    <a:p>
                      <a:pPr algn="ctr"/>
                      <a:r>
                        <a:rPr kumimoji="0" lang="en-US" sz="1800" b="0" i="0" u="none" strike="noStrike" kern="1200" cap="none" spc="0" normalizeH="0" baseline="0" noProof="0">
                          <a:ln>
                            <a:noFill/>
                          </a:ln>
                          <a:solidFill>
                            <a:prstClr val="black"/>
                          </a:solidFill>
                          <a:effectLst/>
                          <a:uLnTx/>
                          <a:uFillTx/>
                          <a:latin typeface="Bembo"/>
                          <a:ea typeface="+mn-ea"/>
                          <a:cs typeface="+mn-cs"/>
                        </a:rPr>
                        <a:t>1.0</a:t>
                      </a:r>
                      <a:endParaRPr lang="en-US" dirty="0"/>
                    </a:p>
                  </a:txBody>
                  <a:tcPr/>
                </a:tc>
                <a:tc>
                  <a:txBody>
                    <a:bodyPr/>
                    <a:lstStyle/>
                    <a:p>
                      <a:pPr algn="ctr"/>
                      <a:r>
                        <a:rPr lang="en-US" dirty="0">
                          <a:effectLst/>
                        </a:rPr>
                        <a:t>55.000000</a:t>
                      </a:r>
                    </a:p>
                  </a:txBody>
                  <a:tcPr anchor="ctr"/>
                </a:tc>
                <a:tc>
                  <a:txBody>
                    <a:bodyPr/>
                    <a:lstStyle/>
                    <a:p>
                      <a:pPr algn="ctr"/>
                      <a:r>
                        <a:rPr lang="en-US" dirty="0">
                          <a:effectLst/>
                        </a:rPr>
                        <a:t>1.000000</a:t>
                      </a:r>
                    </a:p>
                  </a:txBody>
                  <a:tcPr anchor="ctr"/>
                </a:tc>
                <a:tc>
                  <a:txBody>
                    <a:bodyPr/>
                    <a:lstStyle/>
                    <a:p>
                      <a:pPr algn="ctr"/>
                      <a:r>
                        <a:rPr lang="en-US" dirty="0">
                          <a:effectLst/>
                        </a:rPr>
                        <a:t>0.000000</a:t>
                      </a:r>
                    </a:p>
                  </a:txBody>
                  <a:tcPr anchor="ctr"/>
                </a:tc>
                <a:extLst>
                  <a:ext uri="{0D108BD9-81ED-4DB2-BD59-A6C34878D82A}">
                    <a16:rowId xmlns:a16="http://schemas.microsoft.com/office/drawing/2014/main" val="2925380125"/>
                  </a:ext>
                </a:extLst>
              </a:tr>
              <a:tr h="418275">
                <a:tc>
                  <a:txBody>
                    <a:bodyPr/>
                    <a:lstStyle/>
                    <a:p>
                      <a:pPr algn="ctr"/>
                      <a:r>
                        <a:rPr lang="en-US" dirty="0"/>
                        <a:t>Max</a:t>
                      </a:r>
                    </a:p>
                  </a:txBody>
                  <a:tcPr/>
                </a:tc>
                <a:tc>
                  <a:txBody>
                    <a:bodyPr/>
                    <a:lstStyle/>
                    <a:p>
                      <a:pPr algn="ctr"/>
                      <a:r>
                        <a:rPr kumimoji="0" lang="en-US" sz="1800" b="0" i="0" u="none" strike="noStrike" kern="1200" cap="none" spc="0" normalizeH="0" baseline="0" noProof="0" dirty="0">
                          <a:ln>
                            <a:noFill/>
                          </a:ln>
                          <a:solidFill>
                            <a:prstClr val="black"/>
                          </a:solidFill>
                          <a:effectLst/>
                          <a:uLnTx/>
                          <a:uFillTx/>
                          <a:latin typeface="Bembo"/>
                          <a:ea typeface="+mn-ea"/>
                          <a:cs typeface="+mn-cs"/>
                        </a:rPr>
                        <a:t>1.0</a:t>
                      </a:r>
                      <a:endParaRPr lang="en-US" dirty="0"/>
                    </a:p>
                  </a:txBody>
                  <a:tcPr/>
                </a:tc>
                <a:tc>
                  <a:txBody>
                    <a:bodyPr/>
                    <a:lstStyle/>
                    <a:p>
                      <a:pPr algn="ctr"/>
                      <a:r>
                        <a:rPr lang="en-US" dirty="0">
                          <a:effectLst/>
                        </a:rPr>
                        <a:t>64.000000</a:t>
                      </a:r>
                    </a:p>
                  </a:txBody>
                  <a:tcPr anchor="ctr"/>
                </a:tc>
                <a:tc>
                  <a:txBody>
                    <a:bodyPr/>
                    <a:lstStyle/>
                    <a:p>
                      <a:pPr algn="ctr"/>
                      <a:r>
                        <a:rPr lang="en-US">
                          <a:effectLst/>
                        </a:rPr>
                        <a:t>1.000000</a:t>
                      </a:r>
                    </a:p>
                  </a:txBody>
                  <a:tcPr anchor="ctr"/>
                </a:tc>
                <a:tc>
                  <a:txBody>
                    <a:bodyPr/>
                    <a:lstStyle/>
                    <a:p>
                      <a:pPr algn="ctr"/>
                      <a:r>
                        <a:rPr lang="en-US" dirty="0">
                          <a:effectLst/>
                        </a:rPr>
                        <a:t>1.000000</a:t>
                      </a:r>
                    </a:p>
                  </a:txBody>
                  <a:tcPr anchor="ctr"/>
                </a:tc>
                <a:extLst>
                  <a:ext uri="{0D108BD9-81ED-4DB2-BD59-A6C34878D82A}">
                    <a16:rowId xmlns:a16="http://schemas.microsoft.com/office/drawing/2014/main" val="2295065998"/>
                  </a:ext>
                </a:extLst>
              </a:tr>
            </a:tbl>
          </a:graphicData>
        </a:graphic>
      </p:graphicFrame>
    </p:spTree>
    <p:extLst>
      <p:ext uri="{BB962C8B-B14F-4D97-AF65-F5344CB8AC3E}">
        <p14:creationId xmlns:p14="http://schemas.microsoft.com/office/powerpoint/2010/main" val="1417231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8920256-1795-CF36-1EB9-F76D8B943099}"/>
              </a:ext>
            </a:extLst>
          </p:cNvPr>
          <p:cNvGraphicFramePr>
            <a:graphicFrameLocks noGrp="1"/>
          </p:cNvGraphicFramePr>
          <p:nvPr>
            <p:extLst>
              <p:ext uri="{D42A27DB-BD31-4B8C-83A1-F6EECF244321}">
                <p14:modId xmlns:p14="http://schemas.microsoft.com/office/powerpoint/2010/main" val="3116020562"/>
              </p:ext>
            </p:extLst>
          </p:nvPr>
        </p:nvGraphicFramePr>
        <p:xfrm>
          <a:off x="393069" y="1748708"/>
          <a:ext cx="11405861" cy="3360583"/>
        </p:xfrm>
        <a:graphic>
          <a:graphicData uri="http://schemas.openxmlformats.org/drawingml/2006/table">
            <a:tbl>
              <a:tblPr firstRow="1" bandRow="1">
                <a:tableStyleId>{5C22544A-7EE6-4342-B048-85BDC9FD1C3A}</a:tableStyleId>
              </a:tblPr>
              <a:tblGrid>
                <a:gridCol w="882127">
                  <a:extLst>
                    <a:ext uri="{9D8B030D-6E8A-4147-A177-3AD203B41FA5}">
                      <a16:colId xmlns:a16="http://schemas.microsoft.com/office/drawing/2014/main" val="2226007021"/>
                    </a:ext>
                  </a:extLst>
                </a:gridCol>
                <a:gridCol w="2732443">
                  <a:extLst>
                    <a:ext uri="{9D8B030D-6E8A-4147-A177-3AD203B41FA5}">
                      <a16:colId xmlns:a16="http://schemas.microsoft.com/office/drawing/2014/main" val="2121428801"/>
                    </a:ext>
                  </a:extLst>
                </a:gridCol>
                <a:gridCol w="2764715">
                  <a:extLst>
                    <a:ext uri="{9D8B030D-6E8A-4147-A177-3AD203B41FA5}">
                      <a16:colId xmlns:a16="http://schemas.microsoft.com/office/drawing/2014/main" val="322608883"/>
                    </a:ext>
                  </a:extLst>
                </a:gridCol>
                <a:gridCol w="2420470">
                  <a:extLst>
                    <a:ext uri="{9D8B030D-6E8A-4147-A177-3AD203B41FA5}">
                      <a16:colId xmlns:a16="http://schemas.microsoft.com/office/drawing/2014/main" val="2403420743"/>
                    </a:ext>
                  </a:extLst>
                </a:gridCol>
                <a:gridCol w="2606106">
                  <a:extLst>
                    <a:ext uri="{9D8B030D-6E8A-4147-A177-3AD203B41FA5}">
                      <a16:colId xmlns:a16="http://schemas.microsoft.com/office/drawing/2014/main" val="1542125562"/>
                    </a:ext>
                  </a:extLst>
                </a:gridCol>
              </a:tblGrid>
              <a:tr h="434503">
                <a:tc>
                  <a:txBody>
                    <a:bodyPr/>
                    <a:lstStyle/>
                    <a:p>
                      <a:pPr algn="ctr"/>
                      <a:endParaRPr lang="en-US" dirty="0"/>
                    </a:p>
                  </a:txBody>
                  <a:tcPr/>
                </a:tc>
                <a:tc>
                  <a:txBody>
                    <a:bodyPr/>
                    <a:lstStyle/>
                    <a:p>
                      <a:pPr algn="ctr"/>
                      <a:r>
                        <a:rPr lang="en-US" b="1" dirty="0" err="1">
                          <a:effectLst/>
                        </a:rPr>
                        <a:t>Scarcity_MissingOutFearing</a:t>
                      </a:r>
                      <a:endParaRPr lang="en-US" b="1" dirty="0">
                        <a:effectLst/>
                      </a:endParaRPr>
                    </a:p>
                  </a:txBody>
                  <a:tcPr anchor="ctr"/>
                </a:tc>
                <a:tc>
                  <a:txBody>
                    <a:bodyPr/>
                    <a:lstStyle/>
                    <a:p>
                      <a:pPr algn="ctr"/>
                      <a:r>
                        <a:rPr lang="en-US" sz="1800" b="1" i="0" kern="1200" dirty="0" err="1">
                          <a:solidFill>
                            <a:schemeClr val="lt1"/>
                          </a:solidFill>
                          <a:effectLst/>
                          <a:latin typeface="+mn-lt"/>
                          <a:ea typeface="+mn-ea"/>
                          <a:cs typeface="+mn-cs"/>
                        </a:rPr>
                        <a:t>Scarcity_MotivationIncrease</a:t>
                      </a:r>
                      <a:endParaRPr lang="en-US" b="1" dirty="0">
                        <a:effectLst/>
                      </a:endParaRPr>
                    </a:p>
                  </a:txBody>
                  <a:tcPr anchor="ctr"/>
                </a:tc>
                <a:tc>
                  <a:txBody>
                    <a:bodyPr/>
                    <a:lstStyle/>
                    <a:p>
                      <a:pPr algn="ctr"/>
                      <a:r>
                        <a:rPr lang="en-US" sz="1800" b="1" i="0" kern="1200" dirty="0" err="1">
                          <a:solidFill>
                            <a:schemeClr val="lt1"/>
                          </a:solidFill>
                          <a:effectLst/>
                          <a:latin typeface="+mn-lt"/>
                          <a:ea typeface="+mn-ea"/>
                          <a:cs typeface="+mn-cs"/>
                        </a:rPr>
                        <a:t>Scarcity_InterestBoosting</a:t>
                      </a:r>
                      <a:endParaRPr lang="en-US" dirty="0"/>
                    </a:p>
                  </a:txBody>
                  <a:tcPr anchor="ctr"/>
                </a:tc>
                <a:tc>
                  <a:txBody>
                    <a:bodyPr/>
                    <a:lstStyle/>
                    <a:p>
                      <a:pPr algn="ctr"/>
                      <a:r>
                        <a:rPr lang="en-US" sz="1800" b="1" i="0" kern="1200" dirty="0" err="1">
                          <a:solidFill>
                            <a:schemeClr val="lt1"/>
                          </a:solidFill>
                          <a:effectLst/>
                          <a:latin typeface="+mn-lt"/>
                          <a:ea typeface="+mn-ea"/>
                          <a:cs typeface="+mn-cs"/>
                        </a:rPr>
                        <a:t>Scarcity_SellOutExpecting</a:t>
                      </a:r>
                      <a:endParaRPr lang="en-US" dirty="0"/>
                    </a:p>
                  </a:txBody>
                  <a:tcPr anchor="ctr"/>
                </a:tc>
                <a:extLst>
                  <a:ext uri="{0D108BD9-81ED-4DB2-BD59-A6C34878D82A}">
                    <a16:rowId xmlns:a16="http://schemas.microsoft.com/office/drawing/2014/main" val="340479363"/>
                  </a:ext>
                </a:extLst>
              </a:tr>
              <a:tr h="278781">
                <a:tc>
                  <a:txBody>
                    <a:bodyPr/>
                    <a:lstStyle/>
                    <a:p>
                      <a:pPr algn="ctr"/>
                      <a:r>
                        <a:rPr lang="en-US" dirty="0"/>
                        <a:t>Count</a:t>
                      </a:r>
                    </a:p>
                  </a:txBody>
                  <a:tcPr anchor="ctr"/>
                </a:tc>
                <a:tc>
                  <a:txBody>
                    <a:bodyPr/>
                    <a:lstStyle/>
                    <a:p>
                      <a:pPr algn="ctr"/>
                      <a:r>
                        <a:rPr lang="en-US" dirty="0">
                          <a:effectLst/>
                        </a:rPr>
                        <a:t>240.000000</a:t>
                      </a:r>
                    </a:p>
                  </a:txBody>
                  <a:tcPr anchor="ctr"/>
                </a:tc>
                <a:tc>
                  <a:txBody>
                    <a:bodyPr/>
                    <a:lstStyle/>
                    <a:p>
                      <a:pPr algn="ctr"/>
                      <a:r>
                        <a:rPr lang="en-US">
                          <a:effectLst/>
                        </a:rPr>
                        <a:t>240.000000</a:t>
                      </a:r>
                    </a:p>
                  </a:txBody>
                  <a:tcPr anchor="ctr"/>
                </a:tc>
                <a:tc>
                  <a:txBody>
                    <a:bodyPr/>
                    <a:lstStyle/>
                    <a:p>
                      <a:pPr algn="ctr"/>
                      <a:r>
                        <a:rPr lang="en-US">
                          <a:effectLst/>
                        </a:rPr>
                        <a:t>240.000000</a:t>
                      </a:r>
                    </a:p>
                  </a:txBody>
                  <a:tcPr anchor="ctr"/>
                </a:tc>
                <a:tc>
                  <a:txBody>
                    <a:bodyPr/>
                    <a:lstStyle/>
                    <a:p>
                      <a:pPr algn="ctr"/>
                      <a:r>
                        <a:rPr lang="en-US" dirty="0">
                          <a:effectLst/>
                        </a:rPr>
                        <a:t>240.000000</a:t>
                      </a:r>
                    </a:p>
                  </a:txBody>
                  <a:tcPr anchor="ctr"/>
                </a:tc>
                <a:extLst>
                  <a:ext uri="{0D108BD9-81ED-4DB2-BD59-A6C34878D82A}">
                    <a16:rowId xmlns:a16="http://schemas.microsoft.com/office/drawing/2014/main" val="246130586"/>
                  </a:ext>
                </a:extLst>
              </a:tr>
              <a:tr h="347918">
                <a:tc>
                  <a:txBody>
                    <a:bodyPr/>
                    <a:lstStyle/>
                    <a:p>
                      <a:pPr algn="ctr"/>
                      <a:r>
                        <a:rPr lang="en-US" dirty="0"/>
                        <a:t>Mean</a:t>
                      </a:r>
                    </a:p>
                  </a:txBody>
                  <a:tcPr anchor="ctr"/>
                </a:tc>
                <a:tc>
                  <a:txBody>
                    <a:bodyPr/>
                    <a:lstStyle/>
                    <a:p>
                      <a:pPr algn="ctr"/>
                      <a:r>
                        <a:rPr lang="en-US" dirty="0">
                          <a:effectLst/>
                        </a:rPr>
                        <a:t>3.000000</a:t>
                      </a:r>
                    </a:p>
                  </a:txBody>
                  <a:tcPr anchor="ctr"/>
                </a:tc>
                <a:tc>
                  <a:txBody>
                    <a:bodyPr/>
                    <a:lstStyle/>
                    <a:p>
                      <a:pPr algn="ctr"/>
                      <a:r>
                        <a:rPr lang="en-US">
                          <a:effectLst/>
                        </a:rPr>
                        <a:t>3.041667</a:t>
                      </a:r>
                    </a:p>
                  </a:txBody>
                  <a:tcPr anchor="ctr"/>
                </a:tc>
                <a:tc>
                  <a:txBody>
                    <a:bodyPr/>
                    <a:lstStyle/>
                    <a:p>
                      <a:pPr algn="ctr"/>
                      <a:r>
                        <a:rPr lang="en-US">
                          <a:effectLst/>
                        </a:rPr>
                        <a:t>2.995833</a:t>
                      </a:r>
                    </a:p>
                  </a:txBody>
                  <a:tcPr anchor="ctr"/>
                </a:tc>
                <a:tc>
                  <a:txBody>
                    <a:bodyPr/>
                    <a:lstStyle/>
                    <a:p>
                      <a:pPr algn="ctr"/>
                      <a:r>
                        <a:rPr lang="en-US" dirty="0">
                          <a:effectLst/>
                        </a:rPr>
                        <a:t>2.991667</a:t>
                      </a:r>
                    </a:p>
                  </a:txBody>
                  <a:tcPr anchor="ctr"/>
                </a:tc>
                <a:extLst>
                  <a:ext uri="{0D108BD9-81ED-4DB2-BD59-A6C34878D82A}">
                    <a16:rowId xmlns:a16="http://schemas.microsoft.com/office/drawing/2014/main" val="3882146426"/>
                  </a:ext>
                </a:extLst>
              </a:tr>
              <a:tr h="294393">
                <a:tc>
                  <a:txBody>
                    <a:bodyPr/>
                    <a:lstStyle/>
                    <a:p>
                      <a:pPr algn="ctr"/>
                      <a:r>
                        <a:rPr lang="en-US" dirty="0"/>
                        <a:t>Std</a:t>
                      </a:r>
                    </a:p>
                  </a:txBody>
                  <a:tcPr anchor="ctr"/>
                </a:tc>
                <a:tc>
                  <a:txBody>
                    <a:bodyPr/>
                    <a:lstStyle/>
                    <a:p>
                      <a:pPr algn="ctr"/>
                      <a:r>
                        <a:rPr lang="en-US" dirty="0">
                          <a:effectLst/>
                        </a:rPr>
                        <a:t>1.034954</a:t>
                      </a:r>
                    </a:p>
                  </a:txBody>
                  <a:tcPr anchor="ctr"/>
                </a:tc>
                <a:tc>
                  <a:txBody>
                    <a:bodyPr/>
                    <a:lstStyle/>
                    <a:p>
                      <a:pPr algn="ctr"/>
                      <a:r>
                        <a:rPr lang="en-US">
                          <a:effectLst/>
                        </a:rPr>
                        <a:t>1.025987</a:t>
                      </a:r>
                    </a:p>
                  </a:txBody>
                  <a:tcPr anchor="ctr"/>
                </a:tc>
                <a:tc>
                  <a:txBody>
                    <a:bodyPr/>
                    <a:lstStyle/>
                    <a:p>
                      <a:pPr algn="ctr"/>
                      <a:r>
                        <a:rPr lang="en-US">
                          <a:effectLst/>
                        </a:rPr>
                        <a:t>1.004167</a:t>
                      </a:r>
                    </a:p>
                  </a:txBody>
                  <a:tcPr anchor="ctr"/>
                </a:tc>
                <a:tc>
                  <a:txBody>
                    <a:bodyPr/>
                    <a:lstStyle/>
                    <a:p>
                      <a:pPr algn="ctr"/>
                      <a:r>
                        <a:rPr lang="en-US" dirty="0">
                          <a:effectLst/>
                        </a:rPr>
                        <a:t>1.062844</a:t>
                      </a:r>
                    </a:p>
                  </a:txBody>
                  <a:tcPr anchor="ctr"/>
                </a:tc>
                <a:extLst>
                  <a:ext uri="{0D108BD9-81ED-4DB2-BD59-A6C34878D82A}">
                    <a16:rowId xmlns:a16="http://schemas.microsoft.com/office/drawing/2014/main" val="3795404640"/>
                  </a:ext>
                </a:extLst>
              </a:tr>
              <a:tr h="182881">
                <a:tc>
                  <a:txBody>
                    <a:bodyPr/>
                    <a:lstStyle/>
                    <a:p>
                      <a:pPr algn="ctr"/>
                      <a:r>
                        <a:rPr lang="en-US" dirty="0"/>
                        <a:t>Min</a:t>
                      </a:r>
                    </a:p>
                  </a:txBody>
                  <a:tcPr anchor="ctr"/>
                </a:tc>
                <a:tc>
                  <a:txBody>
                    <a:bodyPr/>
                    <a:lstStyle/>
                    <a:p>
                      <a:pPr algn="ctr"/>
                      <a:r>
                        <a:rPr lang="en-US" dirty="0">
                          <a:effectLst/>
                        </a:rPr>
                        <a:t>1.000000</a:t>
                      </a:r>
                    </a:p>
                  </a:txBody>
                  <a:tcPr anchor="ctr"/>
                </a:tc>
                <a:tc>
                  <a:txBody>
                    <a:bodyPr/>
                    <a:lstStyle/>
                    <a:p>
                      <a:pPr algn="ctr"/>
                      <a:r>
                        <a:rPr lang="en-US" dirty="0">
                          <a:effectLst/>
                        </a:rPr>
                        <a:t>1.000000</a:t>
                      </a:r>
                    </a:p>
                  </a:txBody>
                  <a:tcPr anchor="ctr"/>
                </a:tc>
                <a:tc>
                  <a:txBody>
                    <a:bodyPr/>
                    <a:lstStyle/>
                    <a:p>
                      <a:pPr algn="ctr"/>
                      <a:r>
                        <a:rPr lang="en-US">
                          <a:effectLst/>
                        </a:rPr>
                        <a:t>1.000000</a:t>
                      </a:r>
                    </a:p>
                  </a:txBody>
                  <a:tcPr anchor="ctr"/>
                </a:tc>
                <a:tc>
                  <a:txBody>
                    <a:bodyPr/>
                    <a:lstStyle/>
                    <a:p>
                      <a:pPr algn="ctr"/>
                      <a:r>
                        <a:rPr lang="en-US" dirty="0">
                          <a:effectLst/>
                        </a:rPr>
                        <a:t>1.000000</a:t>
                      </a:r>
                    </a:p>
                  </a:txBody>
                  <a:tcPr anchor="ctr"/>
                </a:tc>
                <a:extLst>
                  <a:ext uri="{0D108BD9-81ED-4DB2-BD59-A6C34878D82A}">
                    <a16:rowId xmlns:a16="http://schemas.microsoft.com/office/drawing/2014/main" val="4278299067"/>
                  </a:ext>
                </a:extLst>
              </a:tr>
              <a:tr h="276551">
                <a:tc>
                  <a:txBody>
                    <a:bodyPr/>
                    <a:lstStyle/>
                    <a:p>
                      <a:pPr algn="ctr"/>
                      <a:r>
                        <a:rPr lang="en-US" dirty="0"/>
                        <a:t>25%</a:t>
                      </a:r>
                    </a:p>
                  </a:txBody>
                  <a:tcPr anchor="ctr"/>
                </a:tc>
                <a:tc>
                  <a:txBody>
                    <a:bodyPr/>
                    <a:lstStyle/>
                    <a:p>
                      <a:pPr algn="ctr"/>
                      <a:r>
                        <a:rPr lang="en-US" dirty="0">
                          <a:effectLst/>
                        </a:rPr>
                        <a:t>2.000000</a:t>
                      </a:r>
                    </a:p>
                  </a:txBody>
                  <a:tcPr anchor="ctr"/>
                </a:tc>
                <a:tc>
                  <a:txBody>
                    <a:bodyPr/>
                    <a:lstStyle/>
                    <a:p>
                      <a:pPr algn="ctr"/>
                      <a:r>
                        <a:rPr lang="en-US" dirty="0">
                          <a:effectLst/>
                        </a:rPr>
                        <a:t>2.000000</a:t>
                      </a:r>
                    </a:p>
                  </a:txBody>
                  <a:tcPr anchor="ctr"/>
                </a:tc>
                <a:tc>
                  <a:txBody>
                    <a:bodyPr/>
                    <a:lstStyle/>
                    <a:p>
                      <a:pPr algn="ctr"/>
                      <a:r>
                        <a:rPr lang="en-US">
                          <a:effectLst/>
                        </a:rPr>
                        <a:t>2.000000</a:t>
                      </a:r>
                    </a:p>
                  </a:txBody>
                  <a:tcPr anchor="ctr"/>
                </a:tc>
                <a:tc>
                  <a:txBody>
                    <a:bodyPr/>
                    <a:lstStyle/>
                    <a:p>
                      <a:pPr algn="ctr"/>
                      <a:r>
                        <a:rPr lang="en-US" dirty="0">
                          <a:effectLst/>
                        </a:rPr>
                        <a:t>2.000000</a:t>
                      </a:r>
                    </a:p>
                  </a:txBody>
                  <a:tcPr anchor="ctr"/>
                </a:tc>
                <a:extLst>
                  <a:ext uri="{0D108BD9-81ED-4DB2-BD59-A6C34878D82A}">
                    <a16:rowId xmlns:a16="http://schemas.microsoft.com/office/drawing/2014/main" val="2031106518"/>
                  </a:ext>
                </a:extLst>
              </a:tr>
              <a:tr h="289932">
                <a:tc>
                  <a:txBody>
                    <a:bodyPr/>
                    <a:lstStyle/>
                    <a:p>
                      <a:pPr algn="ctr"/>
                      <a:r>
                        <a:rPr lang="en-US" dirty="0"/>
                        <a:t>50%</a:t>
                      </a:r>
                    </a:p>
                  </a:txBody>
                  <a:tcPr anchor="ctr"/>
                </a:tc>
                <a:tc>
                  <a:txBody>
                    <a:bodyPr/>
                    <a:lstStyle/>
                    <a:p>
                      <a:pPr algn="ctr"/>
                      <a:r>
                        <a:rPr lang="en-US">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extLst>
                  <a:ext uri="{0D108BD9-81ED-4DB2-BD59-A6C34878D82A}">
                    <a16:rowId xmlns:a16="http://schemas.microsoft.com/office/drawing/2014/main" val="465405612"/>
                  </a:ext>
                </a:extLst>
              </a:tr>
              <a:tr h="258709">
                <a:tc>
                  <a:txBody>
                    <a:bodyPr/>
                    <a:lstStyle/>
                    <a:p>
                      <a:pPr algn="ctr"/>
                      <a:r>
                        <a:rPr lang="en-US" dirty="0"/>
                        <a:t>75%</a:t>
                      </a:r>
                    </a:p>
                  </a:txBody>
                  <a:tcPr anchor="ctr"/>
                </a:tc>
                <a:tc>
                  <a:txBody>
                    <a:bodyPr/>
                    <a:lstStyle/>
                    <a:p>
                      <a:pPr algn="ctr"/>
                      <a:r>
                        <a:rPr lang="en-US">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extLst>
                  <a:ext uri="{0D108BD9-81ED-4DB2-BD59-A6C34878D82A}">
                    <a16:rowId xmlns:a16="http://schemas.microsoft.com/office/drawing/2014/main" val="2819466529"/>
                  </a:ext>
                </a:extLst>
              </a:tr>
              <a:tr h="227485">
                <a:tc>
                  <a:txBody>
                    <a:bodyPr/>
                    <a:lstStyle/>
                    <a:p>
                      <a:pPr algn="ctr"/>
                      <a:r>
                        <a:rPr lang="en-US" dirty="0"/>
                        <a:t>Max</a:t>
                      </a:r>
                    </a:p>
                  </a:txBody>
                  <a:tcPr anchor="ctr"/>
                </a:tc>
                <a:tc>
                  <a:txBody>
                    <a:bodyPr/>
                    <a:lstStyle/>
                    <a:p>
                      <a:pPr algn="ctr"/>
                      <a:r>
                        <a:rPr lang="en-US">
                          <a:effectLst/>
                        </a:rPr>
                        <a:t>3.000000</a:t>
                      </a:r>
                    </a:p>
                  </a:txBody>
                  <a:tcPr anchor="ctr"/>
                </a:tc>
                <a:tc>
                  <a:txBody>
                    <a:bodyPr/>
                    <a:lstStyle/>
                    <a:p>
                      <a:pPr algn="ctr"/>
                      <a:r>
                        <a:rPr lang="en-US">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extLst>
                  <a:ext uri="{0D108BD9-81ED-4DB2-BD59-A6C34878D82A}">
                    <a16:rowId xmlns:a16="http://schemas.microsoft.com/office/drawing/2014/main" val="724584224"/>
                  </a:ext>
                </a:extLst>
              </a:tr>
            </a:tbl>
          </a:graphicData>
        </a:graphic>
      </p:graphicFrame>
      <p:sp>
        <p:nvSpPr>
          <p:cNvPr id="5" name="TextBox 4">
            <a:extLst>
              <a:ext uri="{FF2B5EF4-FFF2-40B4-BE49-F238E27FC236}">
                <a16:creationId xmlns:a16="http://schemas.microsoft.com/office/drawing/2014/main" id="{F09BFA43-5E4A-8B3C-B109-4509E1368719}"/>
              </a:ext>
            </a:extLst>
          </p:cNvPr>
          <p:cNvSpPr txBox="1"/>
          <p:nvPr/>
        </p:nvSpPr>
        <p:spPr>
          <a:xfrm>
            <a:off x="735980" y="624468"/>
            <a:ext cx="4795025" cy="523220"/>
          </a:xfrm>
          <a:prstGeom prst="rect">
            <a:avLst/>
          </a:prstGeom>
          <a:noFill/>
        </p:spPr>
        <p:txBody>
          <a:bodyPr wrap="square" rtlCol="0">
            <a:spAutoFit/>
          </a:bodyPr>
          <a:lstStyle/>
          <a:p>
            <a:r>
              <a:rPr lang="ar-EG" sz="2800" b="1" u="sng" dirty="0"/>
              <a:t>1</a:t>
            </a:r>
            <a:r>
              <a:rPr lang="en-US" sz="2800" b="1" u="sng" dirty="0"/>
              <a:t>- Scarcity Group:-</a:t>
            </a:r>
          </a:p>
        </p:txBody>
      </p:sp>
    </p:spTree>
    <p:extLst>
      <p:ext uri="{BB962C8B-B14F-4D97-AF65-F5344CB8AC3E}">
        <p14:creationId xmlns:p14="http://schemas.microsoft.com/office/powerpoint/2010/main" val="1883752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48AF87D-7AB3-5F01-A705-6B98446686F5}"/>
              </a:ext>
            </a:extLst>
          </p:cNvPr>
          <p:cNvGraphicFramePr>
            <a:graphicFrameLocks noGrp="1"/>
          </p:cNvGraphicFramePr>
          <p:nvPr>
            <p:extLst>
              <p:ext uri="{D42A27DB-BD31-4B8C-83A1-F6EECF244321}">
                <p14:modId xmlns:p14="http://schemas.microsoft.com/office/powerpoint/2010/main" val="2262972171"/>
              </p:ext>
            </p:extLst>
          </p:nvPr>
        </p:nvGraphicFramePr>
        <p:xfrm>
          <a:off x="268252" y="2157498"/>
          <a:ext cx="11655496" cy="3566160"/>
        </p:xfrm>
        <a:graphic>
          <a:graphicData uri="http://schemas.openxmlformats.org/drawingml/2006/table">
            <a:tbl>
              <a:tblPr firstRow="1" bandRow="1">
                <a:tableStyleId>{5C22544A-7EE6-4342-B048-85BDC9FD1C3A}</a:tableStyleId>
              </a:tblPr>
              <a:tblGrid>
                <a:gridCol w="882127">
                  <a:extLst>
                    <a:ext uri="{9D8B030D-6E8A-4147-A177-3AD203B41FA5}">
                      <a16:colId xmlns:a16="http://schemas.microsoft.com/office/drawing/2014/main" val="2226007021"/>
                    </a:ext>
                  </a:extLst>
                </a:gridCol>
                <a:gridCol w="2732443">
                  <a:extLst>
                    <a:ext uri="{9D8B030D-6E8A-4147-A177-3AD203B41FA5}">
                      <a16:colId xmlns:a16="http://schemas.microsoft.com/office/drawing/2014/main" val="2121428801"/>
                    </a:ext>
                  </a:extLst>
                </a:gridCol>
                <a:gridCol w="2764715">
                  <a:extLst>
                    <a:ext uri="{9D8B030D-6E8A-4147-A177-3AD203B41FA5}">
                      <a16:colId xmlns:a16="http://schemas.microsoft.com/office/drawing/2014/main" val="322608883"/>
                    </a:ext>
                  </a:extLst>
                </a:gridCol>
                <a:gridCol w="2420470">
                  <a:extLst>
                    <a:ext uri="{9D8B030D-6E8A-4147-A177-3AD203B41FA5}">
                      <a16:colId xmlns:a16="http://schemas.microsoft.com/office/drawing/2014/main" val="2403420743"/>
                    </a:ext>
                  </a:extLst>
                </a:gridCol>
                <a:gridCol w="2855741">
                  <a:extLst>
                    <a:ext uri="{9D8B030D-6E8A-4147-A177-3AD203B41FA5}">
                      <a16:colId xmlns:a16="http://schemas.microsoft.com/office/drawing/2014/main" val="1542125562"/>
                    </a:ext>
                  </a:extLst>
                </a:gridCol>
              </a:tblGrid>
              <a:tr h="0">
                <a:tc>
                  <a:txBody>
                    <a:bodyPr/>
                    <a:lstStyle/>
                    <a:p>
                      <a:pPr algn="ctr"/>
                      <a:endParaRPr lang="en-US" dirty="0"/>
                    </a:p>
                  </a:txBody>
                  <a:tcPr/>
                </a:tc>
                <a:tc>
                  <a:txBody>
                    <a:bodyPr/>
                    <a:lstStyle/>
                    <a:p>
                      <a:pPr algn="ctr"/>
                      <a:r>
                        <a:rPr lang="en-US" b="1">
                          <a:effectLst/>
                        </a:rPr>
                        <a:t>Urgency_PressureFeeling</a:t>
                      </a:r>
                    </a:p>
                  </a:txBody>
                  <a:tcPr anchor="ctr"/>
                </a:tc>
                <a:tc>
                  <a:txBody>
                    <a:bodyPr/>
                    <a:lstStyle/>
                    <a:p>
                      <a:pPr algn="ctr"/>
                      <a:r>
                        <a:rPr lang="en-US" b="1">
                          <a:effectLst/>
                        </a:rPr>
                        <a:t>Urgency_LossFear</a:t>
                      </a:r>
                    </a:p>
                  </a:txBody>
                  <a:tcPr anchor="ctr"/>
                </a:tc>
                <a:tc>
                  <a:txBody>
                    <a:bodyPr/>
                    <a:lstStyle/>
                    <a:p>
                      <a:pPr algn="ctr"/>
                      <a:r>
                        <a:rPr lang="en-US" b="1">
                          <a:effectLst/>
                        </a:rPr>
                        <a:t>Urgency_DeadlineEffect</a:t>
                      </a:r>
                    </a:p>
                  </a:txBody>
                  <a:tcPr anchor="ctr"/>
                </a:tc>
                <a:tc>
                  <a:txBody>
                    <a:bodyPr/>
                    <a:lstStyle/>
                    <a:p>
                      <a:pPr algn="ctr"/>
                      <a:r>
                        <a:rPr lang="en-US" b="1" dirty="0" err="1">
                          <a:effectLst/>
                        </a:rPr>
                        <a:t>Urgency_FastDecisionMaking</a:t>
                      </a:r>
                      <a:endParaRPr lang="en-US" b="1" dirty="0">
                        <a:effectLst/>
                      </a:endParaRPr>
                    </a:p>
                  </a:txBody>
                  <a:tcPr anchor="ctr"/>
                </a:tc>
                <a:extLst>
                  <a:ext uri="{0D108BD9-81ED-4DB2-BD59-A6C34878D82A}">
                    <a16:rowId xmlns:a16="http://schemas.microsoft.com/office/drawing/2014/main" val="340479363"/>
                  </a:ext>
                </a:extLst>
              </a:tr>
              <a:tr h="278781">
                <a:tc>
                  <a:txBody>
                    <a:bodyPr/>
                    <a:lstStyle/>
                    <a:p>
                      <a:pPr algn="ctr"/>
                      <a:r>
                        <a:rPr lang="en-US" dirty="0"/>
                        <a:t>Count</a:t>
                      </a:r>
                    </a:p>
                  </a:txBody>
                  <a:tcPr anchor="ctr"/>
                </a:tc>
                <a:tc>
                  <a:txBody>
                    <a:bodyPr/>
                    <a:lstStyle/>
                    <a:p>
                      <a:pPr algn="ctr"/>
                      <a:r>
                        <a:rPr lang="en-US" dirty="0">
                          <a:effectLst/>
                        </a:rPr>
                        <a:t>240.000000</a:t>
                      </a:r>
                    </a:p>
                  </a:txBody>
                  <a:tcPr anchor="ctr"/>
                </a:tc>
                <a:tc>
                  <a:txBody>
                    <a:bodyPr/>
                    <a:lstStyle/>
                    <a:p>
                      <a:pPr algn="ctr"/>
                      <a:r>
                        <a:rPr lang="en-US">
                          <a:effectLst/>
                        </a:rPr>
                        <a:t>240.000000</a:t>
                      </a:r>
                    </a:p>
                  </a:txBody>
                  <a:tcPr anchor="ctr"/>
                </a:tc>
                <a:tc>
                  <a:txBody>
                    <a:bodyPr/>
                    <a:lstStyle/>
                    <a:p>
                      <a:pPr algn="ctr"/>
                      <a:r>
                        <a:rPr lang="en-US">
                          <a:effectLst/>
                        </a:rPr>
                        <a:t>240.000000</a:t>
                      </a:r>
                    </a:p>
                  </a:txBody>
                  <a:tcPr anchor="ctr"/>
                </a:tc>
                <a:tc>
                  <a:txBody>
                    <a:bodyPr/>
                    <a:lstStyle/>
                    <a:p>
                      <a:pPr algn="ctr"/>
                      <a:r>
                        <a:rPr lang="en-US" dirty="0">
                          <a:effectLst/>
                        </a:rPr>
                        <a:t>240.000000</a:t>
                      </a:r>
                    </a:p>
                  </a:txBody>
                  <a:tcPr anchor="ctr"/>
                </a:tc>
                <a:extLst>
                  <a:ext uri="{0D108BD9-81ED-4DB2-BD59-A6C34878D82A}">
                    <a16:rowId xmlns:a16="http://schemas.microsoft.com/office/drawing/2014/main" val="246130586"/>
                  </a:ext>
                </a:extLst>
              </a:tr>
              <a:tr h="347918">
                <a:tc>
                  <a:txBody>
                    <a:bodyPr/>
                    <a:lstStyle/>
                    <a:p>
                      <a:pPr algn="ctr"/>
                      <a:r>
                        <a:rPr lang="en-US" dirty="0"/>
                        <a:t>Mean</a:t>
                      </a:r>
                    </a:p>
                  </a:txBody>
                  <a:tcPr anchor="ctr"/>
                </a:tc>
                <a:tc>
                  <a:txBody>
                    <a:bodyPr/>
                    <a:lstStyle/>
                    <a:p>
                      <a:pPr algn="ctr"/>
                      <a:r>
                        <a:rPr lang="en-US">
                          <a:effectLst/>
                        </a:rPr>
                        <a:t>2.979167</a:t>
                      </a:r>
                    </a:p>
                  </a:txBody>
                  <a:tcPr anchor="ctr"/>
                </a:tc>
                <a:tc>
                  <a:txBody>
                    <a:bodyPr/>
                    <a:lstStyle/>
                    <a:p>
                      <a:pPr algn="ctr"/>
                      <a:r>
                        <a:rPr lang="en-US">
                          <a:effectLst/>
                        </a:rPr>
                        <a:t>2.970833</a:t>
                      </a:r>
                    </a:p>
                  </a:txBody>
                  <a:tcPr anchor="ctr"/>
                </a:tc>
                <a:tc>
                  <a:txBody>
                    <a:bodyPr/>
                    <a:lstStyle/>
                    <a:p>
                      <a:pPr algn="ctr"/>
                      <a:r>
                        <a:rPr lang="en-US">
                          <a:effectLst/>
                        </a:rPr>
                        <a:t>2.987500</a:t>
                      </a:r>
                    </a:p>
                  </a:txBody>
                  <a:tcPr anchor="ctr"/>
                </a:tc>
                <a:tc>
                  <a:txBody>
                    <a:bodyPr/>
                    <a:lstStyle/>
                    <a:p>
                      <a:pPr algn="ctr"/>
                      <a:r>
                        <a:rPr lang="en-US" dirty="0">
                          <a:effectLst/>
                        </a:rPr>
                        <a:t>3.004167</a:t>
                      </a:r>
                    </a:p>
                  </a:txBody>
                  <a:tcPr anchor="ctr"/>
                </a:tc>
                <a:extLst>
                  <a:ext uri="{0D108BD9-81ED-4DB2-BD59-A6C34878D82A}">
                    <a16:rowId xmlns:a16="http://schemas.microsoft.com/office/drawing/2014/main" val="3882146426"/>
                  </a:ext>
                </a:extLst>
              </a:tr>
              <a:tr h="294393">
                <a:tc>
                  <a:txBody>
                    <a:bodyPr/>
                    <a:lstStyle/>
                    <a:p>
                      <a:pPr algn="ctr"/>
                      <a:r>
                        <a:rPr lang="en-US" dirty="0"/>
                        <a:t>Std</a:t>
                      </a:r>
                    </a:p>
                  </a:txBody>
                  <a:tcPr anchor="ctr"/>
                </a:tc>
                <a:tc>
                  <a:txBody>
                    <a:bodyPr/>
                    <a:lstStyle/>
                    <a:p>
                      <a:pPr algn="ctr"/>
                      <a:r>
                        <a:rPr lang="en-US">
                          <a:effectLst/>
                        </a:rPr>
                        <a:t>1.008117</a:t>
                      </a:r>
                    </a:p>
                  </a:txBody>
                  <a:tcPr anchor="ctr"/>
                </a:tc>
                <a:tc>
                  <a:txBody>
                    <a:bodyPr/>
                    <a:lstStyle/>
                    <a:p>
                      <a:pPr algn="ctr"/>
                      <a:r>
                        <a:rPr lang="en-US">
                          <a:effectLst/>
                        </a:rPr>
                        <a:t>1.007910</a:t>
                      </a:r>
                    </a:p>
                  </a:txBody>
                  <a:tcPr anchor="ctr"/>
                </a:tc>
                <a:tc>
                  <a:txBody>
                    <a:bodyPr/>
                    <a:lstStyle/>
                    <a:p>
                      <a:pPr algn="ctr"/>
                      <a:r>
                        <a:rPr lang="en-US">
                          <a:effectLst/>
                        </a:rPr>
                        <a:t>1.024721</a:t>
                      </a:r>
                    </a:p>
                  </a:txBody>
                  <a:tcPr anchor="ctr"/>
                </a:tc>
                <a:tc>
                  <a:txBody>
                    <a:bodyPr/>
                    <a:lstStyle/>
                    <a:p>
                      <a:pPr algn="ctr"/>
                      <a:r>
                        <a:rPr lang="en-US" dirty="0">
                          <a:effectLst/>
                        </a:rPr>
                        <a:t>1.028863</a:t>
                      </a:r>
                    </a:p>
                  </a:txBody>
                  <a:tcPr anchor="ctr"/>
                </a:tc>
                <a:extLst>
                  <a:ext uri="{0D108BD9-81ED-4DB2-BD59-A6C34878D82A}">
                    <a16:rowId xmlns:a16="http://schemas.microsoft.com/office/drawing/2014/main" val="3795404640"/>
                  </a:ext>
                </a:extLst>
              </a:tr>
              <a:tr h="182881">
                <a:tc>
                  <a:txBody>
                    <a:bodyPr/>
                    <a:lstStyle/>
                    <a:p>
                      <a:pPr algn="ctr"/>
                      <a:r>
                        <a:rPr lang="en-US" dirty="0"/>
                        <a:t>Min</a:t>
                      </a:r>
                    </a:p>
                  </a:txBody>
                  <a:tcPr anchor="ctr"/>
                </a:tc>
                <a:tc>
                  <a:txBody>
                    <a:bodyPr/>
                    <a:lstStyle/>
                    <a:p>
                      <a:pPr algn="ctr"/>
                      <a:r>
                        <a:rPr lang="en-US" dirty="0">
                          <a:effectLst/>
                        </a:rPr>
                        <a:t>1.000000</a:t>
                      </a:r>
                    </a:p>
                  </a:txBody>
                  <a:tcPr anchor="ctr"/>
                </a:tc>
                <a:tc>
                  <a:txBody>
                    <a:bodyPr/>
                    <a:lstStyle/>
                    <a:p>
                      <a:pPr algn="ctr"/>
                      <a:r>
                        <a:rPr lang="en-US" dirty="0">
                          <a:effectLst/>
                        </a:rPr>
                        <a:t>1.000000</a:t>
                      </a:r>
                    </a:p>
                  </a:txBody>
                  <a:tcPr anchor="ctr"/>
                </a:tc>
                <a:tc>
                  <a:txBody>
                    <a:bodyPr/>
                    <a:lstStyle/>
                    <a:p>
                      <a:pPr algn="ctr"/>
                      <a:r>
                        <a:rPr lang="en-US">
                          <a:effectLst/>
                        </a:rPr>
                        <a:t>1.000000</a:t>
                      </a:r>
                    </a:p>
                  </a:txBody>
                  <a:tcPr anchor="ctr"/>
                </a:tc>
                <a:tc>
                  <a:txBody>
                    <a:bodyPr/>
                    <a:lstStyle/>
                    <a:p>
                      <a:pPr algn="ctr"/>
                      <a:r>
                        <a:rPr lang="en-US" dirty="0">
                          <a:effectLst/>
                        </a:rPr>
                        <a:t>1.000000</a:t>
                      </a:r>
                    </a:p>
                  </a:txBody>
                  <a:tcPr anchor="ctr"/>
                </a:tc>
                <a:extLst>
                  <a:ext uri="{0D108BD9-81ED-4DB2-BD59-A6C34878D82A}">
                    <a16:rowId xmlns:a16="http://schemas.microsoft.com/office/drawing/2014/main" val="4278299067"/>
                  </a:ext>
                </a:extLst>
              </a:tr>
              <a:tr h="276551">
                <a:tc>
                  <a:txBody>
                    <a:bodyPr/>
                    <a:lstStyle/>
                    <a:p>
                      <a:pPr algn="ctr"/>
                      <a:r>
                        <a:rPr lang="en-US" dirty="0"/>
                        <a:t>25%</a:t>
                      </a:r>
                    </a:p>
                  </a:txBody>
                  <a:tcPr anchor="ctr"/>
                </a:tc>
                <a:tc>
                  <a:txBody>
                    <a:bodyPr/>
                    <a:lstStyle/>
                    <a:p>
                      <a:pPr algn="ctr"/>
                      <a:r>
                        <a:rPr lang="en-US" dirty="0">
                          <a:effectLst/>
                        </a:rPr>
                        <a:t>2.000000</a:t>
                      </a:r>
                    </a:p>
                  </a:txBody>
                  <a:tcPr anchor="ctr"/>
                </a:tc>
                <a:tc>
                  <a:txBody>
                    <a:bodyPr/>
                    <a:lstStyle/>
                    <a:p>
                      <a:pPr algn="ctr"/>
                      <a:r>
                        <a:rPr lang="en-US" dirty="0">
                          <a:effectLst/>
                        </a:rPr>
                        <a:t>2.000000</a:t>
                      </a:r>
                    </a:p>
                  </a:txBody>
                  <a:tcPr anchor="ctr"/>
                </a:tc>
                <a:tc>
                  <a:txBody>
                    <a:bodyPr/>
                    <a:lstStyle/>
                    <a:p>
                      <a:pPr algn="ctr"/>
                      <a:r>
                        <a:rPr lang="en-US">
                          <a:effectLst/>
                        </a:rPr>
                        <a:t>2.000000</a:t>
                      </a:r>
                    </a:p>
                  </a:txBody>
                  <a:tcPr anchor="ctr"/>
                </a:tc>
                <a:tc>
                  <a:txBody>
                    <a:bodyPr/>
                    <a:lstStyle/>
                    <a:p>
                      <a:pPr algn="ctr"/>
                      <a:r>
                        <a:rPr lang="en-US" dirty="0">
                          <a:effectLst/>
                        </a:rPr>
                        <a:t>2.000000</a:t>
                      </a:r>
                    </a:p>
                  </a:txBody>
                  <a:tcPr anchor="ctr"/>
                </a:tc>
                <a:extLst>
                  <a:ext uri="{0D108BD9-81ED-4DB2-BD59-A6C34878D82A}">
                    <a16:rowId xmlns:a16="http://schemas.microsoft.com/office/drawing/2014/main" val="2031106518"/>
                  </a:ext>
                </a:extLst>
              </a:tr>
              <a:tr h="289932">
                <a:tc>
                  <a:txBody>
                    <a:bodyPr/>
                    <a:lstStyle/>
                    <a:p>
                      <a:pPr algn="ctr"/>
                      <a:r>
                        <a:rPr lang="en-US" dirty="0"/>
                        <a:t>50%</a:t>
                      </a:r>
                    </a:p>
                  </a:txBody>
                  <a:tcPr anchor="ctr"/>
                </a:tc>
                <a:tc>
                  <a:txBody>
                    <a:bodyPr/>
                    <a:lstStyle/>
                    <a:p>
                      <a:pPr algn="ctr"/>
                      <a:r>
                        <a:rPr lang="en-US">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extLst>
                  <a:ext uri="{0D108BD9-81ED-4DB2-BD59-A6C34878D82A}">
                    <a16:rowId xmlns:a16="http://schemas.microsoft.com/office/drawing/2014/main" val="465405612"/>
                  </a:ext>
                </a:extLst>
              </a:tr>
              <a:tr h="258709">
                <a:tc>
                  <a:txBody>
                    <a:bodyPr/>
                    <a:lstStyle/>
                    <a:p>
                      <a:pPr algn="ctr"/>
                      <a:r>
                        <a:rPr lang="en-US" dirty="0"/>
                        <a:t>75%</a:t>
                      </a:r>
                    </a:p>
                  </a:txBody>
                  <a:tcPr anchor="ctr"/>
                </a:tc>
                <a:tc>
                  <a:txBody>
                    <a:bodyPr/>
                    <a:lstStyle/>
                    <a:p>
                      <a:pPr algn="ctr"/>
                      <a:r>
                        <a:rPr lang="en-US">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extLst>
                  <a:ext uri="{0D108BD9-81ED-4DB2-BD59-A6C34878D82A}">
                    <a16:rowId xmlns:a16="http://schemas.microsoft.com/office/drawing/2014/main" val="2819466529"/>
                  </a:ext>
                </a:extLst>
              </a:tr>
              <a:tr h="227485">
                <a:tc>
                  <a:txBody>
                    <a:bodyPr/>
                    <a:lstStyle/>
                    <a:p>
                      <a:pPr algn="ctr"/>
                      <a:r>
                        <a:rPr lang="en-US" dirty="0"/>
                        <a:t>Max</a:t>
                      </a:r>
                    </a:p>
                  </a:txBody>
                  <a:tcPr anchor="ctr"/>
                </a:tc>
                <a:tc>
                  <a:txBody>
                    <a:bodyPr/>
                    <a:lstStyle/>
                    <a:p>
                      <a:pPr algn="ctr"/>
                      <a:r>
                        <a:rPr lang="en-US">
                          <a:effectLst/>
                        </a:rPr>
                        <a:t>3.000000</a:t>
                      </a:r>
                    </a:p>
                  </a:txBody>
                  <a:tcPr anchor="ctr"/>
                </a:tc>
                <a:tc>
                  <a:txBody>
                    <a:bodyPr/>
                    <a:lstStyle/>
                    <a:p>
                      <a:pPr algn="ctr"/>
                      <a:r>
                        <a:rPr lang="en-US">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extLst>
                  <a:ext uri="{0D108BD9-81ED-4DB2-BD59-A6C34878D82A}">
                    <a16:rowId xmlns:a16="http://schemas.microsoft.com/office/drawing/2014/main" val="724584224"/>
                  </a:ext>
                </a:extLst>
              </a:tr>
            </a:tbl>
          </a:graphicData>
        </a:graphic>
      </p:graphicFrame>
      <p:sp>
        <p:nvSpPr>
          <p:cNvPr id="5" name="TextBox 4">
            <a:extLst>
              <a:ext uri="{FF2B5EF4-FFF2-40B4-BE49-F238E27FC236}">
                <a16:creationId xmlns:a16="http://schemas.microsoft.com/office/drawing/2014/main" id="{686A4CF1-ADF7-2AB7-709D-47FCD6407A65}"/>
              </a:ext>
            </a:extLst>
          </p:cNvPr>
          <p:cNvSpPr txBox="1"/>
          <p:nvPr/>
        </p:nvSpPr>
        <p:spPr>
          <a:xfrm>
            <a:off x="735980" y="624468"/>
            <a:ext cx="4795025" cy="523220"/>
          </a:xfrm>
          <a:prstGeom prst="rect">
            <a:avLst/>
          </a:prstGeom>
          <a:noFill/>
        </p:spPr>
        <p:txBody>
          <a:bodyPr wrap="square" rtlCol="0">
            <a:spAutoFit/>
          </a:bodyPr>
          <a:lstStyle/>
          <a:p>
            <a:r>
              <a:rPr lang="en-US" sz="2800" b="1" u="sng" dirty="0"/>
              <a:t>2- Urgency Group:- </a:t>
            </a:r>
          </a:p>
        </p:txBody>
      </p:sp>
    </p:spTree>
    <p:extLst>
      <p:ext uri="{BB962C8B-B14F-4D97-AF65-F5344CB8AC3E}">
        <p14:creationId xmlns:p14="http://schemas.microsoft.com/office/powerpoint/2010/main" val="4239606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55E2EF3-AA8C-8899-3590-086132FF4CEE}"/>
              </a:ext>
            </a:extLst>
          </p:cNvPr>
          <p:cNvGraphicFramePr>
            <a:graphicFrameLocks noGrp="1"/>
          </p:cNvGraphicFramePr>
          <p:nvPr>
            <p:extLst>
              <p:ext uri="{D42A27DB-BD31-4B8C-83A1-F6EECF244321}">
                <p14:modId xmlns:p14="http://schemas.microsoft.com/office/powerpoint/2010/main" val="477035955"/>
              </p:ext>
            </p:extLst>
          </p:nvPr>
        </p:nvGraphicFramePr>
        <p:xfrm>
          <a:off x="268252" y="2157498"/>
          <a:ext cx="11575917" cy="3291840"/>
        </p:xfrm>
        <a:graphic>
          <a:graphicData uri="http://schemas.openxmlformats.org/drawingml/2006/table">
            <a:tbl>
              <a:tblPr firstRow="1" bandRow="1">
                <a:tableStyleId>{5C22544A-7EE6-4342-B048-85BDC9FD1C3A}</a:tableStyleId>
              </a:tblPr>
              <a:tblGrid>
                <a:gridCol w="882127">
                  <a:extLst>
                    <a:ext uri="{9D8B030D-6E8A-4147-A177-3AD203B41FA5}">
                      <a16:colId xmlns:a16="http://schemas.microsoft.com/office/drawing/2014/main" val="2226007021"/>
                    </a:ext>
                  </a:extLst>
                </a:gridCol>
                <a:gridCol w="2496463">
                  <a:extLst>
                    <a:ext uri="{9D8B030D-6E8A-4147-A177-3AD203B41FA5}">
                      <a16:colId xmlns:a16="http://schemas.microsoft.com/office/drawing/2014/main" val="2121428801"/>
                    </a:ext>
                  </a:extLst>
                </a:gridCol>
                <a:gridCol w="3000695">
                  <a:extLst>
                    <a:ext uri="{9D8B030D-6E8A-4147-A177-3AD203B41FA5}">
                      <a16:colId xmlns:a16="http://schemas.microsoft.com/office/drawing/2014/main" val="322608883"/>
                    </a:ext>
                  </a:extLst>
                </a:gridCol>
                <a:gridCol w="2679343">
                  <a:extLst>
                    <a:ext uri="{9D8B030D-6E8A-4147-A177-3AD203B41FA5}">
                      <a16:colId xmlns:a16="http://schemas.microsoft.com/office/drawing/2014/main" val="2403420743"/>
                    </a:ext>
                  </a:extLst>
                </a:gridCol>
                <a:gridCol w="2517289">
                  <a:extLst>
                    <a:ext uri="{9D8B030D-6E8A-4147-A177-3AD203B41FA5}">
                      <a16:colId xmlns:a16="http://schemas.microsoft.com/office/drawing/2014/main" val="1542125562"/>
                    </a:ext>
                  </a:extLst>
                </a:gridCol>
              </a:tblGrid>
              <a:tr h="0">
                <a:tc>
                  <a:txBody>
                    <a:bodyPr/>
                    <a:lstStyle/>
                    <a:p>
                      <a:pPr algn="ctr"/>
                      <a:endParaRPr lang="en-US" dirty="0"/>
                    </a:p>
                  </a:txBody>
                  <a:tcPr/>
                </a:tc>
                <a:tc>
                  <a:txBody>
                    <a:bodyPr/>
                    <a:lstStyle/>
                    <a:p>
                      <a:pPr algn="ctr"/>
                      <a:r>
                        <a:rPr lang="en-US" b="1">
                          <a:effectLst/>
                        </a:rPr>
                        <a:t>Intent_FavorableOffer</a:t>
                      </a:r>
                    </a:p>
                  </a:txBody>
                  <a:tcPr anchor="ctr"/>
                </a:tc>
                <a:tc>
                  <a:txBody>
                    <a:bodyPr/>
                    <a:lstStyle/>
                    <a:p>
                      <a:pPr algn="ctr"/>
                      <a:r>
                        <a:rPr lang="en-US" b="1">
                          <a:effectLst/>
                        </a:rPr>
                        <a:t>Intent_MissingOutWillingness</a:t>
                      </a:r>
                    </a:p>
                  </a:txBody>
                  <a:tcPr anchor="ctr"/>
                </a:tc>
                <a:tc>
                  <a:txBody>
                    <a:bodyPr/>
                    <a:lstStyle/>
                    <a:p>
                      <a:pPr algn="ctr"/>
                      <a:r>
                        <a:rPr lang="en-US" b="1">
                          <a:effectLst/>
                        </a:rPr>
                        <a:t>Intent_BookingWillingness</a:t>
                      </a:r>
                    </a:p>
                  </a:txBody>
                  <a:tcPr anchor="ctr"/>
                </a:tc>
                <a:tc>
                  <a:txBody>
                    <a:bodyPr/>
                    <a:lstStyle/>
                    <a:p>
                      <a:pPr algn="ctr"/>
                      <a:r>
                        <a:rPr lang="en-US" b="1" dirty="0" err="1">
                          <a:effectLst/>
                        </a:rPr>
                        <a:t>Intent_ScarcityDriven</a:t>
                      </a:r>
                      <a:endParaRPr lang="en-US" b="1" dirty="0">
                        <a:effectLst/>
                      </a:endParaRPr>
                    </a:p>
                  </a:txBody>
                  <a:tcPr anchor="ctr"/>
                </a:tc>
                <a:extLst>
                  <a:ext uri="{0D108BD9-81ED-4DB2-BD59-A6C34878D82A}">
                    <a16:rowId xmlns:a16="http://schemas.microsoft.com/office/drawing/2014/main" val="340479363"/>
                  </a:ext>
                </a:extLst>
              </a:tr>
              <a:tr h="278781">
                <a:tc>
                  <a:txBody>
                    <a:bodyPr/>
                    <a:lstStyle/>
                    <a:p>
                      <a:pPr algn="ctr"/>
                      <a:r>
                        <a:rPr lang="en-US" dirty="0"/>
                        <a:t>Count</a:t>
                      </a:r>
                    </a:p>
                  </a:txBody>
                  <a:tcPr anchor="ctr"/>
                </a:tc>
                <a:tc>
                  <a:txBody>
                    <a:bodyPr/>
                    <a:lstStyle/>
                    <a:p>
                      <a:pPr algn="ctr"/>
                      <a:r>
                        <a:rPr lang="en-US" dirty="0">
                          <a:effectLst/>
                        </a:rPr>
                        <a:t>240.000000</a:t>
                      </a:r>
                    </a:p>
                  </a:txBody>
                  <a:tcPr anchor="ctr"/>
                </a:tc>
                <a:tc>
                  <a:txBody>
                    <a:bodyPr/>
                    <a:lstStyle/>
                    <a:p>
                      <a:pPr algn="ctr"/>
                      <a:r>
                        <a:rPr lang="en-US">
                          <a:effectLst/>
                        </a:rPr>
                        <a:t>240.000000</a:t>
                      </a:r>
                    </a:p>
                  </a:txBody>
                  <a:tcPr anchor="ctr"/>
                </a:tc>
                <a:tc>
                  <a:txBody>
                    <a:bodyPr/>
                    <a:lstStyle/>
                    <a:p>
                      <a:pPr algn="ctr"/>
                      <a:r>
                        <a:rPr lang="en-US" dirty="0">
                          <a:effectLst/>
                        </a:rPr>
                        <a:t>240.000000</a:t>
                      </a:r>
                    </a:p>
                  </a:txBody>
                  <a:tcPr anchor="ctr"/>
                </a:tc>
                <a:tc>
                  <a:txBody>
                    <a:bodyPr/>
                    <a:lstStyle/>
                    <a:p>
                      <a:pPr algn="ctr"/>
                      <a:r>
                        <a:rPr lang="en-US" dirty="0">
                          <a:effectLst/>
                        </a:rPr>
                        <a:t>240.000000</a:t>
                      </a:r>
                    </a:p>
                  </a:txBody>
                  <a:tcPr anchor="ctr"/>
                </a:tc>
                <a:extLst>
                  <a:ext uri="{0D108BD9-81ED-4DB2-BD59-A6C34878D82A}">
                    <a16:rowId xmlns:a16="http://schemas.microsoft.com/office/drawing/2014/main" val="246130586"/>
                  </a:ext>
                </a:extLst>
              </a:tr>
              <a:tr h="347918">
                <a:tc>
                  <a:txBody>
                    <a:bodyPr/>
                    <a:lstStyle/>
                    <a:p>
                      <a:pPr algn="ctr"/>
                      <a:r>
                        <a:rPr lang="en-US" dirty="0"/>
                        <a:t>Mean</a:t>
                      </a:r>
                    </a:p>
                  </a:txBody>
                  <a:tcPr anchor="ctr"/>
                </a:tc>
                <a:tc>
                  <a:txBody>
                    <a:bodyPr/>
                    <a:lstStyle/>
                    <a:p>
                      <a:pPr algn="ctr"/>
                      <a:r>
                        <a:rPr lang="en-US">
                          <a:effectLst/>
                        </a:rPr>
                        <a:t>2.983333</a:t>
                      </a:r>
                    </a:p>
                  </a:txBody>
                  <a:tcPr anchor="ctr"/>
                </a:tc>
                <a:tc>
                  <a:txBody>
                    <a:bodyPr/>
                    <a:lstStyle/>
                    <a:p>
                      <a:pPr algn="ctr"/>
                      <a:r>
                        <a:rPr lang="en-US">
                          <a:effectLst/>
                        </a:rPr>
                        <a:t>3.033333</a:t>
                      </a:r>
                    </a:p>
                  </a:txBody>
                  <a:tcPr anchor="ctr"/>
                </a:tc>
                <a:tc>
                  <a:txBody>
                    <a:bodyPr/>
                    <a:lstStyle/>
                    <a:p>
                      <a:pPr algn="ctr"/>
                      <a:r>
                        <a:rPr lang="en-US">
                          <a:effectLst/>
                        </a:rPr>
                        <a:t>3.020833</a:t>
                      </a:r>
                    </a:p>
                  </a:txBody>
                  <a:tcPr anchor="ctr"/>
                </a:tc>
                <a:tc>
                  <a:txBody>
                    <a:bodyPr/>
                    <a:lstStyle/>
                    <a:p>
                      <a:pPr algn="ctr"/>
                      <a:r>
                        <a:rPr lang="en-US" dirty="0">
                          <a:effectLst/>
                        </a:rPr>
                        <a:t>3.016667</a:t>
                      </a:r>
                    </a:p>
                  </a:txBody>
                  <a:tcPr anchor="ctr"/>
                </a:tc>
                <a:extLst>
                  <a:ext uri="{0D108BD9-81ED-4DB2-BD59-A6C34878D82A}">
                    <a16:rowId xmlns:a16="http://schemas.microsoft.com/office/drawing/2014/main" val="3882146426"/>
                  </a:ext>
                </a:extLst>
              </a:tr>
              <a:tr h="294393">
                <a:tc>
                  <a:txBody>
                    <a:bodyPr/>
                    <a:lstStyle/>
                    <a:p>
                      <a:pPr algn="ctr"/>
                      <a:r>
                        <a:rPr lang="en-US" dirty="0"/>
                        <a:t>Std</a:t>
                      </a:r>
                    </a:p>
                  </a:txBody>
                  <a:tcPr anchor="ctr"/>
                </a:tc>
                <a:tc>
                  <a:txBody>
                    <a:bodyPr/>
                    <a:lstStyle/>
                    <a:p>
                      <a:pPr algn="ctr"/>
                      <a:r>
                        <a:rPr lang="en-US">
                          <a:effectLst/>
                        </a:rPr>
                        <a:t>0.993564</a:t>
                      </a:r>
                    </a:p>
                  </a:txBody>
                  <a:tcPr anchor="ctr"/>
                </a:tc>
                <a:tc>
                  <a:txBody>
                    <a:bodyPr/>
                    <a:lstStyle/>
                    <a:p>
                      <a:pPr algn="ctr"/>
                      <a:r>
                        <a:rPr lang="en-US">
                          <a:effectLst/>
                        </a:rPr>
                        <a:t>0.993142</a:t>
                      </a:r>
                    </a:p>
                  </a:txBody>
                  <a:tcPr anchor="ctr"/>
                </a:tc>
                <a:tc>
                  <a:txBody>
                    <a:bodyPr/>
                    <a:lstStyle/>
                    <a:p>
                      <a:pPr algn="ctr"/>
                      <a:r>
                        <a:rPr lang="en-US">
                          <a:effectLst/>
                        </a:rPr>
                        <a:t>0.991377</a:t>
                      </a:r>
                    </a:p>
                  </a:txBody>
                  <a:tcPr anchor="ctr"/>
                </a:tc>
                <a:tc>
                  <a:txBody>
                    <a:bodyPr/>
                    <a:lstStyle/>
                    <a:p>
                      <a:pPr algn="ctr"/>
                      <a:r>
                        <a:rPr lang="en-US" dirty="0">
                          <a:effectLst/>
                        </a:rPr>
                        <a:t>1.001951</a:t>
                      </a:r>
                    </a:p>
                  </a:txBody>
                  <a:tcPr anchor="ctr"/>
                </a:tc>
                <a:extLst>
                  <a:ext uri="{0D108BD9-81ED-4DB2-BD59-A6C34878D82A}">
                    <a16:rowId xmlns:a16="http://schemas.microsoft.com/office/drawing/2014/main" val="3795404640"/>
                  </a:ext>
                </a:extLst>
              </a:tr>
              <a:tr h="182881">
                <a:tc>
                  <a:txBody>
                    <a:bodyPr/>
                    <a:lstStyle/>
                    <a:p>
                      <a:pPr algn="ctr"/>
                      <a:r>
                        <a:rPr lang="en-US" dirty="0"/>
                        <a:t>Min</a:t>
                      </a:r>
                    </a:p>
                  </a:txBody>
                  <a:tcPr anchor="ctr"/>
                </a:tc>
                <a:tc>
                  <a:txBody>
                    <a:bodyPr/>
                    <a:lstStyle/>
                    <a:p>
                      <a:pPr algn="ctr"/>
                      <a:r>
                        <a:rPr lang="en-US" dirty="0">
                          <a:effectLst/>
                        </a:rPr>
                        <a:t>1.000000</a:t>
                      </a:r>
                    </a:p>
                  </a:txBody>
                  <a:tcPr anchor="ctr"/>
                </a:tc>
                <a:tc>
                  <a:txBody>
                    <a:bodyPr/>
                    <a:lstStyle/>
                    <a:p>
                      <a:pPr algn="ctr"/>
                      <a:r>
                        <a:rPr lang="en-US" dirty="0">
                          <a:effectLst/>
                        </a:rPr>
                        <a:t>1.000000</a:t>
                      </a:r>
                    </a:p>
                  </a:txBody>
                  <a:tcPr anchor="ctr"/>
                </a:tc>
                <a:tc>
                  <a:txBody>
                    <a:bodyPr/>
                    <a:lstStyle/>
                    <a:p>
                      <a:pPr algn="ctr"/>
                      <a:r>
                        <a:rPr lang="en-US">
                          <a:effectLst/>
                        </a:rPr>
                        <a:t>1.000000</a:t>
                      </a:r>
                    </a:p>
                  </a:txBody>
                  <a:tcPr anchor="ctr"/>
                </a:tc>
                <a:tc>
                  <a:txBody>
                    <a:bodyPr/>
                    <a:lstStyle/>
                    <a:p>
                      <a:pPr algn="ctr"/>
                      <a:r>
                        <a:rPr lang="en-US" dirty="0">
                          <a:effectLst/>
                        </a:rPr>
                        <a:t>1.000000</a:t>
                      </a:r>
                    </a:p>
                  </a:txBody>
                  <a:tcPr anchor="ctr"/>
                </a:tc>
                <a:extLst>
                  <a:ext uri="{0D108BD9-81ED-4DB2-BD59-A6C34878D82A}">
                    <a16:rowId xmlns:a16="http://schemas.microsoft.com/office/drawing/2014/main" val="4278299067"/>
                  </a:ext>
                </a:extLst>
              </a:tr>
              <a:tr h="276551">
                <a:tc>
                  <a:txBody>
                    <a:bodyPr/>
                    <a:lstStyle/>
                    <a:p>
                      <a:pPr algn="ctr"/>
                      <a:r>
                        <a:rPr lang="en-US" dirty="0"/>
                        <a:t>25%</a:t>
                      </a:r>
                    </a:p>
                  </a:txBody>
                  <a:tcPr anchor="ctr"/>
                </a:tc>
                <a:tc>
                  <a:txBody>
                    <a:bodyPr/>
                    <a:lstStyle/>
                    <a:p>
                      <a:pPr algn="ctr"/>
                      <a:r>
                        <a:rPr lang="en-US" dirty="0">
                          <a:effectLst/>
                        </a:rPr>
                        <a:t>2.000000</a:t>
                      </a:r>
                    </a:p>
                  </a:txBody>
                  <a:tcPr anchor="ctr"/>
                </a:tc>
                <a:tc>
                  <a:txBody>
                    <a:bodyPr/>
                    <a:lstStyle/>
                    <a:p>
                      <a:pPr algn="ctr"/>
                      <a:r>
                        <a:rPr lang="en-US" dirty="0">
                          <a:effectLst/>
                        </a:rPr>
                        <a:t>2.000000</a:t>
                      </a:r>
                    </a:p>
                  </a:txBody>
                  <a:tcPr anchor="ctr"/>
                </a:tc>
                <a:tc>
                  <a:txBody>
                    <a:bodyPr/>
                    <a:lstStyle/>
                    <a:p>
                      <a:pPr algn="ctr"/>
                      <a:r>
                        <a:rPr lang="en-US">
                          <a:effectLst/>
                        </a:rPr>
                        <a:t>2.000000</a:t>
                      </a:r>
                    </a:p>
                  </a:txBody>
                  <a:tcPr anchor="ctr"/>
                </a:tc>
                <a:tc>
                  <a:txBody>
                    <a:bodyPr/>
                    <a:lstStyle/>
                    <a:p>
                      <a:pPr algn="ctr"/>
                      <a:r>
                        <a:rPr lang="en-US" dirty="0">
                          <a:effectLst/>
                        </a:rPr>
                        <a:t>2.000000</a:t>
                      </a:r>
                    </a:p>
                  </a:txBody>
                  <a:tcPr anchor="ctr"/>
                </a:tc>
                <a:extLst>
                  <a:ext uri="{0D108BD9-81ED-4DB2-BD59-A6C34878D82A}">
                    <a16:rowId xmlns:a16="http://schemas.microsoft.com/office/drawing/2014/main" val="2031106518"/>
                  </a:ext>
                </a:extLst>
              </a:tr>
              <a:tr h="289932">
                <a:tc>
                  <a:txBody>
                    <a:bodyPr/>
                    <a:lstStyle/>
                    <a:p>
                      <a:pPr algn="ctr"/>
                      <a:r>
                        <a:rPr lang="en-US" dirty="0"/>
                        <a:t>50%</a:t>
                      </a:r>
                    </a:p>
                  </a:txBody>
                  <a:tcPr anchor="ctr"/>
                </a:tc>
                <a:tc>
                  <a:txBody>
                    <a:bodyPr/>
                    <a:lstStyle/>
                    <a:p>
                      <a:pPr algn="ctr"/>
                      <a:r>
                        <a:rPr lang="en-US">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extLst>
                  <a:ext uri="{0D108BD9-81ED-4DB2-BD59-A6C34878D82A}">
                    <a16:rowId xmlns:a16="http://schemas.microsoft.com/office/drawing/2014/main" val="465405612"/>
                  </a:ext>
                </a:extLst>
              </a:tr>
              <a:tr h="258709">
                <a:tc>
                  <a:txBody>
                    <a:bodyPr/>
                    <a:lstStyle/>
                    <a:p>
                      <a:pPr algn="ctr"/>
                      <a:r>
                        <a:rPr lang="en-US" dirty="0"/>
                        <a:t>75%</a:t>
                      </a:r>
                    </a:p>
                  </a:txBody>
                  <a:tcPr anchor="ctr"/>
                </a:tc>
                <a:tc>
                  <a:txBody>
                    <a:bodyPr/>
                    <a:lstStyle/>
                    <a:p>
                      <a:pPr algn="ctr"/>
                      <a:r>
                        <a:rPr lang="en-US">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extLst>
                  <a:ext uri="{0D108BD9-81ED-4DB2-BD59-A6C34878D82A}">
                    <a16:rowId xmlns:a16="http://schemas.microsoft.com/office/drawing/2014/main" val="2819466529"/>
                  </a:ext>
                </a:extLst>
              </a:tr>
              <a:tr h="227485">
                <a:tc>
                  <a:txBody>
                    <a:bodyPr/>
                    <a:lstStyle/>
                    <a:p>
                      <a:pPr algn="ctr"/>
                      <a:r>
                        <a:rPr lang="en-US" dirty="0"/>
                        <a:t>Max</a:t>
                      </a:r>
                    </a:p>
                  </a:txBody>
                  <a:tcPr anchor="ctr"/>
                </a:tc>
                <a:tc>
                  <a:txBody>
                    <a:bodyPr/>
                    <a:lstStyle/>
                    <a:p>
                      <a:pPr algn="ctr"/>
                      <a:r>
                        <a:rPr lang="en-US">
                          <a:effectLst/>
                        </a:rPr>
                        <a:t>3.000000</a:t>
                      </a:r>
                    </a:p>
                  </a:txBody>
                  <a:tcPr anchor="ctr"/>
                </a:tc>
                <a:tc>
                  <a:txBody>
                    <a:bodyPr/>
                    <a:lstStyle/>
                    <a:p>
                      <a:pPr algn="ctr"/>
                      <a:r>
                        <a:rPr lang="en-US">
                          <a:effectLst/>
                        </a:rPr>
                        <a:t>3.000000</a:t>
                      </a:r>
                    </a:p>
                  </a:txBody>
                  <a:tcPr anchor="ctr"/>
                </a:tc>
                <a:tc>
                  <a:txBody>
                    <a:bodyPr/>
                    <a:lstStyle/>
                    <a:p>
                      <a:pPr algn="ctr"/>
                      <a:r>
                        <a:rPr lang="en-US" dirty="0">
                          <a:effectLst/>
                        </a:rPr>
                        <a:t>3.000000</a:t>
                      </a:r>
                    </a:p>
                  </a:txBody>
                  <a:tcPr anchor="ctr"/>
                </a:tc>
                <a:tc>
                  <a:txBody>
                    <a:bodyPr/>
                    <a:lstStyle/>
                    <a:p>
                      <a:pPr algn="ctr"/>
                      <a:r>
                        <a:rPr lang="en-US" dirty="0">
                          <a:effectLst/>
                        </a:rPr>
                        <a:t>3.000000</a:t>
                      </a:r>
                    </a:p>
                  </a:txBody>
                  <a:tcPr anchor="ctr"/>
                </a:tc>
                <a:extLst>
                  <a:ext uri="{0D108BD9-81ED-4DB2-BD59-A6C34878D82A}">
                    <a16:rowId xmlns:a16="http://schemas.microsoft.com/office/drawing/2014/main" val="724584224"/>
                  </a:ext>
                </a:extLst>
              </a:tr>
            </a:tbl>
          </a:graphicData>
        </a:graphic>
      </p:graphicFrame>
      <p:sp>
        <p:nvSpPr>
          <p:cNvPr id="5" name="TextBox 4">
            <a:extLst>
              <a:ext uri="{FF2B5EF4-FFF2-40B4-BE49-F238E27FC236}">
                <a16:creationId xmlns:a16="http://schemas.microsoft.com/office/drawing/2014/main" id="{AE9A76C8-F184-7B12-E280-F0CD9599AB83}"/>
              </a:ext>
            </a:extLst>
          </p:cNvPr>
          <p:cNvSpPr txBox="1"/>
          <p:nvPr/>
        </p:nvSpPr>
        <p:spPr>
          <a:xfrm>
            <a:off x="735980" y="624468"/>
            <a:ext cx="4795025" cy="523220"/>
          </a:xfrm>
          <a:prstGeom prst="rect">
            <a:avLst/>
          </a:prstGeom>
          <a:noFill/>
        </p:spPr>
        <p:txBody>
          <a:bodyPr wrap="square" rtlCol="0">
            <a:spAutoFit/>
          </a:bodyPr>
          <a:lstStyle/>
          <a:p>
            <a:r>
              <a:rPr lang="en-US" sz="2800" b="1" u="sng"/>
              <a:t>3- </a:t>
            </a:r>
            <a:r>
              <a:rPr lang="en-US" sz="2800" b="1" u="sng" err="1"/>
              <a:t>Inent</a:t>
            </a:r>
            <a:r>
              <a:rPr lang="en-US" sz="2800" b="1" u="sng"/>
              <a:t> Group:- </a:t>
            </a:r>
          </a:p>
        </p:txBody>
      </p:sp>
    </p:spTree>
    <p:extLst>
      <p:ext uri="{BB962C8B-B14F-4D97-AF65-F5344CB8AC3E}">
        <p14:creationId xmlns:p14="http://schemas.microsoft.com/office/powerpoint/2010/main" val="3437940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1F246-BE08-08E1-903C-0F0194347E0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5CD9F97-4F71-F8DE-368C-7DF90DC09DA4}"/>
              </a:ext>
            </a:extLst>
          </p:cNvPr>
          <p:cNvGraphicFramePr>
            <a:graphicFrameLocks noGrp="1"/>
          </p:cNvGraphicFramePr>
          <p:nvPr>
            <p:extLst>
              <p:ext uri="{D42A27DB-BD31-4B8C-83A1-F6EECF244321}">
                <p14:modId xmlns:p14="http://schemas.microsoft.com/office/powerpoint/2010/main" val="1377425362"/>
              </p:ext>
            </p:extLst>
          </p:nvPr>
        </p:nvGraphicFramePr>
        <p:xfrm>
          <a:off x="1483525" y="2889830"/>
          <a:ext cx="8508670" cy="1737360"/>
        </p:xfrm>
        <a:graphic>
          <a:graphicData uri="http://schemas.openxmlformats.org/drawingml/2006/table">
            <a:tbl>
              <a:tblPr firstRow="1" bandRow="1">
                <a:tableStyleId>{5C22544A-7EE6-4342-B048-85BDC9FD1C3A}</a:tableStyleId>
              </a:tblPr>
              <a:tblGrid>
                <a:gridCol w="1894688">
                  <a:extLst>
                    <a:ext uri="{9D8B030D-6E8A-4147-A177-3AD203B41FA5}">
                      <a16:colId xmlns:a16="http://schemas.microsoft.com/office/drawing/2014/main" val="2226007021"/>
                    </a:ext>
                  </a:extLst>
                </a:gridCol>
                <a:gridCol w="1748732">
                  <a:extLst>
                    <a:ext uri="{9D8B030D-6E8A-4147-A177-3AD203B41FA5}">
                      <a16:colId xmlns:a16="http://schemas.microsoft.com/office/drawing/2014/main" val="2121428801"/>
                    </a:ext>
                  </a:extLst>
                </a:gridCol>
                <a:gridCol w="1702502">
                  <a:extLst>
                    <a:ext uri="{9D8B030D-6E8A-4147-A177-3AD203B41FA5}">
                      <a16:colId xmlns:a16="http://schemas.microsoft.com/office/drawing/2014/main" val="322608883"/>
                    </a:ext>
                  </a:extLst>
                </a:gridCol>
                <a:gridCol w="3162748">
                  <a:extLst>
                    <a:ext uri="{9D8B030D-6E8A-4147-A177-3AD203B41FA5}">
                      <a16:colId xmlns:a16="http://schemas.microsoft.com/office/drawing/2014/main" val="2403420743"/>
                    </a:ext>
                  </a:extLst>
                </a:gridCol>
              </a:tblGrid>
              <a:tr h="0">
                <a:tc>
                  <a:txBody>
                    <a:bodyPr/>
                    <a:lstStyle/>
                    <a:p>
                      <a:pPr algn="ctr"/>
                      <a:endParaRPr lang="en-US" sz="1800" b="0" dirty="0"/>
                    </a:p>
                  </a:txBody>
                  <a:tcPr anchor="ctr"/>
                </a:tc>
                <a:tc>
                  <a:txBody>
                    <a:bodyPr/>
                    <a:lstStyle/>
                    <a:p>
                      <a:pPr lvl="0" algn="ctr">
                        <a:buNone/>
                      </a:pPr>
                      <a:endParaRPr lang="en-US" sz="1800" b="0" i="0" u="none" strike="noStrike" noProof="0" dirty="0">
                        <a:solidFill>
                          <a:srgbClr val="000000"/>
                        </a:solidFill>
                        <a:effectLst/>
                        <a:latin typeface="Arial"/>
                      </a:endParaRPr>
                    </a:p>
                    <a:p>
                      <a:pPr lvl="0" algn="ctr">
                        <a:buNone/>
                      </a:pPr>
                      <a:r>
                        <a:rPr lang="en-US" sz="1800" b="0" i="0" u="none" strike="noStrike" noProof="0" dirty="0" err="1">
                          <a:solidFill>
                            <a:srgbClr val="000000"/>
                          </a:solidFill>
                          <a:effectLst/>
                          <a:latin typeface="Arial"/>
                        </a:rPr>
                        <a:t>Scarcity_score</a:t>
                      </a:r>
                      <a:endParaRPr lang="en-US" sz="1800" b="0" i="0" u="none" strike="noStrike" noProof="0" dirty="0">
                        <a:solidFill>
                          <a:srgbClr val="000000"/>
                        </a:solidFill>
                        <a:effectLst/>
                        <a:latin typeface="Arial"/>
                      </a:endParaRPr>
                    </a:p>
                  </a:txBody>
                  <a:tcPr anchor="ctr"/>
                </a:tc>
                <a:tc>
                  <a:txBody>
                    <a:bodyPr/>
                    <a:lstStyle/>
                    <a:p>
                      <a:pPr lvl="0" algn="ctr">
                        <a:buNone/>
                      </a:pPr>
                      <a:r>
                        <a:rPr lang="en-US" sz="1800" b="0" i="0" u="none" strike="noStrike" noProof="0" dirty="0" err="1">
                          <a:solidFill>
                            <a:srgbClr val="000000"/>
                          </a:solidFill>
                          <a:effectLst/>
                          <a:latin typeface="Bembo"/>
                        </a:rPr>
                        <a:t>Urgency_score</a:t>
                      </a:r>
                      <a:endParaRPr lang="en-US" sz="1800" b="0" i="0" u="none" strike="noStrike" noProof="0" dirty="0">
                        <a:solidFill>
                          <a:srgbClr val="000000"/>
                        </a:solidFill>
                        <a:effectLst/>
                        <a:latin typeface="Bembo"/>
                      </a:endParaRPr>
                    </a:p>
                  </a:txBody>
                  <a:tcPr anchor="ctr"/>
                </a:tc>
                <a:tc>
                  <a:txBody>
                    <a:bodyPr/>
                    <a:lstStyle/>
                    <a:p>
                      <a:pPr lvl="0" algn="ctr">
                        <a:buNone/>
                      </a:pPr>
                      <a:r>
                        <a:rPr lang="en-US" sz="1800" b="0" i="0" u="none" strike="noStrike" noProof="0" dirty="0" err="1">
                          <a:solidFill>
                            <a:srgbClr val="000000"/>
                          </a:solidFill>
                          <a:effectLst/>
                          <a:latin typeface="Bembo"/>
                        </a:rPr>
                        <a:t>Intention_score</a:t>
                      </a:r>
                      <a:endParaRPr lang="en-US" sz="1800" b="0" i="0" u="none" strike="noStrike" noProof="0" dirty="0">
                        <a:solidFill>
                          <a:srgbClr val="000000"/>
                        </a:solidFill>
                        <a:effectLst/>
                        <a:latin typeface="Bembo"/>
                      </a:endParaRPr>
                    </a:p>
                  </a:txBody>
                  <a:tcPr anchor="ctr"/>
                </a:tc>
                <a:extLst>
                  <a:ext uri="{0D108BD9-81ED-4DB2-BD59-A6C34878D82A}">
                    <a16:rowId xmlns:a16="http://schemas.microsoft.com/office/drawing/2014/main" val="340479363"/>
                  </a:ext>
                </a:extLst>
              </a:tr>
              <a:tr h="278781">
                <a:tc>
                  <a:txBody>
                    <a:bodyPr/>
                    <a:lstStyle/>
                    <a:p>
                      <a:pPr lvl="0" algn="ctr">
                        <a:buNone/>
                      </a:pPr>
                      <a:r>
                        <a:rPr lang="en-US" sz="1800" b="0" i="0" u="none" strike="noStrike" baseline="0" noProof="0" dirty="0" err="1">
                          <a:solidFill>
                            <a:srgbClr val="000000"/>
                          </a:solidFill>
                          <a:latin typeface="Arial"/>
                        </a:rPr>
                        <a:t>Scarcity_score</a:t>
                      </a:r>
                      <a:endParaRPr lang="en-US" sz="1800" b="0" dirty="0"/>
                    </a:p>
                  </a:txBody>
                  <a:tcPr anchor="ctr"/>
                </a:tc>
                <a:tc>
                  <a:txBody>
                    <a:bodyPr/>
                    <a:lstStyle/>
                    <a:p>
                      <a:pPr lvl="0" algn="ctr">
                        <a:buNone/>
                      </a:pPr>
                      <a:r>
                        <a:rPr lang="en-US" sz="1800" b="0" i="0" u="none" strike="noStrike" baseline="0" noProof="0" dirty="0">
                          <a:solidFill>
                            <a:srgbClr val="000000"/>
                          </a:solidFill>
                          <a:effectLst/>
                          <a:latin typeface="Bembo"/>
                        </a:rPr>
                        <a:t>1.000000</a:t>
                      </a:r>
                      <a:endParaRPr lang="en-US" sz="1800" b="0" dirty="0"/>
                    </a:p>
                  </a:txBody>
                  <a:tcPr anchor="ctr"/>
                </a:tc>
                <a:tc>
                  <a:txBody>
                    <a:bodyPr/>
                    <a:lstStyle/>
                    <a:p>
                      <a:pPr lvl="0" algn="ctr">
                        <a:buNone/>
                      </a:pPr>
                      <a:r>
                        <a:rPr lang="en-US" sz="1800" b="0" i="0" u="none" strike="noStrike" baseline="0" noProof="0" dirty="0">
                          <a:solidFill>
                            <a:srgbClr val="000000"/>
                          </a:solidFill>
                          <a:effectLst/>
                          <a:latin typeface="Bembo"/>
                        </a:rPr>
                        <a:t>0.459766</a:t>
                      </a:r>
                      <a:endParaRPr lang="en-US" sz="1800" b="0" dirty="0"/>
                    </a:p>
                  </a:txBody>
                  <a:tcPr anchor="ctr"/>
                </a:tc>
                <a:tc>
                  <a:txBody>
                    <a:bodyPr/>
                    <a:lstStyle/>
                    <a:p>
                      <a:pPr lvl="0" algn="ctr">
                        <a:buNone/>
                      </a:pPr>
                      <a:r>
                        <a:rPr lang="en-US" sz="1800" b="0" i="0" u="none" strike="noStrike" baseline="0" noProof="0" dirty="0">
                          <a:solidFill>
                            <a:srgbClr val="000000"/>
                          </a:solidFill>
                          <a:effectLst/>
                          <a:latin typeface="Bembo"/>
                        </a:rPr>
                        <a:t>0.528503</a:t>
                      </a:r>
                      <a:endParaRPr lang="en-US" sz="1800" b="0" dirty="0"/>
                    </a:p>
                  </a:txBody>
                  <a:tcPr anchor="ctr"/>
                </a:tc>
                <a:extLst>
                  <a:ext uri="{0D108BD9-81ED-4DB2-BD59-A6C34878D82A}">
                    <a16:rowId xmlns:a16="http://schemas.microsoft.com/office/drawing/2014/main" val="246130586"/>
                  </a:ext>
                </a:extLst>
              </a:tr>
              <a:tr h="347918">
                <a:tc>
                  <a:txBody>
                    <a:bodyPr/>
                    <a:lstStyle/>
                    <a:p>
                      <a:pPr lvl="0" algn="ctr">
                        <a:buNone/>
                      </a:pPr>
                      <a:r>
                        <a:rPr lang="en-US" sz="1800" b="0" i="0" u="none" strike="noStrike" baseline="0" noProof="0">
                          <a:solidFill>
                            <a:srgbClr val="000000"/>
                          </a:solidFill>
                          <a:latin typeface="Bembo"/>
                        </a:rPr>
                        <a:t>Urgency_score</a:t>
                      </a:r>
                      <a:endParaRPr lang="en-US" sz="1800" b="0" err="1"/>
                    </a:p>
                  </a:txBody>
                  <a:tcPr anchor="ctr"/>
                </a:tc>
                <a:tc>
                  <a:txBody>
                    <a:bodyPr/>
                    <a:lstStyle/>
                    <a:p>
                      <a:pPr lvl="0" algn="ctr">
                        <a:buNone/>
                      </a:pPr>
                      <a:r>
                        <a:rPr lang="en-US" sz="1800" b="0" i="0" u="none" strike="noStrike" baseline="0" noProof="0" dirty="0">
                          <a:solidFill>
                            <a:srgbClr val="000000"/>
                          </a:solidFill>
                          <a:effectLst/>
                          <a:latin typeface="Bembo"/>
                        </a:rPr>
                        <a:t>0.459766</a:t>
                      </a:r>
                    </a:p>
                  </a:txBody>
                  <a:tcPr anchor="ctr"/>
                </a:tc>
                <a:tc>
                  <a:txBody>
                    <a:bodyPr/>
                    <a:lstStyle/>
                    <a:p>
                      <a:pPr lvl="0" algn="ctr">
                        <a:buNone/>
                      </a:pPr>
                      <a:r>
                        <a:rPr lang="en-US" sz="1800" b="0" i="0" u="none" strike="noStrike" baseline="0" noProof="0" dirty="0">
                          <a:solidFill>
                            <a:srgbClr val="000000"/>
                          </a:solidFill>
                          <a:effectLst/>
                          <a:latin typeface="Bembo"/>
                        </a:rPr>
                        <a:t>1.000000</a:t>
                      </a:r>
                      <a:endParaRPr lang="en-US" sz="1800" b="0" dirty="0"/>
                    </a:p>
                  </a:txBody>
                  <a:tcPr anchor="ctr"/>
                </a:tc>
                <a:tc>
                  <a:txBody>
                    <a:bodyPr/>
                    <a:lstStyle/>
                    <a:p>
                      <a:pPr lvl="0" algn="ctr">
                        <a:buNone/>
                      </a:pPr>
                      <a:r>
                        <a:rPr lang="en-US" sz="1800" b="0" i="0" u="none" strike="noStrike" baseline="0" noProof="0" dirty="0">
                          <a:solidFill>
                            <a:srgbClr val="000000"/>
                          </a:solidFill>
                          <a:effectLst/>
                          <a:latin typeface="Bembo"/>
                        </a:rPr>
                        <a:t>0.671114</a:t>
                      </a:r>
                      <a:endParaRPr lang="en-US" sz="1800" b="0" dirty="0"/>
                    </a:p>
                  </a:txBody>
                  <a:tcPr anchor="ctr"/>
                </a:tc>
                <a:extLst>
                  <a:ext uri="{0D108BD9-81ED-4DB2-BD59-A6C34878D82A}">
                    <a16:rowId xmlns:a16="http://schemas.microsoft.com/office/drawing/2014/main" val="3882146426"/>
                  </a:ext>
                </a:extLst>
              </a:tr>
              <a:tr h="294393">
                <a:tc>
                  <a:txBody>
                    <a:bodyPr/>
                    <a:lstStyle/>
                    <a:p>
                      <a:pPr lvl="0" algn="ctr">
                        <a:buNone/>
                      </a:pPr>
                      <a:r>
                        <a:rPr lang="en-US" sz="1800" b="0" i="0" u="none" strike="noStrike" baseline="0" noProof="0" dirty="0" err="1">
                          <a:solidFill>
                            <a:srgbClr val="000000"/>
                          </a:solidFill>
                          <a:latin typeface="Bembo"/>
                        </a:rPr>
                        <a:t>Intention_score</a:t>
                      </a:r>
                      <a:endParaRPr lang="en-US" sz="1800" b="0" dirty="0"/>
                    </a:p>
                  </a:txBody>
                  <a:tcPr anchor="ctr"/>
                </a:tc>
                <a:tc>
                  <a:txBody>
                    <a:bodyPr/>
                    <a:lstStyle/>
                    <a:p>
                      <a:pPr lvl="0" algn="ctr">
                        <a:buNone/>
                      </a:pPr>
                      <a:r>
                        <a:rPr lang="en-US" sz="1800" b="0" i="0" u="none" strike="noStrike" baseline="0" noProof="0" dirty="0">
                          <a:solidFill>
                            <a:srgbClr val="000000"/>
                          </a:solidFill>
                          <a:effectLst/>
                          <a:latin typeface="Bembo"/>
                        </a:rPr>
                        <a:t>0.528503</a:t>
                      </a:r>
                      <a:endParaRPr lang="en-US" sz="1800" b="0" dirty="0"/>
                    </a:p>
                  </a:txBody>
                  <a:tcPr anchor="ctr"/>
                </a:tc>
                <a:tc>
                  <a:txBody>
                    <a:bodyPr/>
                    <a:lstStyle/>
                    <a:p>
                      <a:pPr lvl="0" algn="ctr">
                        <a:buNone/>
                      </a:pPr>
                      <a:r>
                        <a:rPr lang="en-US" sz="1800" b="0" i="0" u="none" strike="noStrike" noProof="0" dirty="0">
                          <a:solidFill>
                            <a:srgbClr val="000000"/>
                          </a:solidFill>
                          <a:effectLst/>
                          <a:latin typeface="Bembo"/>
                        </a:rPr>
                        <a:t>0.671114</a:t>
                      </a:r>
                    </a:p>
                  </a:txBody>
                  <a:tcPr anchor="ctr"/>
                </a:tc>
                <a:tc>
                  <a:txBody>
                    <a:bodyPr/>
                    <a:lstStyle/>
                    <a:p>
                      <a:pPr lvl="0" algn="ctr">
                        <a:buNone/>
                      </a:pPr>
                      <a:r>
                        <a:rPr lang="en-US" sz="1800" b="0" i="0" u="none" strike="noStrike" baseline="0" noProof="0" dirty="0">
                          <a:solidFill>
                            <a:srgbClr val="000000"/>
                          </a:solidFill>
                          <a:effectLst/>
                          <a:latin typeface="Bembo"/>
                        </a:rPr>
                        <a:t>1.000000</a:t>
                      </a:r>
                      <a:endParaRPr lang="en-US" sz="1800" b="0" dirty="0"/>
                    </a:p>
                  </a:txBody>
                  <a:tcPr anchor="ctr"/>
                </a:tc>
                <a:extLst>
                  <a:ext uri="{0D108BD9-81ED-4DB2-BD59-A6C34878D82A}">
                    <a16:rowId xmlns:a16="http://schemas.microsoft.com/office/drawing/2014/main" val="3795404640"/>
                  </a:ext>
                </a:extLst>
              </a:tr>
            </a:tbl>
          </a:graphicData>
        </a:graphic>
      </p:graphicFrame>
      <p:sp>
        <p:nvSpPr>
          <p:cNvPr id="3" name="Title 1">
            <a:extLst>
              <a:ext uri="{FF2B5EF4-FFF2-40B4-BE49-F238E27FC236}">
                <a16:creationId xmlns:a16="http://schemas.microsoft.com/office/drawing/2014/main" id="{D99896B2-5458-9D1E-ACE6-4E3B32D06DBE}"/>
              </a:ext>
            </a:extLst>
          </p:cNvPr>
          <p:cNvSpPr>
            <a:spLocks noGrp="1"/>
          </p:cNvSpPr>
          <p:nvPr>
            <p:ph type="title"/>
          </p:nvPr>
        </p:nvSpPr>
        <p:spPr>
          <a:xfrm>
            <a:off x="1194653" y="5752"/>
            <a:ext cx="9810604" cy="1216024"/>
          </a:xfrm>
        </p:spPr>
        <p:txBody>
          <a:bodyPr>
            <a:normAutofit/>
          </a:bodyPr>
          <a:lstStyle/>
          <a:p>
            <a:pPr algn="ctr"/>
            <a:r>
              <a:rPr lang="en-US" sz="2400" b="1">
                <a:ea typeface="Batang"/>
              </a:rPr>
              <a:t>Correlation</a:t>
            </a:r>
            <a:endParaRPr lang="en-US" sz="2400" b="1"/>
          </a:p>
        </p:txBody>
      </p:sp>
      <p:sp>
        <p:nvSpPr>
          <p:cNvPr id="6" name="TextBox 5">
            <a:extLst>
              <a:ext uri="{FF2B5EF4-FFF2-40B4-BE49-F238E27FC236}">
                <a16:creationId xmlns:a16="http://schemas.microsoft.com/office/drawing/2014/main" id="{CEC7ED12-E02A-10C7-C266-0F1CB3B168A0}"/>
              </a:ext>
            </a:extLst>
          </p:cNvPr>
          <p:cNvSpPr txBox="1"/>
          <p:nvPr/>
        </p:nvSpPr>
        <p:spPr>
          <a:xfrm>
            <a:off x="655320" y="1021080"/>
            <a:ext cx="1016508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Correlation analysis was conducted at two levels: </a:t>
            </a:r>
            <a:r>
              <a:rPr lang="en-US" b="1">
                <a:ea typeface="+mn-lt"/>
                <a:cs typeface="+mn-lt"/>
              </a:rPr>
              <a:t>group-level</a:t>
            </a:r>
            <a:r>
              <a:rPr lang="en-US">
                <a:ea typeface="+mn-lt"/>
                <a:cs typeface="+mn-lt"/>
              </a:rPr>
              <a:t> and </a:t>
            </a:r>
            <a:r>
              <a:rPr lang="en-US" b="1">
                <a:ea typeface="+mn-lt"/>
                <a:cs typeface="+mn-lt"/>
              </a:rPr>
              <a:t>item-level</a:t>
            </a:r>
            <a:r>
              <a:rPr lang="en-US">
                <a:ea typeface="+mn-lt"/>
                <a:cs typeface="+mn-lt"/>
              </a:rPr>
              <a:t>, to examine the relationships between the main constructs and individual survey items.</a:t>
            </a:r>
            <a:endParaRPr lang="en-US"/>
          </a:p>
          <a:p>
            <a:r>
              <a:rPr lang="en-US" b="1"/>
              <a:t>1. Group-Level Correlations</a:t>
            </a:r>
            <a:endParaRPr lang="en-US"/>
          </a:p>
          <a:p>
            <a:pPr marL="285750" indent="-285750">
              <a:buFont typeface="Arial"/>
              <a:buChar char="•"/>
            </a:pPr>
            <a:r>
              <a:rPr lang="en-US">
                <a:ea typeface="+mn-lt"/>
                <a:cs typeface="+mn-lt"/>
              </a:rPr>
              <a:t>The correlation between the dimension scores shows positive relationships among all three constructs:</a:t>
            </a:r>
            <a:endParaRPr lang="en-US"/>
          </a:p>
          <a:p>
            <a:pPr algn="l"/>
            <a:endParaRPr lang="en-US"/>
          </a:p>
        </p:txBody>
      </p:sp>
      <p:sp>
        <p:nvSpPr>
          <p:cNvPr id="7" name="TextBox 1">
            <a:extLst>
              <a:ext uri="{FF2B5EF4-FFF2-40B4-BE49-F238E27FC236}">
                <a16:creationId xmlns:a16="http://schemas.microsoft.com/office/drawing/2014/main" id="{65A41CE0-F3F4-AC25-68B3-DDC5EF2013C7}"/>
              </a:ext>
            </a:extLst>
          </p:cNvPr>
          <p:cNvSpPr txBox="1"/>
          <p:nvPr/>
        </p:nvSpPr>
        <p:spPr>
          <a:xfrm>
            <a:off x="658857" y="5309308"/>
            <a:ext cx="10104782" cy="147732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lvl="1" indent="-228600">
              <a:buFont typeface=""/>
              <a:buChar char="•"/>
            </a:pPr>
            <a:endParaRPr lang="en-US"/>
          </a:p>
          <a:p>
            <a:pPr marL="228600" indent="-228600">
              <a:buFont typeface=""/>
              <a:buChar char="•"/>
            </a:pPr>
            <a:r>
              <a:rPr lang="en-US"/>
              <a:t>These results indicate that higher perceptions of scarcity and urgency are associated with stronger purchase intentions.</a:t>
            </a:r>
          </a:p>
          <a:p>
            <a:pPr marL="228600" indent="-228600">
              <a:buFont typeface=""/>
              <a:buChar char="•"/>
            </a:pPr>
            <a:r>
              <a:rPr lang="en-US"/>
              <a:t>The strongest relationship is between Urgency and Purchase Intention, suggesting that time-sensitive marketing messages may have a greater influence on decision-making.</a:t>
            </a:r>
          </a:p>
        </p:txBody>
      </p:sp>
    </p:spTree>
    <p:extLst>
      <p:ext uri="{BB962C8B-B14F-4D97-AF65-F5344CB8AC3E}">
        <p14:creationId xmlns:p14="http://schemas.microsoft.com/office/powerpoint/2010/main" val="2030659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E1AA5-7DE2-F89B-5718-7168342F1DB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1CF1AA2-716A-815C-2A09-92FE94E65B52}"/>
              </a:ext>
            </a:extLst>
          </p:cNvPr>
          <p:cNvSpPr>
            <a:spLocks noGrp="1"/>
          </p:cNvSpPr>
          <p:nvPr>
            <p:ph type="title"/>
          </p:nvPr>
        </p:nvSpPr>
        <p:spPr>
          <a:xfrm>
            <a:off x="1194653" y="5752"/>
            <a:ext cx="9810604" cy="1216024"/>
          </a:xfrm>
        </p:spPr>
        <p:txBody>
          <a:bodyPr>
            <a:normAutofit/>
          </a:bodyPr>
          <a:lstStyle/>
          <a:p>
            <a:pPr algn="ctr"/>
            <a:r>
              <a:rPr lang="en-US" sz="2400" b="1">
                <a:ea typeface="Batang"/>
              </a:rPr>
              <a:t>Correlation</a:t>
            </a:r>
            <a:endParaRPr lang="en-US" sz="2400" b="1"/>
          </a:p>
        </p:txBody>
      </p:sp>
      <p:sp>
        <p:nvSpPr>
          <p:cNvPr id="6" name="TextBox 5">
            <a:extLst>
              <a:ext uri="{FF2B5EF4-FFF2-40B4-BE49-F238E27FC236}">
                <a16:creationId xmlns:a16="http://schemas.microsoft.com/office/drawing/2014/main" id="{27B0E3B9-0573-623F-665C-75C488A7AED1}"/>
              </a:ext>
            </a:extLst>
          </p:cNvPr>
          <p:cNvSpPr txBox="1"/>
          <p:nvPr/>
        </p:nvSpPr>
        <p:spPr>
          <a:xfrm>
            <a:off x="655320" y="1021080"/>
            <a:ext cx="1016508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2. Group-Level Correlations</a:t>
            </a:r>
          </a:p>
          <a:p>
            <a:endParaRPr lang="en-US"/>
          </a:p>
        </p:txBody>
      </p:sp>
      <p:graphicFrame>
        <p:nvGraphicFramePr>
          <p:cNvPr id="8" name="Table 7">
            <a:extLst>
              <a:ext uri="{FF2B5EF4-FFF2-40B4-BE49-F238E27FC236}">
                <a16:creationId xmlns:a16="http://schemas.microsoft.com/office/drawing/2014/main" id="{5376B41F-D7C2-904E-D828-3F2D4DAF2145}"/>
              </a:ext>
            </a:extLst>
          </p:cNvPr>
          <p:cNvGraphicFramePr>
            <a:graphicFrameLocks noGrp="1"/>
          </p:cNvGraphicFramePr>
          <p:nvPr>
            <p:extLst>
              <p:ext uri="{D42A27DB-BD31-4B8C-83A1-F6EECF244321}">
                <p14:modId xmlns:p14="http://schemas.microsoft.com/office/powerpoint/2010/main" val="3180150148"/>
              </p:ext>
            </p:extLst>
          </p:nvPr>
        </p:nvGraphicFramePr>
        <p:xfrm>
          <a:off x="1607580" y="1667411"/>
          <a:ext cx="8260559" cy="4023360"/>
        </p:xfrm>
        <a:graphic>
          <a:graphicData uri="http://schemas.openxmlformats.org/drawingml/2006/table">
            <a:tbl>
              <a:tblPr firstRow="1" bandRow="1">
                <a:tableStyleId>{5C22544A-7EE6-4342-B048-85BDC9FD1C3A}</a:tableStyleId>
              </a:tblPr>
              <a:tblGrid>
                <a:gridCol w="2757763">
                  <a:extLst>
                    <a:ext uri="{9D8B030D-6E8A-4147-A177-3AD203B41FA5}">
                      <a16:colId xmlns:a16="http://schemas.microsoft.com/office/drawing/2014/main" val="1306360919"/>
                    </a:ext>
                  </a:extLst>
                </a:gridCol>
                <a:gridCol w="1743146">
                  <a:extLst>
                    <a:ext uri="{9D8B030D-6E8A-4147-A177-3AD203B41FA5}">
                      <a16:colId xmlns:a16="http://schemas.microsoft.com/office/drawing/2014/main" val="403905534"/>
                    </a:ext>
                  </a:extLst>
                </a:gridCol>
                <a:gridCol w="1160059">
                  <a:extLst>
                    <a:ext uri="{9D8B030D-6E8A-4147-A177-3AD203B41FA5}">
                      <a16:colId xmlns:a16="http://schemas.microsoft.com/office/drawing/2014/main" val="899366786"/>
                    </a:ext>
                  </a:extLst>
                </a:gridCol>
                <a:gridCol w="887105">
                  <a:extLst>
                    <a:ext uri="{9D8B030D-6E8A-4147-A177-3AD203B41FA5}">
                      <a16:colId xmlns:a16="http://schemas.microsoft.com/office/drawing/2014/main" val="1234887049"/>
                    </a:ext>
                  </a:extLst>
                </a:gridCol>
                <a:gridCol w="1712486">
                  <a:extLst>
                    <a:ext uri="{9D8B030D-6E8A-4147-A177-3AD203B41FA5}">
                      <a16:colId xmlns:a16="http://schemas.microsoft.com/office/drawing/2014/main" val="1878029764"/>
                    </a:ext>
                  </a:extLst>
                </a:gridCol>
              </a:tblGrid>
              <a:tr h="237032">
                <a:tc>
                  <a:txBody>
                    <a:bodyPr/>
                    <a:lstStyle/>
                    <a:p>
                      <a:pPr algn="ctr"/>
                      <a:endParaRPr lang="en-US" sz="1800" b="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err="1">
                          <a:solidFill>
                            <a:schemeClr val="dk1"/>
                          </a:solidFill>
                          <a:effectLst/>
                          <a:latin typeface="+mn-lt"/>
                          <a:ea typeface="+mn-ea"/>
                          <a:cs typeface="+mn-cs"/>
                        </a:rPr>
                        <a:t>Scarcity_MissingOutFearing</a:t>
                      </a:r>
                      <a:endParaRPr lang="en-US" sz="1800" b="0" dirty="0">
                        <a:solidFill>
                          <a:schemeClr val="tx1"/>
                        </a:solidFill>
                      </a:endParaRPr>
                    </a:p>
                    <a:p>
                      <a:pPr lvl="0" algn="ctr">
                        <a:buNone/>
                      </a:pPr>
                      <a:endParaRPr lang="en-US" sz="1800" b="0" dirty="0">
                        <a:solidFill>
                          <a:schemeClr val="tx1"/>
                        </a:solidFill>
                      </a:endParaRPr>
                    </a:p>
                  </a:txBody>
                  <a:tcPr anchor="ctr"/>
                </a:tc>
                <a:tc>
                  <a:txBody>
                    <a:bodyPr/>
                    <a:lstStyle/>
                    <a:p>
                      <a:pPr lvl="0" algn="ctr">
                        <a:buNone/>
                      </a:pPr>
                      <a:r>
                        <a:rPr lang="en-US" sz="1800" b="1" i="0" kern="1200" dirty="0" err="1">
                          <a:solidFill>
                            <a:schemeClr val="dk1"/>
                          </a:solidFill>
                          <a:effectLst/>
                          <a:latin typeface="+mn-lt"/>
                          <a:ea typeface="+mn-ea"/>
                          <a:cs typeface="+mn-cs"/>
                        </a:rPr>
                        <a:t>Scarcity_MotivationIncrease</a:t>
                      </a:r>
                      <a:endParaRPr lang="en-US" sz="1800" b="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err="1">
                          <a:solidFill>
                            <a:schemeClr val="dk1"/>
                          </a:solidFill>
                          <a:effectLst/>
                          <a:latin typeface="+mn-lt"/>
                          <a:ea typeface="+mn-ea"/>
                          <a:cs typeface="+mn-cs"/>
                        </a:rPr>
                        <a:t>Scarcity_InterestBoosting</a:t>
                      </a:r>
                      <a:endParaRPr lang="en-US" sz="1800" b="0" dirty="0"/>
                    </a:p>
                    <a:p>
                      <a:pPr lvl="0" algn="ctr">
                        <a:buNone/>
                      </a:pPr>
                      <a:endParaRPr lang="en-US" sz="1800" b="0" i="0" u="none" strike="noStrike" baseline="0" noProof="0" dirty="0">
                        <a:solidFill>
                          <a:srgbClr val="000000"/>
                        </a:solidFill>
                        <a:latin typeface="Bembo"/>
                      </a:endParaRPr>
                    </a:p>
                  </a:txBody>
                  <a:tcPr anchor="ctr"/>
                </a:tc>
                <a:tc>
                  <a:txBody>
                    <a:bodyPr/>
                    <a:lstStyle/>
                    <a:p>
                      <a:pPr lvl="0" algn="ctr">
                        <a:buNone/>
                      </a:pPr>
                      <a:r>
                        <a:rPr lang="en-US" sz="1800" b="1" i="0" kern="1200" dirty="0" err="1">
                          <a:solidFill>
                            <a:schemeClr val="dk1"/>
                          </a:solidFill>
                          <a:effectLst/>
                          <a:latin typeface="+mn-lt"/>
                          <a:ea typeface="+mn-ea"/>
                          <a:cs typeface="+mn-cs"/>
                        </a:rPr>
                        <a:t>Scarcity_SellOutExpecting</a:t>
                      </a:r>
                      <a:endParaRPr lang="en-US" sz="1800" b="0" dirty="0"/>
                    </a:p>
                  </a:txBody>
                  <a:tcPr anchor="ctr"/>
                </a:tc>
                <a:extLst>
                  <a:ext uri="{0D108BD9-81ED-4DB2-BD59-A6C34878D82A}">
                    <a16:rowId xmlns:a16="http://schemas.microsoft.com/office/drawing/2014/main" val="1066486238"/>
                  </a:ext>
                </a:extLst>
              </a:tr>
              <a:tr h="305390">
                <a:tc>
                  <a:txBody>
                    <a:bodyPr/>
                    <a:lstStyle/>
                    <a:p>
                      <a:pPr lvl="0" algn="ctr">
                        <a:buNone/>
                      </a:pPr>
                      <a:r>
                        <a:rPr lang="en-US" sz="1800" b="1" i="0" kern="1200" dirty="0" err="1">
                          <a:solidFill>
                            <a:schemeClr val="dk1"/>
                          </a:solidFill>
                          <a:effectLst/>
                          <a:latin typeface="+mn-lt"/>
                          <a:ea typeface="+mn-ea"/>
                          <a:cs typeface="+mn-cs"/>
                        </a:rPr>
                        <a:t>Scarcity_MissingOutFearing</a:t>
                      </a:r>
                      <a:endParaRPr lang="en-US" sz="1800" b="0" dirty="0">
                        <a:solidFill>
                          <a:schemeClr val="tx1"/>
                        </a:solidFill>
                      </a:endParaRPr>
                    </a:p>
                  </a:txBody>
                  <a:tcPr anchor="ctr"/>
                </a:tc>
                <a:tc>
                  <a:txBody>
                    <a:bodyPr/>
                    <a:lstStyle/>
                    <a:p>
                      <a:pPr lvl="0" algn="ctr">
                        <a:buNone/>
                      </a:pPr>
                      <a:r>
                        <a:rPr lang="en-US" sz="1800" b="0" i="0" u="none" strike="noStrike" noProof="0" dirty="0">
                          <a:solidFill>
                            <a:srgbClr val="000000"/>
                          </a:solidFill>
                          <a:effectLst/>
                          <a:latin typeface="Bembo"/>
                        </a:rPr>
                        <a:t>1.000000</a:t>
                      </a:r>
                    </a:p>
                  </a:txBody>
                  <a:tcPr anchor="ctr"/>
                </a:tc>
                <a:tc>
                  <a:txBody>
                    <a:bodyPr/>
                    <a:lstStyle/>
                    <a:p>
                      <a:pPr lvl="0" algn="ctr">
                        <a:buNone/>
                      </a:pPr>
                      <a:r>
                        <a:rPr lang="en-US" sz="1800" b="0" i="0" kern="1200" dirty="0">
                          <a:solidFill>
                            <a:schemeClr val="dk1"/>
                          </a:solidFill>
                          <a:effectLst/>
                          <a:latin typeface="+mn-lt"/>
                          <a:ea typeface="+mn-ea"/>
                          <a:cs typeface="+mn-cs"/>
                        </a:rPr>
                        <a:t>0.819601</a:t>
                      </a:r>
                      <a:endParaRPr lang="en-US" sz="1800" b="0" i="0" u="none" strike="noStrike" noProof="0" dirty="0">
                        <a:solidFill>
                          <a:srgbClr val="000000"/>
                        </a:solidFill>
                        <a:effectLst/>
                        <a:latin typeface="Bembo"/>
                      </a:endParaRPr>
                    </a:p>
                  </a:txBody>
                  <a:tcPr anchor="ctr"/>
                </a:tc>
                <a:tc>
                  <a:txBody>
                    <a:bodyPr/>
                    <a:lstStyle/>
                    <a:p>
                      <a:pPr lvl="0" algn="ctr">
                        <a:buNone/>
                      </a:pPr>
                      <a:r>
                        <a:rPr lang="en-US" sz="1800" b="0" i="0" kern="1200" dirty="0">
                          <a:solidFill>
                            <a:schemeClr val="dk1"/>
                          </a:solidFill>
                          <a:effectLst/>
                          <a:latin typeface="+mn-lt"/>
                          <a:ea typeface="+mn-ea"/>
                          <a:cs typeface="+mn-cs"/>
                        </a:rPr>
                        <a:t>0.825333</a:t>
                      </a:r>
                      <a:endParaRPr lang="en-US" sz="1800" b="0" dirty="0"/>
                    </a:p>
                  </a:txBody>
                  <a:tcPr anchor="ctr"/>
                </a:tc>
                <a:tc>
                  <a:txBody>
                    <a:bodyPr/>
                    <a:lstStyle/>
                    <a:p>
                      <a:pPr lvl="0" algn="ctr">
                        <a:buNone/>
                      </a:pPr>
                      <a:r>
                        <a:rPr lang="en-US" sz="1800" b="0" i="0" kern="1200" dirty="0">
                          <a:solidFill>
                            <a:schemeClr val="dk1"/>
                          </a:solidFill>
                          <a:effectLst/>
                          <a:latin typeface="+mn-lt"/>
                          <a:ea typeface="+mn-ea"/>
                          <a:cs typeface="+mn-cs"/>
                        </a:rPr>
                        <a:t>0.821609</a:t>
                      </a:r>
                      <a:endParaRPr lang="en-US" sz="1800" b="0" i="0" u="none" strike="noStrike" noProof="0" dirty="0">
                        <a:solidFill>
                          <a:srgbClr val="000000"/>
                        </a:solidFill>
                        <a:effectLst/>
                        <a:latin typeface="Bembo"/>
                      </a:endParaRPr>
                    </a:p>
                  </a:txBody>
                  <a:tcPr anchor="ctr"/>
                </a:tc>
                <a:extLst>
                  <a:ext uri="{0D108BD9-81ED-4DB2-BD59-A6C34878D82A}">
                    <a16:rowId xmlns:a16="http://schemas.microsoft.com/office/drawing/2014/main" val="3035960315"/>
                  </a:ext>
                </a:extLst>
              </a:tr>
              <a:tr h="197814">
                <a:tc>
                  <a:txBody>
                    <a:bodyPr/>
                    <a:lstStyle/>
                    <a:p>
                      <a:pPr lvl="0" algn="ctr">
                        <a:buNone/>
                      </a:pPr>
                      <a:r>
                        <a:rPr lang="en-US" sz="1800" b="1" i="0" kern="1200" dirty="0" err="1">
                          <a:solidFill>
                            <a:schemeClr val="dk1"/>
                          </a:solidFill>
                          <a:effectLst/>
                          <a:latin typeface="+mn-lt"/>
                          <a:ea typeface="+mn-ea"/>
                          <a:cs typeface="+mn-cs"/>
                        </a:rPr>
                        <a:t>Scarcity_MotivationIncrease</a:t>
                      </a:r>
                      <a:endParaRPr lang="en-US" sz="1800" b="0" dirty="0"/>
                    </a:p>
                  </a:txBody>
                  <a:tcPr anchor="ctr"/>
                </a:tc>
                <a:tc>
                  <a:txBody>
                    <a:bodyPr/>
                    <a:lstStyle/>
                    <a:p>
                      <a:pPr lvl="0" algn="ctr">
                        <a:buNone/>
                      </a:pPr>
                      <a:r>
                        <a:rPr lang="en-US" sz="1800" b="0" i="0" kern="1200" dirty="0">
                          <a:solidFill>
                            <a:schemeClr val="dk1"/>
                          </a:solidFill>
                          <a:effectLst/>
                          <a:latin typeface="+mn-lt"/>
                          <a:ea typeface="+mn-ea"/>
                          <a:cs typeface="+mn-cs"/>
                        </a:rPr>
                        <a:t>0.819601</a:t>
                      </a:r>
                      <a:endParaRPr lang="en-US" sz="1800" b="0" dirty="0"/>
                    </a:p>
                  </a:txBody>
                  <a:tcPr anchor="ctr"/>
                </a:tc>
                <a:tc>
                  <a:txBody>
                    <a:bodyPr/>
                    <a:lstStyle/>
                    <a:p>
                      <a:pPr lvl="0" algn="ctr">
                        <a:buNone/>
                      </a:pPr>
                      <a:r>
                        <a:rPr lang="en-US" sz="1800" b="0" i="0" u="none" strike="noStrike" noProof="0" dirty="0">
                          <a:solidFill>
                            <a:srgbClr val="000000"/>
                          </a:solidFill>
                          <a:effectLst/>
                          <a:latin typeface="Bembo"/>
                        </a:rPr>
                        <a:t>1.000000</a:t>
                      </a:r>
                    </a:p>
                  </a:txBody>
                  <a:tcPr anchor="ctr"/>
                </a:tc>
                <a:tc>
                  <a:txBody>
                    <a:bodyPr/>
                    <a:lstStyle/>
                    <a:p>
                      <a:pPr lvl="0" algn="ctr">
                        <a:buNone/>
                      </a:pPr>
                      <a:r>
                        <a:rPr lang="en-US" sz="1800" b="0" i="0" kern="1200" dirty="0">
                          <a:solidFill>
                            <a:schemeClr val="dk1"/>
                          </a:solidFill>
                          <a:effectLst/>
                          <a:latin typeface="+mn-lt"/>
                          <a:ea typeface="+mn-ea"/>
                          <a:cs typeface="+mn-cs"/>
                        </a:rPr>
                        <a:t>0.812409</a:t>
                      </a:r>
                      <a:endParaRPr lang="en-US" sz="1800" b="0" i="0" u="none" strike="noStrike" noProof="0" dirty="0">
                        <a:solidFill>
                          <a:srgbClr val="000000"/>
                        </a:solidFill>
                        <a:effectLst/>
                        <a:latin typeface="Bembo"/>
                      </a:endParaRPr>
                    </a:p>
                  </a:txBody>
                  <a:tcPr anchor="ctr"/>
                </a:tc>
                <a:tc>
                  <a:txBody>
                    <a:bodyPr/>
                    <a:lstStyle/>
                    <a:p>
                      <a:pPr lvl="0" algn="ctr">
                        <a:buNone/>
                      </a:pPr>
                      <a:r>
                        <a:rPr lang="en-US" sz="1800" b="0" i="0" u="none" strike="noStrike" noProof="0" dirty="0">
                          <a:solidFill>
                            <a:srgbClr val="000000"/>
                          </a:solidFill>
                          <a:effectLst/>
                          <a:latin typeface="+mn-lt"/>
                        </a:rPr>
                        <a:t>0.825272	</a:t>
                      </a:r>
                      <a:endParaRPr lang="en-US" sz="1800" b="0" i="0" u="none" strike="noStrike" noProof="0" dirty="0">
                        <a:solidFill>
                          <a:srgbClr val="000000"/>
                        </a:solidFill>
                        <a:effectLst/>
                        <a:latin typeface="Bembo"/>
                      </a:endParaRPr>
                    </a:p>
                  </a:txBody>
                  <a:tcPr anchor="ctr"/>
                </a:tc>
                <a:extLst>
                  <a:ext uri="{0D108BD9-81ED-4DB2-BD59-A6C34878D82A}">
                    <a16:rowId xmlns:a16="http://schemas.microsoft.com/office/drawing/2014/main" val="3599210950"/>
                  </a:ext>
                </a:extLst>
              </a:tr>
              <a:tr h="208571">
                <a:tc>
                  <a:txBody>
                    <a:bodyPr/>
                    <a:lstStyle/>
                    <a:p>
                      <a:pPr lvl="0" algn="ctr">
                        <a:buNone/>
                      </a:pPr>
                      <a:r>
                        <a:rPr lang="en-US" sz="1800" b="1" i="0" kern="1200" dirty="0" err="1">
                          <a:solidFill>
                            <a:schemeClr val="dk1"/>
                          </a:solidFill>
                          <a:effectLst/>
                          <a:latin typeface="+mn-lt"/>
                          <a:ea typeface="+mn-ea"/>
                          <a:cs typeface="+mn-cs"/>
                        </a:rPr>
                        <a:t>Scarcity_InterestBoosting</a:t>
                      </a:r>
                      <a:endParaRPr lang="en-US" sz="1800" b="0" dirty="0"/>
                    </a:p>
                  </a:txBody>
                  <a:tcPr anchor="ctr"/>
                </a:tc>
                <a:tc>
                  <a:txBody>
                    <a:bodyPr/>
                    <a:lstStyle/>
                    <a:p>
                      <a:pPr lvl="0" algn="ctr">
                        <a:buNone/>
                      </a:pPr>
                      <a:r>
                        <a:rPr lang="en-US" sz="1800" b="0" i="0" kern="1200" dirty="0">
                          <a:solidFill>
                            <a:schemeClr val="dk1"/>
                          </a:solidFill>
                          <a:effectLst/>
                          <a:latin typeface="+mn-lt"/>
                          <a:ea typeface="+mn-ea"/>
                          <a:cs typeface="+mn-cs"/>
                        </a:rPr>
                        <a:t>0.825333</a:t>
                      </a:r>
                      <a:endParaRPr lang="en-US" sz="1800" b="0" i="0" u="none" strike="noStrike" baseline="0" noProof="0" dirty="0">
                        <a:solidFill>
                          <a:srgbClr val="000000"/>
                        </a:solidFill>
                        <a:effectLst/>
                        <a:latin typeface="Bembo"/>
                      </a:endParaRPr>
                    </a:p>
                  </a:txBody>
                  <a:tcPr anchor="ctr"/>
                </a:tc>
                <a:tc>
                  <a:txBody>
                    <a:bodyPr/>
                    <a:lstStyle/>
                    <a:p>
                      <a:pPr lvl="0" algn="ctr">
                        <a:buNone/>
                      </a:pPr>
                      <a:r>
                        <a:rPr lang="en-US" sz="1800" b="0" i="0" kern="1200" dirty="0">
                          <a:solidFill>
                            <a:schemeClr val="dk1"/>
                          </a:solidFill>
                          <a:effectLst/>
                          <a:latin typeface="+mn-lt"/>
                          <a:ea typeface="+mn-ea"/>
                          <a:cs typeface="+mn-cs"/>
                        </a:rPr>
                        <a:t>0.812409</a:t>
                      </a:r>
                      <a:endParaRPr lang="en-US" sz="1800" b="0" dirty="0"/>
                    </a:p>
                  </a:txBody>
                  <a:tcPr anchor="ctr"/>
                </a:tc>
                <a:tc>
                  <a:txBody>
                    <a:bodyPr/>
                    <a:lstStyle/>
                    <a:p>
                      <a:pPr lvl="0" algn="ctr">
                        <a:buNone/>
                      </a:pPr>
                      <a:r>
                        <a:rPr lang="en-US" sz="1800" b="0" i="0" u="none" strike="noStrike" noProof="0" dirty="0">
                          <a:solidFill>
                            <a:srgbClr val="000000"/>
                          </a:solidFill>
                          <a:effectLst/>
                          <a:latin typeface="Bembo"/>
                        </a:rPr>
                        <a:t>1.000000</a:t>
                      </a:r>
                    </a:p>
                  </a:txBody>
                  <a:tcPr anchor="ctr"/>
                </a:tc>
                <a:tc>
                  <a:txBody>
                    <a:bodyPr/>
                    <a:lstStyle/>
                    <a:p>
                      <a:pPr lvl="0" algn="ctr">
                        <a:buNone/>
                      </a:pPr>
                      <a:r>
                        <a:rPr lang="en-US" sz="1800" b="0" i="0" kern="1200" dirty="0">
                          <a:solidFill>
                            <a:schemeClr val="dk1"/>
                          </a:solidFill>
                          <a:effectLst/>
                          <a:latin typeface="+mn-lt"/>
                          <a:ea typeface="+mn-ea"/>
                          <a:cs typeface="+mn-cs"/>
                        </a:rPr>
                        <a:t>0.827165</a:t>
                      </a:r>
                      <a:endParaRPr lang="en-US" sz="1800" b="0" i="0" u="none" strike="noStrike" noProof="0" dirty="0">
                        <a:solidFill>
                          <a:srgbClr val="000000"/>
                        </a:solidFill>
                        <a:effectLst/>
                        <a:latin typeface="Bembo"/>
                      </a:endParaRPr>
                    </a:p>
                  </a:txBody>
                  <a:tcPr anchor="ctr"/>
                </a:tc>
                <a:extLst>
                  <a:ext uri="{0D108BD9-81ED-4DB2-BD59-A6C34878D82A}">
                    <a16:rowId xmlns:a16="http://schemas.microsoft.com/office/drawing/2014/main" val="2324577604"/>
                  </a:ext>
                </a:extLst>
              </a:tr>
              <a:tr h="340958">
                <a:tc>
                  <a:txBody>
                    <a:bodyPr/>
                    <a:lstStyle/>
                    <a:p>
                      <a:pPr lvl="0" algn="ctr">
                        <a:buNone/>
                      </a:pPr>
                      <a:r>
                        <a:rPr lang="en-US" sz="1800" b="1" i="0" kern="1200" dirty="0" err="1">
                          <a:solidFill>
                            <a:schemeClr val="dk1"/>
                          </a:solidFill>
                          <a:effectLst/>
                          <a:latin typeface="+mn-lt"/>
                          <a:ea typeface="+mn-ea"/>
                          <a:cs typeface="+mn-cs"/>
                        </a:rPr>
                        <a:t>Scarcity_SellOutExpecting</a:t>
                      </a:r>
                      <a:endParaRPr lang="en-US" sz="1800" b="0" dirty="0"/>
                    </a:p>
                  </a:txBody>
                  <a:tcPr anchor="ctr"/>
                </a:tc>
                <a:tc>
                  <a:txBody>
                    <a:bodyPr/>
                    <a:lstStyle/>
                    <a:p>
                      <a:pPr lvl="0" algn="ctr">
                        <a:buNone/>
                      </a:pPr>
                      <a:r>
                        <a:rPr lang="en-US" sz="1800" b="0" i="0" kern="1200" dirty="0">
                          <a:solidFill>
                            <a:schemeClr val="dk1"/>
                          </a:solidFill>
                          <a:effectLst/>
                          <a:latin typeface="+mn-lt"/>
                          <a:ea typeface="+mn-ea"/>
                          <a:cs typeface="+mn-cs"/>
                        </a:rPr>
                        <a:t>0.821609</a:t>
                      </a:r>
                      <a:endParaRPr lang="en-US" sz="1800" b="0" dirty="0"/>
                    </a:p>
                  </a:txBody>
                  <a:tcPr anchor="ctr"/>
                </a:tc>
                <a:tc>
                  <a:txBody>
                    <a:bodyPr/>
                    <a:lstStyle/>
                    <a:p>
                      <a:pPr lvl="0" algn="ctr">
                        <a:buNone/>
                      </a:pPr>
                      <a:r>
                        <a:rPr lang="en-US" sz="1800" b="0" i="0" kern="1200" dirty="0">
                          <a:solidFill>
                            <a:schemeClr val="dk1"/>
                          </a:solidFill>
                          <a:effectLst/>
                          <a:latin typeface="+mn-lt"/>
                          <a:ea typeface="+mn-ea"/>
                          <a:cs typeface="+mn-cs"/>
                        </a:rPr>
                        <a:t>0.825272</a:t>
                      </a:r>
                      <a:endParaRPr lang="en-US" sz="1800" b="0" dirty="0"/>
                    </a:p>
                  </a:txBody>
                  <a:tcPr anchor="ctr"/>
                </a:tc>
                <a:tc>
                  <a:txBody>
                    <a:bodyPr/>
                    <a:lstStyle/>
                    <a:p>
                      <a:pPr lvl="0" algn="ctr">
                        <a:buNone/>
                      </a:pPr>
                      <a:r>
                        <a:rPr lang="en-US" sz="1800" b="0" i="0" kern="1200" dirty="0">
                          <a:solidFill>
                            <a:schemeClr val="dk1"/>
                          </a:solidFill>
                          <a:effectLst/>
                          <a:latin typeface="+mn-lt"/>
                          <a:ea typeface="+mn-ea"/>
                          <a:cs typeface="+mn-cs"/>
                        </a:rPr>
                        <a:t>0.827165</a:t>
                      </a:r>
                      <a:endParaRPr lang="en-US" sz="1800" b="0" dirty="0"/>
                    </a:p>
                  </a:txBody>
                  <a:tcPr anchor="ctr"/>
                </a:tc>
                <a:tc>
                  <a:txBody>
                    <a:bodyPr/>
                    <a:lstStyle/>
                    <a:p>
                      <a:pPr lvl="0" algn="ctr">
                        <a:buNone/>
                      </a:pPr>
                      <a:r>
                        <a:rPr lang="en-US" sz="1800" b="0" i="0" u="none" strike="noStrike" noProof="0" dirty="0">
                          <a:solidFill>
                            <a:srgbClr val="000000"/>
                          </a:solidFill>
                          <a:effectLst/>
                          <a:latin typeface="Bembo"/>
                        </a:rPr>
                        <a:t>1.000000</a:t>
                      </a:r>
                    </a:p>
                  </a:txBody>
                  <a:tcPr anchor="ctr"/>
                </a:tc>
                <a:extLst>
                  <a:ext uri="{0D108BD9-81ED-4DB2-BD59-A6C34878D82A}">
                    <a16:rowId xmlns:a16="http://schemas.microsoft.com/office/drawing/2014/main" val="1148500696"/>
                  </a:ext>
                </a:extLst>
              </a:tr>
            </a:tbl>
          </a:graphicData>
        </a:graphic>
      </p:graphicFrame>
    </p:spTree>
    <p:extLst>
      <p:ext uri="{BB962C8B-B14F-4D97-AF65-F5344CB8AC3E}">
        <p14:creationId xmlns:p14="http://schemas.microsoft.com/office/powerpoint/2010/main" val="3972889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B53E13-A10E-63D6-C2F8-08A5FA7490E5}"/>
              </a:ext>
            </a:extLst>
          </p:cNvPr>
          <p:cNvSpPr>
            <a:spLocks noGrp="1"/>
          </p:cNvSpPr>
          <p:nvPr>
            <p:ph idx="1"/>
          </p:nvPr>
        </p:nvSpPr>
        <p:spPr>
          <a:xfrm>
            <a:off x="605181" y="603549"/>
            <a:ext cx="10256302" cy="5650828"/>
          </a:xfrm>
        </p:spPr>
        <p:txBody>
          <a:bodyPr vert="horz" lIns="91440" tIns="45720" rIns="91440" bIns="45720" rtlCol="0" anchor="t">
            <a:noAutofit/>
          </a:bodyPr>
          <a:lstStyle/>
          <a:p>
            <a:r>
              <a:rPr lang="en-US" sz="1800" dirty="0">
                <a:ea typeface="+mn-lt"/>
                <a:cs typeface="+mn-lt"/>
              </a:rPr>
              <a:t>At the individual question level, most items within each construct are highly correlated (e.g., Scarcity items correlations range from 0.81 to 0.83), indicating good internal consistency.</a:t>
            </a:r>
            <a:endParaRPr lang="en-US" sz="1800" dirty="0"/>
          </a:p>
          <a:p>
            <a:r>
              <a:rPr lang="en-US" sz="1800" dirty="0">
                <a:ea typeface="+mn-lt"/>
                <a:cs typeface="+mn-lt"/>
              </a:rPr>
              <a:t>Items across constructs also show moderate positive correlations, supporting the idea that Scarcity and Urgency jointly influence Purchase Intention.</a:t>
            </a:r>
            <a:endParaRPr lang="en-US" sz="1800" dirty="0"/>
          </a:p>
          <a:p>
            <a:r>
              <a:rPr lang="en-US" sz="1800" dirty="0">
                <a:ea typeface="+mn-lt"/>
                <a:cs typeface="+mn-lt"/>
              </a:rPr>
              <a:t>Demographic variables such as Age, Gender, and Education show very weak correlations with the survey items, suggesting that responses are generally independent of these factors.</a:t>
            </a:r>
            <a:endParaRPr lang="en-US" sz="1800" dirty="0"/>
          </a:p>
          <a:p>
            <a:r>
              <a:rPr lang="en-US" sz="1800" dirty="0">
                <a:ea typeface="+mn-lt"/>
                <a:cs typeface="+mn-lt"/>
              </a:rPr>
              <a:t>The LookingOrPurchased variable shows </a:t>
            </a:r>
            <a:r>
              <a:rPr lang="en-US" sz="1800" dirty="0" err="1">
                <a:ea typeface="+mn-lt"/>
                <a:cs typeface="+mn-lt"/>
              </a:rPr>
              <a:t>NaN</a:t>
            </a:r>
            <a:r>
              <a:rPr lang="en-US" sz="1800" dirty="0">
                <a:ea typeface="+mn-lt"/>
                <a:cs typeface="+mn-lt"/>
              </a:rPr>
              <a:t> correlations, likely because it is binary and mostly constant for some responses, which does not allow for standard Pearson correlation calculation.</a:t>
            </a:r>
          </a:p>
          <a:p>
            <a:r>
              <a:rPr lang="en-US" sz="1800" b="1" dirty="0">
                <a:ea typeface="+mn-lt"/>
                <a:cs typeface="+mn-lt"/>
              </a:rPr>
              <a:t>Interpretation:</a:t>
            </a:r>
          </a:p>
          <a:p>
            <a:r>
              <a:rPr lang="en-US" sz="1800" dirty="0">
                <a:ea typeface="+mn-lt"/>
                <a:cs typeface="+mn-lt"/>
              </a:rPr>
              <a:t>High intra-construct correlations confirm the reliability of the grouped dimensions.</a:t>
            </a:r>
            <a:endParaRPr lang="en-US" sz="1800" dirty="0"/>
          </a:p>
          <a:p>
            <a:r>
              <a:rPr lang="en-US" sz="1800" dirty="0">
                <a:ea typeface="+mn-lt"/>
                <a:cs typeface="+mn-lt"/>
              </a:rPr>
              <a:t>Moderate inter-construct correlations support the theoretical expectation that Scarcity and Urgency positively affect Purchase Intention.</a:t>
            </a:r>
            <a:endParaRPr lang="en-US" sz="1800" dirty="0"/>
          </a:p>
          <a:p>
            <a:r>
              <a:rPr lang="en-US" sz="1800" dirty="0">
                <a:ea typeface="+mn-lt"/>
                <a:cs typeface="+mn-lt"/>
              </a:rPr>
              <a:t>The item-level correlations can guide which questions may be combined or refined in future surveys.</a:t>
            </a:r>
            <a:endParaRPr lang="en-US" sz="1800" dirty="0"/>
          </a:p>
        </p:txBody>
      </p:sp>
    </p:spTree>
    <p:extLst>
      <p:ext uri="{BB962C8B-B14F-4D97-AF65-F5344CB8AC3E}">
        <p14:creationId xmlns:p14="http://schemas.microsoft.com/office/powerpoint/2010/main" val="3235849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5A9C7-D641-7350-E27F-DECF9CEFE2D0}"/>
              </a:ext>
            </a:extLst>
          </p:cNvPr>
          <p:cNvSpPr>
            <a:spLocks noGrp="1"/>
          </p:cNvSpPr>
          <p:nvPr>
            <p:ph type="title"/>
          </p:nvPr>
        </p:nvSpPr>
        <p:spPr>
          <a:xfrm>
            <a:off x="1050879" y="286872"/>
            <a:ext cx="9810604" cy="1216024"/>
          </a:xfrm>
        </p:spPr>
        <p:txBody>
          <a:bodyPr/>
          <a:lstStyle/>
          <a:p>
            <a:pPr algn="ctr"/>
            <a:r>
              <a:rPr lang="en-US" sz="2400" b="1" dirty="0"/>
              <a:t>Reliability</a:t>
            </a:r>
            <a:endParaRPr lang="en-US" b="1" dirty="0"/>
          </a:p>
        </p:txBody>
      </p:sp>
      <p:sp>
        <p:nvSpPr>
          <p:cNvPr id="3" name="Content Placeholder 2">
            <a:extLst>
              <a:ext uri="{FF2B5EF4-FFF2-40B4-BE49-F238E27FC236}">
                <a16:creationId xmlns:a16="http://schemas.microsoft.com/office/drawing/2014/main" id="{D62E5307-FBCD-107D-F99E-7778AB6815D5}"/>
              </a:ext>
            </a:extLst>
          </p:cNvPr>
          <p:cNvSpPr>
            <a:spLocks noGrp="1"/>
          </p:cNvSpPr>
          <p:nvPr>
            <p:ph idx="1"/>
          </p:nvPr>
        </p:nvSpPr>
        <p:spPr>
          <a:xfrm>
            <a:off x="523754" y="1655594"/>
            <a:ext cx="3413545" cy="4768813"/>
          </a:xfrm>
        </p:spPr>
        <p:txBody>
          <a:bodyPr>
            <a:normAutofit fontScale="92500" lnSpcReduction="20000"/>
          </a:bodyPr>
          <a:lstStyle/>
          <a:p>
            <a:pPr marL="0" indent="0">
              <a:buNone/>
            </a:pPr>
            <a:r>
              <a:rPr lang="en-US" b="1" dirty="0"/>
              <a:t>Reliability analysis was conducted using Cronbach’s Alpha to assess the internal consistency of the three scales: Scarcity, Urgency, and Intention.</a:t>
            </a:r>
            <a:br>
              <a:rPr lang="en-US" dirty="0"/>
            </a:br>
            <a:r>
              <a:rPr lang="en-US" dirty="0"/>
              <a:t>The bar chart visualizes the alpha values for each scale, allowing a quick comparison of their reliability. All values exceed the commonly accepted threshold of </a:t>
            </a:r>
            <a:r>
              <a:rPr lang="en-US" b="1" dirty="0"/>
              <a:t>0.70</a:t>
            </a:r>
            <a:r>
              <a:rPr lang="en-US" dirty="0"/>
              <a:t>, indicating that the items within each scale consistently measure the same underlying construct. This supports the validity of using these scales in further statistical analysis.</a:t>
            </a:r>
          </a:p>
          <a:p>
            <a:pPr marL="0" indent="0">
              <a:buNone/>
            </a:pPr>
            <a:endParaRPr lang="en-US" dirty="0"/>
          </a:p>
        </p:txBody>
      </p:sp>
      <p:pic>
        <p:nvPicPr>
          <p:cNvPr id="4" name="Content Placeholder 4">
            <a:extLst>
              <a:ext uri="{FF2B5EF4-FFF2-40B4-BE49-F238E27FC236}">
                <a16:creationId xmlns:a16="http://schemas.microsoft.com/office/drawing/2014/main" id="{52E4684A-C924-5CB7-E1B4-12EEE5B6DC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0769" y="1655594"/>
            <a:ext cx="5667984" cy="4429125"/>
          </a:xfrm>
          <a:prstGeom prst="rect">
            <a:avLst/>
          </a:prstGeom>
        </p:spPr>
      </p:pic>
    </p:spTree>
    <p:extLst>
      <p:ext uri="{BB962C8B-B14F-4D97-AF65-F5344CB8AC3E}">
        <p14:creationId xmlns:p14="http://schemas.microsoft.com/office/powerpoint/2010/main" val="312928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C820B-9957-7520-959E-B16194314B72}"/>
              </a:ext>
            </a:extLst>
          </p:cNvPr>
          <p:cNvSpPr>
            <a:spLocks noGrp="1"/>
          </p:cNvSpPr>
          <p:nvPr>
            <p:ph type="title"/>
          </p:nvPr>
        </p:nvSpPr>
        <p:spPr/>
        <p:txBody>
          <a:bodyPr>
            <a:normAutofit/>
          </a:bodyPr>
          <a:lstStyle/>
          <a:p>
            <a:pPr algn="ctr"/>
            <a:r>
              <a:rPr lang="en-US" sz="2400" b="1" dirty="0"/>
              <a:t>Regression</a:t>
            </a:r>
          </a:p>
        </p:txBody>
      </p:sp>
      <p:sp>
        <p:nvSpPr>
          <p:cNvPr id="7" name="Content Placeholder 6">
            <a:extLst>
              <a:ext uri="{FF2B5EF4-FFF2-40B4-BE49-F238E27FC236}">
                <a16:creationId xmlns:a16="http://schemas.microsoft.com/office/drawing/2014/main" id="{A433CB30-5993-F33A-7383-2360BA948F87}"/>
              </a:ext>
            </a:extLst>
          </p:cNvPr>
          <p:cNvSpPr>
            <a:spLocks noGrp="1"/>
          </p:cNvSpPr>
          <p:nvPr>
            <p:ph idx="1"/>
          </p:nvPr>
        </p:nvSpPr>
        <p:spPr/>
        <p:txBody>
          <a:bodyPr/>
          <a:lstStyle/>
          <a:p>
            <a:pPr marL="0" indent="0">
              <a:buNone/>
            </a:pPr>
            <a:r>
              <a:rPr lang="en-US" b="1" dirty="0"/>
              <a:t>Model Training &amp; Evaluation Workflow: </a:t>
            </a:r>
          </a:p>
          <a:p>
            <a:pPr marL="0" indent="0">
              <a:buNone/>
            </a:pPr>
            <a:r>
              <a:rPr lang="en-US" dirty="0"/>
              <a:t>The dataset was split into training (80%) and testing (20%) sets using the </a:t>
            </a:r>
            <a:r>
              <a:rPr lang="en-US" dirty="0" err="1"/>
              <a:t>train_test_split</a:t>
            </a:r>
            <a:r>
              <a:rPr lang="en-US" dirty="0"/>
              <a:t> method to ensure unbiased model evaluation. A Linear Regression model was trained first to establish a baseline. Its coefficients and intercept were examined to understand the influence of each predictor. Model performance was evaluated using Mean Squared Error (MSE) and R², providing insight into prediction accuracy and explained variance.Independent variables were standardized using StandardScaler to prepare them for more advanced algorithms. </a:t>
            </a:r>
            <a:r>
              <a:rPr lang="en-US" b="1" dirty="0"/>
              <a:t>A Random Forest Regressor </a:t>
            </a:r>
            <a:r>
              <a:rPr lang="en-US" dirty="0"/>
              <a:t>and </a:t>
            </a:r>
            <a:r>
              <a:rPr lang="en-US" b="1" dirty="0"/>
              <a:t>Gradient Boosting Regressor </a:t>
            </a:r>
            <a:r>
              <a:rPr lang="en-US" dirty="0"/>
              <a:t>were then trained on the scaled data to compare performance with the baseline model. Both ensemble models were evaluated using MSE and R² on the test set, allowing direct comparison of predictive performance across models.</a:t>
            </a:r>
          </a:p>
        </p:txBody>
      </p:sp>
    </p:spTree>
    <p:extLst>
      <p:ext uri="{BB962C8B-B14F-4D97-AF65-F5344CB8AC3E}">
        <p14:creationId xmlns:p14="http://schemas.microsoft.com/office/powerpoint/2010/main" val="4102988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870ADD-CE84-CD97-71CA-32D870735C51}"/>
              </a:ext>
            </a:extLst>
          </p:cNvPr>
          <p:cNvSpPr>
            <a:spLocks noGrp="1"/>
          </p:cNvSpPr>
          <p:nvPr>
            <p:ph idx="1"/>
          </p:nvPr>
        </p:nvSpPr>
        <p:spPr>
          <a:xfrm>
            <a:off x="663603" y="696071"/>
            <a:ext cx="3058543" cy="476513"/>
          </a:xfrm>
        </p:spPr>
        <p:txBody>
          <a:bodyPr/>
          <a:lstStyle/>
          <a:p>
            <a:pPr marL="0" indent="0">
              <a:buNone/>
            </a:pPr>
            <a:r>
              <a:rPr lang="en-US" b="1" dirty="0"/>
              <a:t>Values of each Algorithms:</a:t>
            </a:r>
          </a:p>
          <a:p>
            <a:pPr marL="0" indent="0">
              <a:buNone/>
            </a:pPr>
            <a:endParaRPr lang="en-US" b="1" dirty="0"/>
          </a:p>
          <a:p>
            <a:endParaRPr lang="en-US" dirty="0"/>
          </a:p>
        </p:txBody>
      </p:sp>
      <p:graphicFrame>
        <p:nvGraphicFramePr>
          <p:cNvPr id="4" name="Table 3">
            <a:extLst>
              <a:ext uri="{FF2B5EF4-FFF2-40B4-BE49-F238E27FC236}">
                <a16:creationId xmlns:a16="http://schemas.microsoft.com/office/drawing/2014/main" id="{A06A5460-7650-DC8F-B0B3-F5F2254F0F00}"/>
              </a:ext>
            </a:extLst>
          </p:cNvPr>
          <p:cNvGraphicFramePr>
            <a:graphicFrameLocks noGrp="1"/>
          </p:cNvGraphicFramePr>
          <p:nvPr>
            <p:extLst>
              <p:ext uri="{D42A27DB-BD31-4B8C-83A1-F6EECF244321}">
                <p14:modId xmlns:p14="http://schemas.microsoft.com/office/powerpoint/2010/main" val="2084966411"/>
              </p:ext>
            </p:extLst>
          </p:nvPr>
        </p:nvGraphicFramePr>
        <p:xfrm>
          <a:off x="2174837" y="2891711"/>
          <a:ext cx="7842326" cy="1830896"/>
        </p:xfrm>
        <a:graphic>
          <a:graphicData uri="http://schemas.openxmlformats.org/drawingml/2006/table">
            <a:tbl>
              <a:tblPr firstRow="1" bandRow="1">
                <a:tableStyleId>{5C22544A-7EE6-4342-B048-85BDC9FD1C3A}</a:tableStyleId>
              </a:tblPr>
              <a:tblGrid>
                <a:gridCol w="5507589">
                  <a:extLst>
                    <a:ext uri="{9D8B030D-6E8A-4147-A177-3AD203B41FA5}">
                      <a16:colId xmlns:a16="http://schemas.microsoft.com/office/drawing/2014/main" val="1303971038"/>
                    </a:ext>
                  </a:extLst>
                </a:gridCol>
                <a:gridCol w="1182336">
                  <a:extLst>
                    <a:ext uri="{9D8B030D-6E8A-4147-A177-3AD203B41FA5}">
                      <a16:colId xmlns:a16="http://schemas.microsoft.com/office/drawing/2014/main" val="2943187392"/>
                    </a:ext>
                  </a:extLst>
                </a:gridCol>
                <a:gridCol w="1152401">
                  <a:extLst>
                    <a:ext uri="{9D8B030D-6E8A-4147-A177-3AD203B41FA5}">
                      <a16:colId xmlns:a16="http://schemas.microsoft.com/office/drawing/2014/main" val="3977071069"/>
                    </a:ext>
                  </a:extLst>
                </a:gridCol>
              </a:tblGrid>
              <a:tr h="457724">
                <a:tc>
                  <a:txBody>
                    <a:bodyPr/>
                    <a:lstStyle/>
                    <a:p>
                      <a:pPr algn="ctr"/>
                      <a:r>
                        <a:rPr lang="en-US" dirty="0"/>
                        <a:t>Algorithm</a:t>
                      </a:r>
                    </a:p>
                  </a:txBody>
                  <a:tcPr anchor="ctr"/>
                </a:tc>
                <a:tc>
                  <a:txBody>
                    <a:bodyPr/>
                    <a:lstStyle/>
                    <a:p>
                      <a:pPr algn="ctr"/>
                      <a:r>
                        <a:rPr lang="en-US" dirty="0"/>
                        <a:t>MSE</a:t>
                      </a:r>
                    </a:p>
                  </a:txBody>
                  <a:tcPr anchor="ctr"/>
                </a:tc>
                <a:tc>
                  <a:txBody>
                    <a:bodyPr/>
                    <a:lstStyle/>
                    <a:p>
                      <a:pPr marL="0" marR="0" algn="ctr">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Arial" panose="020B0604020202020204" pitchFamily="34" charset="0"/>
                        </a:rPr>
                        <a:t>R</a:t>
                      </a:r>
                      <a:r>
                        <a:rPr lang="en-US" sz="1800" kern="100" baseline="30000" dirty="0">
                          <a:effectLst/>
                          <a:latin typeface="Calibri" panose="020F0502020204030204" pitchFamily="34" charset="0"/>
                          <a:ea typeface="Calibri" panose="020F0502020204030204" pitchFamily="34" charset="0"/>
                          <a:cs typeface="Arial" panose="020B0604020202020204" pitchFamily="34" charset="0"/>
                        </a:rPr>
                        <a:t>2</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325244691"/>
                  </a:ext>
                </a:extLst>
              </a:tr>
              <a:tr h="457724">
                <a:tc>
                  <a:txBody>
                    <a:bodyPr/>
                    <a:lstStyle/>
                    <a:p>
                      <a:pPr algn="ctr"/>
                      <a:r>
                        <a:rPr lang="en-US" b="0" dirty="0"/>
                        <a:t>Linear Regression</a:t>
                      </a:r>
                    </a:p>
                  </a:txBody>
                  <a:tcPr anchor="ctr"/>
                </a:tc>
                <a:tc>
                  <a:txBody>
                    <a:bodyPr/>
                    <a:lstStyle/>
                    <a:p>
                      <a:pPr algn="ctr"/>
                      <a:r>
                        <a:rPr lang="en-US" sz="1800" b="0" i="0" kern="1200" dirty="0">
                          <a:solidFill>
                            <a:schemeClr val="dk1"/>
                          </a:solidFill>
                          <a:effectLst/>
                          <a:latin typeface="+mn-lt"/>
                          <a:ea typeface="+mn-ea"/>
                          <a:cs typeface="+mn-cs"/>
                        </a:rPr>
                        <a:t>0.36</a:t>
                      </a:r>
                      <a:endParaRPr lang="en-US" dirty="0"/>
                    </a:p>
                  </a:txBody>
                  <a:tcPr anchor="ctr"/>
                </a:tc>
                <a:tc>
                  <a:txBody>
                    <a:bodyPr/>
                    <a:lstStyle/>
                    <a:p>
                      <a:pPr algn="ctr"/>
                      <a:r>
                        <a:rPr lang="en-US" sz="1800" b="0" i="0" kern="1200" dirty="0">
                          <a:solidFill>
                            <a:schemeClr val="dk1"/>
                          </a:solidFill>
                          <a:effectLst/>
                          <a:latin typeface="+mn-lt"/>
                          <a:ea typeface="+mn-ea"/>
                          <a:cs typeface="+mn-cs"/>
                        </a:rPr>
                        <a:t>0.56</a:t>
                      </a:r>
                      <a:endParaRPr lang="en-US" dirty="0"/>
                    </a:p>
                  </a:txBody>
                  <a:tcPr anchor="ctr"/>
                </a:tc>
                <a:extLst>
                  <a:ext uri="{0D108BD9-81ED-4DB2-BD59-A6C34878D82A}">
                    <a16:rowId xmlns:a16="http://schemas.microsoft.com/office/drawing/2014/main" val="6174236"/>
                  </a:ext>
                </a:extLst>
              </a:tr>
              <a:tr h="457724">
                <a:tc>
                  <a:txBody>
                    <a:bodyPr/>
                    <a:lstStyle/>
                    <a:p>
                      <a:pPr algn="ctr"/>
                      <a:r>
                        <a:rPr lang="en-US" b="0" dirty="0"/>
                        <a:t>Random Forest Regressor</a:t>
                      </a:r>
                    </a:p>
                  </a:txBody>
                  <a:tcPr anchor="ctr"/>
                </a:tc>
                <a:tc>
                  <a:txBody>
                    <a:bodyPr/>
                    <a:lstStyle/>
                    <a:p>
                      <a:pPr algn="ctr"/>
                      <a:r>
                        <a:rPr lang="en-US" dirty="0"/>
                        <a:t>0.42</a:t>
                      </a:r>
                    </a:p>
                  </a:txBody>
                  <a:tcPr anchor="ctr"/>
                </a:tc>
                <a:tc>
                  <a:txBody>
                    <a:bodyPr/>
                    <a:lstStyle/>
                    <a:p>
                      <a:pPr algn="ctr"/>
                      <a:r>
                        <a:rPr lang="en-US" dirty="0"/>
                        <a:t>0.48</a:t>
                      </a:r>
                    </a:p>
                  </a:txBody>
                  <a:tcPr anchor="ctr"/>
                </a:tc>
                <a:extLst>
                  <a:ext uri="{0D108BD9-81ED-4DB2-BD59-A6C34878D82A}">
                    <a16:rowId xmlns:a16="http://schemas.microsoft.com/office/drawing/2014/main" val="403732389"/>
                  </a:ext>
                </a:extLst>
              </a:tr>
              <a:tr h="457724">
                <a:tc>
                  <a:txBody>
                    <a:bodyPr/>
                    <a:lstStyle/>
                    <a:p>
                      <a:pPr algn="ctr"/>
                      <a:r>
                        <a:rPr lang="en-US" b="0" dirty="0"/>
                        <a:t>Gradient Boosting Regressor </a:t>
                      </a:r>
                    </a:p>
                  </a:txBody>
                  <a:tcPr anchor="ctr"/>
                </a:tc>
                <a:tc>
                  <a:txBody>
                    <a:bodyPr/>
                    <a:lstStyle/>
                    <a:p>
                      <a:pPr algn="ctr"/>
                      <a:r>
                        <a:rPr lang="en-US" dirty="0"/>
                        <a:t>0.41</a:t>
                      </a:r>
                    </a:p>
                  </a:txBody>
                  <a:tcPr anchor="ctr"/>
                </a:tc>
                <a:tc>
                  <a:txBody>
                    <a:bodyPr/>
                    <a:lstStyle/>
                    <a:p>
                      <a:pPr algn="ctr"/>
                      <a:r>
                        <a:rPr lang="en-US" dirty="0"/>
                        <a:t>0.50</a:t>
                      </a:r>
                    </a:p>
                  </a:txBody>
                  <a:tcPr anchor="ctr"/>
                </a:tc>
                <a:extLst>
                  <a:ext uri="{0D108BD9-81ED-4DB2-BD59-A6C34878D82A}">
                    <a16:rowId xmlns:a16="http://schemas.microsoft.com/office/drawing/2014/main" val="1210768994"/>
                  </a:ext>
                </a:extLst>
              </a:tr>
            </a:tbl>
          </a:graphicData>
        </a:graphic>
      </p:graphicFrame>
    </p:spTree>
    <p:extLst>
      <p:ext uri="{BB962C8B-B14F-4D97-AF65-F5344CB8AC3E}">
        <p14:creationId xmlns:p14="http://schemas.microsoft.com/office/powerpoint/2010/main" val="1260444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5C7F770-6B0A-4E41-BE39-35036726EEF5}"/>
              </a:ext>
            </a:extLst>
          </p:cNvPr>
          <p:cNvSpPr>
            <a:spLocks noGrp="1"/>
          </p:cNvSpPr>
          <p:nvPr>
            <p:ph type="title"/>
          </p:nvPr>
        </p:nvSpPr>
        <p:spPr>
          <a:xfrm>
            <a:off x="791572" y="0"/>
            <a:ext cx="9810604" cy="1216024"/>
          </a:xfrm>
        </p:spPr>
        <p:txBody>
          <a:bodyPr>
            <a:normAutofit/>
          </a:bodyPr>
          <a:lstStyle/>
          <a:p>
            <a:pPr algn="ctr"/>
            <a:r>
              <a:rPr lang="en-US" sz="2400" b="1" dirty="0"/>
              <a:t>validation</a:t>
            </a:r>
          </a:p>
        </p:txBody>
      </p:sp>
      <p:sp>
        <p:nvSpPr>
          <p:cNvPr id="4" name="TextBox 3">
            <a:extLst>
              <a:ext uri="{FF2B5EF4-FFF2-40B4-BE49-F238E27FC236}">
                <a16:creationId xmlns:a16="http://schemas.microsoft.com/office/drawing/2014/main" id="{BFB68FF3-867C-CFED-EA00-60B0DCFED79B}"/>
              </a:ext>
            </a:extLst>
          </p:cNvPr>
          <p:cNvSpPr txBox="1"/>
          <p:nvPr/>
        </p:nvSpPr>
        <p:spPr>
          <a:xfrm>
            <a:off x="468572" y="1009936"/>
            <a:ext cx="11295797" cy="4640237"/>
          </a:xfrm>
          <a:prstGeom prst="rect">
            <a:avLst/>
          </a:prstGeom>
          <a:noFill/>
        </p:spPr>
        <p:txBody>
          <a:bodyPr wrap="square" rtlCol="0">
            <a:spAutoFit/>
          </a:bodyPr>
          <a:lstStyle/>
          <a:p>
            <a:r>
              <a:rPr lang="en-US" b="1" dirty="0"/>
              <a:t>Validation Summary </a:t>
            </a:r>
          </a:p>
          <a:p>
            <a:endParaRPr lang="en-US" b="1" dirty="0"/>
          </a:p>
          <a:p>
            <a:pPr marL="342900" indent="-342900">
              <a:buAutoNum type="arabicPeriod"/>
            </a:pPr>
            <a:r>
              <a:rPr lang="en-US" b="1" dirty="0"/>
              <a:t>Construct Validity</a:t>
            </a:r>
          </a:p>
          <a:p>
            <a:endParaRPr lang="en-US" b="1" dirty="0"/>
          </a:p>
          <a:p>
            <a:pPr marL="342900" indent="-342900">
              <a:buAutoNum type="arabicPeriod"/>
            </a:pPr>
            <a:endParaRPr lang="en-US" b="1" dirty="0"/>
          </a:p>
          <a:p>
            <a:r>
              <a:rPr lang="en-US" dirty="0"/>
              <a:t>Correlations between the three constructs:</a:t>
            </a:r>
          </a:p>
          <a:p>
            <a:pPr lvl="1"/>
            <a:r>
              <a:rPr lang="en-US" dirty="0"/>
              <a:t>Scarcity ↔ Urgency: </a:t>
            </a:r>
            <a:r>
              <a:rPr lang="en-US" b="1" dirty="0"/>
              <a:t>0.46</a:t>
            </a:r>
            <a:endParaRPr lang="en-US" dirty="0"/>
          </a:p>
          <a:p>
            <a:pPr lvl="1"/>
            <a:r>
              <a:rPr lang="en-US" dirty="0"/>
              <a:t>Scarcity ↔ Intention: </a:t>
            </a:r>
            <a:r>
              <a:rPr lang="en-US" b="1" dirty="0"/>
              <a:t>0.53</a:t>
            </a:r>
            <a:endParaRPr lang="en-US" dirty="0"/>
          </a:p>
          <a:p>
            <a:pPr lvl="1"/>
            <a:r>
              <a:rPr lang="en-US" dirty="0"/>
              <a:t>Urgency ↔ Intention: </a:t>
            </a:r>
            <a:r>
              <a:rPr lang="en-US" b="1" dirty="0"/>
              <a:t>0.67</a:t>
            </a:r>
            <a:endParaRPr lang="en-US" dirty="0"/>
          </a:p>
          <a:p>
            <a:r>
              <a:rPr lang="en-US" dirty="0"/>
              <a:t>Indicates </a:t>
            </a:r>
            <a:r>
              <a:rPr lang="en-US" b="1" dirty="0"/>
              <a:t>convergent validity</a:t>
            </a:r>
            <a:r>
              <a:rPr lang="en-US" dirty="0"/>
              <a:t> (constructs are related as expected).</a:t>
            </a:r>
          </a:p>
          <a:p>
            <a:r>
              <a:rPr lang="en-US" dirty="0"/>
              <a:t>Correlations &lt; 1 confirm </a:t>
            </a:r>
            <a:r>
              <a:rPr lang="en-US" b="1" dirty="0"/>
              <a:t>discriminant validity</a:t>
            </a:r>
            <a:r>
              <a:rPr lang="en-US" dirty="0"/>
              <a:t> (constructs remain distinct).</a:t>
            </a:r>
            <a:br>
              <a:rPr lang="en-US" dirty="0"/>
            </a:br>
            <a:endParaRPr lang="en-US" dirty="0"/>
          </a:p>
          <a:p>
            <a:r>
              <a:rPr lang="en-US" b="1" dirty="0"/>
              <a:t>2. Predictive Validity</a:t>
            </a:r>
          </a:p>
          <a:p>
            <a:r>
              <a:rPr lang="en-US" dirty="0"/>
              <a:t>Regression model R² = </a:t>
            </a:r>
            <a:r>
              <a:rPr lang="en-US" b="1" dirty="0"/>
              <a:t>0.56</a:t>
            </a:r>
            <a:endParaRPr lang="en-US" dirty="0"/>
          </a:p>
          <a:p>
            <a:r>
              <a:rPr lang="en-US" dirty="0"/>
              <a:t>Means </a:t>
            </a:r>
            <a:r>
              <a:rPr lang="en-US" b="1" dirty="0"/>
              <a:t>56% of Purchase Intention</a:t>
            </a:r>
            <a:r>
              <a:rPr lang="en-US" dirty="0"/>
              <a:t> is explained by (Scarcity + Urgency + demographics).</a:t>
            </a:r>
          </a:p>
          <a:p>
            <a:r>
              <a:rPr lang="en-US" dirty="0"/>
              <a:t>Indicates </a:t>
            </a:r>
            <a:r>
              <a:rPr lang="en-US" b="1" dirty="0"/>
              <a:t>moderate predictive power</a:t>
            </a:r>
            <a:r>
              <a:rPr lang="en-US" dirty="0"/>
              <a:t> and supports the model’s validity.</a:t>
            </a:r>
          </a:p>
        </p:txBody>
      </p:sp>
      <p:pic>
        <p:nvPicPr>
          <p:cNvPr id="6" name="Picture 5">
            <a:extLst>
              <a:ext uri="{FF2B5EF4-FFF2-40B4-BE49-F238E27FC236}">
                <a16:creationId xmlns:a16="http://schemas.microsoft.com/office/drawing/2014/main" id="{50E46C02-6FF2-7B61-C956-F8E2513C6CB5}"/>
              </a:ext>
            </a:extLst>
          </p:cNvPr>
          <p:cNvPicPr>
            <a:picLocks noChangeAspect="1"/>
          </p:cNvPicPr>
          <p:nvPr/>
        </p:nvPicPr>
        <p:blipFill>
          <a:blip r:embed="rId2"/>
          <a:stretch>
            <a:fillRect/>
          </a:stretch>
        </p:blipFill>
        <p:spPr>
          <a:xfrm>
            <a:off x="3734586" y="1009936"/>
            <a:ext cx="6992555" cy="1511230"/>
          </a:xfrm>
          <a:prstGeom prst="rect">
            <a:avLst/>
          </a:prstGeom>
        </p:spPr>
      </p:pic>
    </p:spTree>
    <p:extLst>
      <p:ext uri="{BB962C8B-B14F-4D97-AF65-F5344CB8AC3E}">
        <p14:creationId xmlns:p14="http://schemas.microsoft.com/office/powerpoint/2010/main" val="357599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BBA92F-2FE9-2D6F-E83A-BE7B3614DA05}"/>
              </a:ext>
            </a:extLst>
          </p:cNvPr>
          <p:cNvSpPr txBox="1"/>
          <p:nvPr/>
        </p:nvSpPr>
        <p:spPr>
          <a:xfrm>
            <a:off x="736979" y="464024"/>
            <a:ext cx="10522424" cy="3785652"/>
          </a:xfrm>
          <a:prstGeom prst="rect">
            <a:avLst/>
          </a:prstGeom>
          <a:noFill/>
        </p:spPr>
        <p:txBody>
          <a:bodyPr wrap="square" rtlCol="0">
            <a:spAutoFit/>
          </a:bodyPr>
          <a:lstStyle/>
          <a:p>
            <a:endParaRPr lang="en-US" dirty="0"/>
          </a:p>
          <a:p>
            <a:r>
              <a:rPr lang="en-US" b="1" dirty="0"/>
              <a:t>3. Group Comparison Validity (t-test)</a:t>
            </a:r>
          </a:p>
          <a:p>
            <a:r>
              <a:rPr lang="en-US" dirty="0"/>
              <a:t>Male Mean = </a:t>
            </a:r>
            <a:r>
              <a:rPr lang="en-US" b="1" dirty="0"/>
              <a:t>3.03</a:t>
            </a:r>
            <a:r>
              <a:rPr lang="en-US" dirty="0"/>
              <a:t>, Female Mean = </a:t>
            </a:r>
            <a:r>
              <a:rPr lang="en-US" b="1" dirty="0"/>
              <a:t>2.90</a:t>
            </a:r>
            <a:endParaRPr lang="en-US" dirty="0"/>
          </a:p>
          <a:p>
            <a:r>
              <a:rPr lang="en-US" dirty="0"/>
              <a:t>p-value = </a:t>
            </a:r>
            <a:r>
              <a:rPr lang="en-US" b="1" dirty="0"/>
              <a:t>0.479</a:t>
            </a:r>
            <a:r>
              <a:rPr lang="en-US" dirty="0"/>
              <a:t> → </a:t>
            </a:r>
            <a:r>
              <a:rPr lang="en-US" b="1" dirty="0"/>
              <a:t>No significant difference</a:t>
            </a:r>
            <a:endParaRPr lang="en-US" dirty="0"/>
          </a:p>
          <a:p>
            <a:r>
              <a:rPr lang="en-US" dirty="0"/>
              <a:t>Gender does not affect Intention → supports discriminant validity.</a:t>
            </a:r>
          </a:p>
          <a:p>
            <a:br>
              <a:rPr lang="en-US" dirty="0"/>
            </a:br>
            <a:endParaRPr lang="en-US" dirty="0"/>
          </a:p>
          <a:p>
            <a:r>
              <a:rPr lang="en-US" sz="2400" b="1" dirty="0"/>
              <a:t>Overall Conclusion</a:t>
            </a:r>
          </a:p>
          <a:p>
            <a:pPr marL="285750" indent="-285750">
              <a:buFont typeface="Arial" panose="020B0604020202020204" pitchFamily="34" charset="0"/>
              <a:buChar char="•"/>
            </a:pPr>
            <a:r>
              <a:rPr lang="en-US" dirty="0"/>
              <a:t>Constructs are </a:t>
            </a:r>
            <a:r>
              <a:rPr lang="en-US" b="1" dirty="0"/>
              <a:t>consistent, meaningful, and distinct</a:t>
            </a:r>
            <a:endParaRPr lang="en-US" dirty="0"/>
          </a:p>
          <a:p>
            <a:pPr marL="285750" indent="-285750">
              <a:buFont typeface="Arial" panose="020B0604020202020204" pitchFamily="34" charset="0"/>
              <a:buChar char="•"/>
            </a:pPr>
            <a:r>
              <a:rPr lang="en-US" dirty="0"/>
              <a:t>Model shows </a:t>
            </a:r>
            <a:r>
              <a:rPr lang="en-US" b="1" dirty="0"/>
              <a:t>solid predictive capability</a:t>
            </a:r>
            <a:endParaRPr lang="en-US" dirty="0"/>
          </a:p>
          <a:p>
            <a:pPr marL="285750" indent="-285750">
              <a:buFont typeface="Arial" panose="020B0604020202020204" pitchFamily="34" charset="0"/>
              <a:buChar char="•"/>
            </a:pPr>
            <a:r>
              <a:rPr lang="en-US" dirty="0"/>
              <a:t>Demographics do not distort results</a:t>
            </a:r>
            <a:br>
              <a:rPr lang="en-US" dirty="0"/>
            </a:br>
            <a:r>
              <a:rPr lang="en-US" dirty="0"/>
              <a:t>→ </a:t>
            </a:r>
            <a:r>
              <a:rPr lang="en-US" b="1" dirty="0"/>
              <a:t>The measurement model is reliable and valid.</a:t>
            </a:r>
            <a:endParaRPr lang="en-US" dirty="0"/>
          </a:p>
          <a:p>
            <a:endParaRPr lang="en-US" dirty="0"/>
          </a:p>
        </p:txBody>
      </p:sp>
      <p:graphicFrame>
        <p:nvGraphicFramePr>
          <p:cNvPr id="4" name="Table 3">
            <a:extLst>
              <a:ext uri="{FF2B5EF4-FFF2-40B4-BE49-F238E27FC236}">
                <a16:creationId xmlns:a16="http://schemas.microsoft.com/office/drawing/2014/main" id="{8A30F63F-AF48-0123-F81D-7E2AFC7F0DE5}"/>
              </a:ext>
            </a:extLst>
          </p:cNvPr>
          <p:cNvGraphicFramePr>
            <a:graphicFrameLocks noGrp="1"/>
          </p:cNvGraphicFramePr>
          <p:nvPr>
            <p:extLst>
              <p:ext uri="{D42A27DB-BD31-4B8C-83A1-F6EECF244321}">
                <p14:modId xmlns:p14="http://schemas.microsoft.com/office/powerpoint/2010/main" val="2348902716"/>
              </p:ext>
            </p:extLst>
          </p:nvPr>
        </p:nvGraphicFramePr>
        <p:xfrm>
          <a:off x="7165074" y="696036"/>
          <a:ext cx="3671248" cy="2023494"/>
        </p:xfrm>
        <a:graphic>
          <a:graphicData uri="http://schemas.openxmlformats.org/drawingml/2006/table">
            <a:tbl>
              <a:tblPr firstRow="1" bandRow="1">
                <a:tableStyleId>{5C22544A-7EE6-4342-B048-85BDC9FD1C3A}</a:tableStyleId>
              </a:tblPr>
              <a:tblGrid>
                <a:gridCol w="2047165">
                  <a:extLst>
                    <a:ext uri="{9D8B030D-6E8A-4147-A177-3AD203B41FA5}">
                      <a16:colId xmlns:a16="http://schemas.microsoft.com/office/drawing/2014/main" val="3607265310"/>
                    </a:ext>
                  </a:extLst>
                </a:gridCol>
                <a:gridCol w="1624083">
                  <a:extLst>
                    <a:ext uri="{9D8B030D-6E8A-4147-A177-3AD203B41FA5}">
                      <a16:colId xmlns:a16="http://schemas.microsoft.com/office/drawing/2014/main" val="3976082606"/>
                    </a:ext>
                  </a:extLst>
                </a:gridCol>
              </a:tblGrid>
              <a:tr h="371667">
                <a:tc>
                  <a:txBody>
                    <a:bodyPr/>
                    <a:lstStyle/>
                    <a:p>
                      <a:r>
                        <a:rPr lang="en-US" sz="1800" b="0" i="0" kern="1200" dirty="0">
                          <a:solidFill>
                            <a:schemeClr val="lt1"/>
                          </a:solidFill>
                          <a:effectLst/>
                          <a:latin typeface="+mn-lt"/>
                          <a:ea typeface="+mn-ea"/>
                          <a:cs typeface="+mn-cs"/>
                        </a:rPr>
                        <a:t>Mean Intention Score (Male)</a:t>
                      </a:r>
                      <a:endParaRPr lang="en-US" dirty="0"/>
                    </a:p>
                  </a:txBody>
                  <a:tcPr/>
                </a:tc>
                <a:tc>
                  <a:txBody>
                    <a:bodyPr/>
                    <a:lstStyle/>
                    <a:p>
                      <a:r>
                        <a:rPr lang="en-US" sz="1800" b="0" i="0" kern="1200" dirty="0">
                          <a:solidFill>
                            <a:schemeClr val="lt1"/>
                          </a:solidFill>
                          <a:effectLst/>
                          <a:latin typeface="+mn-lt"/>
                          <a:ea typeface="+mn-ea"/>
                          <a:cs typeface="+mn-cs"/>
                        </a:rPr>
                        <a:t>3.03</a:t>
                      </a:r>
                      <a:endParaRPr lang="en-US" dirty="0"/>
                    </a:p>
                  </a:txBody>
                  <a:tcPr/>
                </a:tc>
                <a:extLst>
                  <a:ext uri="{0D108BD9-81ED-4DB2-BD59-A6C34878D82A}">
                    <a16:rowId xmlns:a16="http://schemas.microsoft.com/office/drawing/2014/main" val="3396806447"/>
                  </a:ext>
                </a:extLst>
              </a:tr>
              <a:tr h="371667">
                <a:tc>
                  <a:txBody>
                    <a:bodyPr/>
                    <a:lstStyle/>
                    <a:p>
                      <a:r>
                        <a:rPr lang="en-US" sz="1800" b="0" i="0" kern="1200" dirty="0">
                          <a:solidFill>
                            <a:schemeClr val="dk1"/>
                          </a:solidFill>
                          <a:effectLst/>
                          <a:latin typeface="+mn-lt"/>
                          <a:ea typeface="+mn-ea"/>
                          <a:cs typeface="+mn-cs"/>
                        </a:rPr>
                        <a:t>Mean Intention Score (Female)</a:t>
                      </a:r>
                      <a:endParaRPr lang="en-US" dirty="0"/>
                    </a:p>
                  </a:txBody>
                  <a:tcPr/>
                </a:tc>
                <a:tc>
                  <a:txBody>
                    <a:bodyPr/>
                    <a:lstStyle/>
                    <a:p>
                      <a:r>
                        <a:rPr lang="en-US" sz="1800" b="0" i="0" kern="1200" dirty="0">
                          <a:solidFill>
                            <a:schemeClr val="dk1"/>
                          </a:solidFill>
                          <a:effectLst/>
                          <a:latin typeface="+mn-lt"/>
                          <a:ea typeface="+mn-ea"/>
                          <a:cs typeface="+mn-cs"/>
                        </a:rPr>
                        <a:t>2.90</a:t>
                      </a:r>
                      <a:endParaRPr lang="en-US" dirty="0"/>
                    </a:p>
                  </a:txBody>
                  <a:tcPr/>
                </a:tc>
                <a:extLst>
                  <a:ext uri="{0D108BD9-81ED-4DB2-BD59-A6C34878D82A}">
                    <a16:rowId xmlns:a16="http://schemas.microsoft.com/office/drawing/2014/main" val="2325424917"/>
                  </a:ext>
                </a:extLst>
              </a:tr>
              <a:tr h="371667">
                <a:tc>
                  <a:txBody>
                    <a:bodyPr/>
                    <a:lstStyle/>
                    <a:p>
                      <a:r>
                        <a:rPr lang="en-US" sz="1800" b="0" i="0" kern="1200" dirty="0">
                          <a:solidFill>
                            <a:schemeClr val="dk1"/>
                          </a:solidFill>
                          <a:effectLst/>
                          <a:latin typeface="+mn-lt"/>
                          <a:ea typeface="+mn-ea"/>
                          <a:cs typeface="+mn-cs"/>
                        </a:rPr>
                        <a:t>T-statistic</a:t>
                      </a:r>
                      <a:endParaRPr lang="en-US" dirty="0"/>
                    </a:p>
                  </a:txBody>
                  <a:tcPr/>
                </a:tc>
                <a:tc>
                  <a:txBody>
                    <a:bodyPr/>
                    <a:lstStyle/>
                    <a:p>
                      <a:r>
                        <a:rPr lang="en-US" sz="1800" b="0" i="0" kern="1200" dirty="0">
                          <a:solidFill>
                            <a:schemeClr val="dk1"/>
                          </a:solidFill>
                          <a:effectLst/>
                          <a:latin typeface="+mn-lt"/>
                          <a:ea typeface="+mn-ea"/>
                          <a:cs typeface="+mn-cs"/>
                        </a:rPr>
                        <a:t>0.71</a:t>
                      </a:r>
                      <a:endParaRPr lang="en-US" dirty="0"/>
                    </a:p>
                  </a:txBody>
                  <a:tcPr/>
                </a:tc>
                <a:extLst>
                  <a:ext uri="{0D108BD9-81ED-4DB2-BD59-A6C34878D82A}">
                    <a16:rowId xmlns:a16="http://schemas.microsoft.com/office/drawing/2014/main" val="4090558311"/>
                  </a:ext>
                </a:extLst>
              </a:tr>
              <a:tr h="371667">
                <a:tc>
                  <a:txBody>
                    <a:bodyPr/>
                    <a:lstStyle/>
                    <a:p>
                      <a:r>
                        <a:rPr lang="en-US" sz="1800" b="0" i="0" kern="1200" dirty="0">
                          <a:solidFill>
                            <a:schemeClr val="dk1"/>
                          </a:solidFill>
                          <a:effectLst/>
                          <a:latin typeface="+mn-lt"/>
                          <a:ea typeface="+mn-ea"/>
                          <a:cs typeface="+mn-cs"/>
                        </a:rPr>
                        <a:t>P-value</a:t>
                      </a:r>
                      <a:endParaRPr lang="en-US" dirty="0"/>
                    </a:p>
                  </a:txBody>
                  <a:tcPr/>
                </a:tc>
                <a:tc>
                  <a:txBody>
                    <a:bodyPr/>
                    <a:lstStyle/>
                    <a:p>
                      <a:r>
                        <a:rPr lang="en-US" sz="1800" b="0" i="0" kern="1200" dirty="0">
                          <a:solidFill>
                            <a:schemeClr val="dk1"/>
                          </a:solidFill>
                          <a:effectLst/>
                          <a:latin typeface="+mn-lt"/>
                          <a:ea typeface="+mn-ea"/>
                          <a:cs typeface="+mn-cs"/>
                        </a:rPr>
                        <a:t>0.479</a:t>
                      </a:r>
                      <a:endParaRPr lang="en-US" dirty="0"/>
                    </a:p>
                  </a:txBody>
                  <a:tcPr/>
                </a:tc>
                <a:extLst>
                  <a:ext uri="{0D108BD9-81ED-4DB2-BD59-A6C34878D82A}">
                    <a16:rowId xmlns:a16="http://schemas.microsoft.com/office/drawing/2014/main" val="257286127"/>
                  </a:ext>
                </a:extLst>
              </a:tr>
            </a:tbl>
          </a:graphicData>
        </a:graphic>
      </p:graphicFrame>
    </p:spTree>
    <p:extLst>
      <p:ext uri="{BB962C8B-B14F-4D97-AF65-F5344CB8AC3E}">
        <p14:creationId xmlns:p14="http://schemas.microsoft.com/office/powerpoint/2010/main" val="3966873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85728FE-9E1A-49C5-C7E0-F4B4B90A4C4C}"/>
              </a:ext>
            </a:extLst>
          </p:cNvPr>
          <p:cNvSpPr>
            <a:spLocks noGrp="1"/>
          </p:cNvSpPr>
          <p:nvPr>
            <p:ph type="title"/>
          </p:nvPr>
        </p:nvSpPr>
        <p:spPr>
          <a:xfrm>
            <a:off x="791572" y="0"/>
            <a:ext cx="9810604" cy="1216024"/>
          </a:xfrm>
        </p:spPr>
        <p:txBody>
          <a:bodyPr>
            <a:normAutofit/>
          </a:bodyPr>
          <a:lstStyle/>
          <a:p>
            <a:pPr algn="ctr"/>
            <a:r>
              <a:rPr lang="en-US" sz="2400" b="1" dirty="0"/>
              <a:t>ANOVA</a:t>
            </a:r>
          </a:p>
        </p:txBody>
      </p:sp>
      <p:sp>
        <p:nvSpPr>
          <p:cNvPr id="6" name="TextBox 5">
            <a:extLst>
              <a:ext uri="{FF2B5EF4-FFF2-40B4-BE49-F238E27FC236}">
                <a16:creationId xmlns:a16="http://schemas.microsoft.com/office/drawing/2014/main" id="{E4F49F11-FF25-B202-CF48-C7AF89455B77}"/>
              </a:ext>
            </a:extLst>
          </p:cNvPr>
          <p:cNvSpPr txBox="1"/>
          <p:nvPr/>
        </p:nvSpPr>
        <p:spPr>
          <a:xfrm>
            <a:off x="791572" y="1216024"/>
            <a:ext cx="10877264" cy="4801314"/>
          </a:xfrm>
          <a:prstGeom prst="rect">
            <a:avLst/>
          </a:prstGeom>
          <a:noFill/>
        </p:spPr>
        <p:txBody>
          <a:bodyPr wrap="square" rtlCol="0">
            <a:spAutoFit/>
          </a:bodyPr>
          <a:lstStyle/>
          <a:p>
            <a:r>
              <a:rPr lang="en-US" dirty="0"/>
              <a:t>A one-way ANOVA test was conducted to determine whether </a:t>
            </a:r>
            <a:r>
              <a:rPr lang="en-US" b="1" dirty="0"/>
              <a:t>Purchase Intention</a:t>
            </a:r>
            <a:r>
              <a:rPr lang="en-US" dirty="0"/>
              <a:t> differs significantly across different </a:t>
            </a:r>
            <a:r>
              <a:rPr lang="en-US" b="1" dirty="0"/>
              <a:t>education levels</a:t>
            </a:r>
            <a:r>
              <a:rPr lang="en-US" dirty="0"/>
              <a:t>.</a:t>
            </a:r>
          </a:p>
          <a:p>
            <a:r>
              <a:rPr lang="en-US" b="1" dirty="0"/>
              <a:t>Results</a:t>
            </a:r>
            <a:endParaRPr lang="ar-EG" b="1" dirty="0"/>
          </a:p>
          <a:p>
            <a:endParaRPr lang="ar-EG" b="1" dirty="0"/>
          </a:p>
          <a:p>
            <a:endParaRPr lang="ar-EG" b="1" dirty="0"/>
          </a:p>
          <a:p>
            <a:endParaRPr lang="ar-EG" b="1" dirty="0"/>
          </a:p>
          <a:p>
            <a:endParaRPr lang="ar-EG" b="1" dirty="0"/>
          </a:p>
          <a:p>
            <a:endParaRPr lang="en-US" b="1" dirty="0"/>
          </a:p>
          <a:p>
            <a:r>
              <a:rPr lang="en-US" b="1" dirty="0"/>
              <a:t>Mean Intention Score by Education Level</a:t>
            </a:r>
            <a:endParaRPr lang="ar-EG" b="1" dirty="0"/>
          </a:p>
          <a:p>
            <a:endParaRPr lang="ar-EG" b="1" dirty="0"/>
          </a:p>
          <a:p>
            <a:endParaRPr lang="ar-EG" b="1" dirty="0"/>
          </a:p>
          <a:p>
            <a:endParaRPr lang="en-US" b="1" dirty="0"/>
          </a:p>
          <a:p>
            <a:r>
              <a:rPr lang="en-US" b="1" dirty="0"/>
              <a:t>Interpretation</a:t>
            </a:r>
          </a:p>
          <a:p>
            <a:r>
              <a:rPr lang="en-US" dirty="0"/>
              <a:t>Since the p-value is </a:t>
            </a:r>
            <a:r>
              <a:rPr lang="en-US" b="1" dirty="0"/>
              <a:t>greater than 0.05</a:t>
            </a:r>
            <a:r>
              <a:rPr lang="en-US" dirty="0"/>
              <a:t>, there is </a:t>
            </a:r>
            <a:r>
              <a:rPr lang="en-US" b="1" dirty="0"/>
              <a:t>no statistically significant difference</a:t>
            </a:r>
            <a:r>
              <a:rPr lang="en-US" dirty="0"/>
              <a:t> in Purchase Intention between the different education groups.</a:t>
            </a:r>
            <a:br>
              <a:rPr lang="en-US" dirty="0"/>
            </a:br>
            <a:r>
              <a:rPr lang="en-US" dirty="0"/>
              <a:t>This indicates that </a:t>
            </a:r>
            <a:r>
              <a:rPr lang="en-US" b="1" dirty="0"/>
              <a:t>education level does not influence</a:t>
            </a:r>
            <a:r>
              <a:rPr lang="en-US" dirty="0"/>
              <a:t> how participants respond to scarcity or urgency messaging in real estate.</a:t>
            </a:r>
          </a:p>
        </p:txBody>
      </p:sp>
      <p:graphicFrame>
        <p:nvGraphicFramePr>
          <p:cNvPr id="7" name="Table 6">
            <a:extLst>
              <a:ext uri="{FF2B5EF4-FFF2-40B4-BE49-F238E27FC236}">
                <a16:creationId xmlns:a16="http://schemas.microsoft.com/office/drawing/2014/main" id="{A8C028B5-6E5E-9982-F7CF-DCF4D6DBC4C5}"/>
              </a:ext>
            </a:extLst>
          </p:cNvPr>
          <p:cNvGraphicFramePr>
            <a:graphicFrameLocks noGrp="1"/>
          </p:cNvGraphicFramePr>
          <p:nvPr>
            <p:extLst>
              <p:ext uri="{D42A27DB-BD31-4B8C-83A1-F6EECF244321}">
                <p14:modId xmlns:p14="http://schemas.microsoft.com/office/powerpoint/2010/main" val="57897902"/>
              </p:ext>
            </p:extLst>
          </p:nvPr>
        </p:nvGraphicFramePr>
        <p:xfrm>
          <a:off x="1578591" y="2170836"/>
          <a:ext cx="3549934" cy="731520"/>
        </p:xfrm>
        <a:graphic>
          <a:graphicData uri="http://schemas.openxmlformats.org/drawingml/2006/table">
            <a:tbl>
              <a:tblPr firstRow="1" bandRow="1">
                <a:tableStyleId>{5C22544A-7EE6-4342-B048-85BDC9FD1C3A}</a:tableStyleId>
              </a:tblPr>
              <a:tblGrid>
                <a:gridCol w="1774967">
                  <a:extLst>
                    <a:ext uri="{9D8B030D-6E8A-4147-A177-3AD203B41FA5}">
                      <a16:colId xmlns:a16="http://schemas.microsoft.com/office/drawing/2014/main" val="2660010218"/>
                    </a:ext>
                  </a:extLst>
                </a:gridCol>
                <a:gridCol w="1774967">
                  <a:extLst>
                    <a:ext uri="{9D8B030D-6E8A-4147-A177-3AD203B41FA5}">
                      <a16:colId xmlns:a16="http://schemas.microsoft.com/office/drawing/2014/main" val="3806800318"/>
                    </a:ext>
                  </a:extLst>
                </a:gridCol>
              </a:tblGrid>
              <a:tr h="140831">
                <a:tc>
                  <a:txBody>
                    <a:bodyPr/>
                    <a:lstStyle/>
                    <a:p>
                      <a:r>
                        <a:rPr lang="en-US" b="1" dirty="0"/>
                        <a:t>F-statistic</a:t>
                      </a:r>
                      <a:endParaRPr lang="en-US" dirty="0"/>
                    </a:p>
                  </a:txBody>
                  <a:tcPr/>
                </a:tc>
                <a:tc>
                  <a:txBody>
                    <a:bodyPr/>
                    <a:lstStyle/>
                    <a:p>
                      <a:r>
                        <a:rPr lang="en-US" dirty="0"/>
                        <a:t>0.07</a:t>
                      </a:r>
                    </a:p>
                  </a:txBody>
                  <a:tcPr/>
                </a:tc>
                <a:extLst>
                  <a:ext uri="{0D108BD9-81ED-4DB2-BD59-A6C34878D82A}">
                    <a16:rowId xmlns:a16="http://schemas.microsoft.com/office/drawing/2014/main" val="3157347437"/>
                  </a:ext>
                </a:extLst>
              </a:tr>
              <a:tr h="354268">
                <a:tc>
                  <a:txBody>
                    <a:bodyPr/>
                    <a:lstStyle/>
                    <a:p>
                      <a:r>
                        <a:rPr lang="en-US" b="1" dirty="0"/>
                        <a:t>p-value</a:t>
                      </a:r>
                      <a:endParaRPr lang="en-US" dirty="0"/>
                    </a:p>
                  </a:txBody>
                  <a:tcPr/>
                </a:tc>
                <a:tc>
                  <a:txBody>
                    <a:bodyPr/>
                    <a:lstStyle/>
                    <a:p>
                      <a:r>
                        <a:rPr lang="en-US" dirty="0"/>
                        <a:t>0.787</a:t>
                      </a:r>
                    </a:p>
                  </a:txBody>
                  <a:tcPr/>
                </a:tc>
                <a:extLst>
                  <a:ext uri="{0D108BD9-81ED-4DB2-BD59-A6C34878D82A}">
                    <a16:rowId xmlns:a16="http://schemas.microsoft.com/office/drawing/2014/main" val="1050922925"/>
                  </a:ext>
                </a:extLst>
              </a:tr>
            </a:tbl>
          </a:graphicData>
        </a:graphic>
      </p:graphicFrame>
      <p:graphicFrame>
        <p:nvGraphicFramePr>
          <p:cNvPr id="8" name="Table 7">
            <a:extLst>
              <a:ext uri="{FF2B5EF4-FFF2-40B4-BE49-F238E27FC236}">
                <a16:creationId xmlns:a16="http://schemas.microsoft.com/office/drawing/2014/main" id="{C7E6D522-069A-A3A2-1EE4-80595153A8CA}"/>
              </a:ext>
            </a:extLst>
          </p:cNvPr>
          <p:cNvGraphicFramePr>
            <a:graphicFrameLocks noGrp="1"/>
          </p:cNvGraphicFramePr>
          <p:nvPr>
            <p:extLst>
              <p:ext uri="{D42A27DB-BD31-4B8C-83A1-F6EECF244321}">
                <p14:modId xmlns:p14="http://schemas.microsoft.com/office/powerpoint/2010/main" val="3894040917"/>
              </p:ext>
            </p:extLst>
          </p:nvPr>
        </p:nvGraphicFramePr>
        <p:xfrm>
          <a:off x="1578591" y="3752620"/>
          <a:ext cx="3549934" cy="731520"/>
        </p:xfrm>
        <a:graphic>
          <a:graphicData uri="http://schemas.openxmlformats.org/drawingml/2006/table">
            <a:tbl>
              <a:tblPr firstRow="1" bandRow="1">
                <a:tableStyleId>{5C22544A-7EE6-4342-B048-85BDC9FD1C3A}</a:tableStyleId>
              </a:tblPr>
              <a:tblGrid>
                <a:gridCol w="1774967">
                  <a:extLst>
                    <a:ext uri="{9D8B030D-6E8A-4147-A177-3AD203B41FA5}">
                      <a16:colId xmlns:a16="http://schemas.microsoft.com/office/drawing/2014/main" val="706546685"/>
                    </a:ext>
                  </a:extLst>
                </a:gridCol>
                <a:gridCol w="1774967">
                  <a:extLst>
                    <a:ext uri="{9D8B030D-6E8A-4147-A177-3AD203B41FA5}">
                      <a16:colId xmlns:a16="http://schemas.microsoft.com/office/drawing/2014/main" val="1702090160"/>
                    </a:ext>
                  </a:extLst>
                </a:gridCol>
              </a:tblGrid>
              <a:tr h="302084">
                <a:tc>
                  <a:txBody>
                    <a:bodyPr/>
                    <a:lstStyle/>
                    <a:p>
                      <a:r>
                        <a:rPr lang="en-US" b="1" dirty="0"/>
                        <a:t>Bachelor’s Degree</a:t>
                      </a:r>
                      <a:endParaRPr lang="en-US" dirty="0"/>
                    </a:p>
                  </a:txBody>
                  <a:tcPr/>
                </a:tc>
                <a:tc>
                  <a:txBody>
                    <a:bodyPr/>
                    <a:lstStyle/>
                    <a:p>
                      <a:r>
                        <a:rPr lang="en-US" dirty="0"/>
                        <a:t>3.02</a:t>
                      </a:r>
                    </a:p>
                  </a:txBody>
                  <a:tcPr/>
                </a:tc>
                <a:extLst>
                  <a:ext uri="{0D108BD9-81ED-4DB2-BD59-A6C34878D82A}">
                    <a16:rowId xmlns:a16="http://schemas.microsoft.com/office/drawing/2014/main" val="4244353353"/>
                  </a:ext>
                </a:extLst>
              </a:tr>
              <a:tr h="302084">
                <a:tc>
                  <a:txBody>
                    <a:bodyPr/>
                    <a:lstStyle/>
                    <a:p>
                      <a:r>
                        <a:rPr lang="en-US" b="1" dirty="0"/>
                        <a:t>Master’s Degree</a:t>
                      </a:r>
                      <a:endParaRPr lang="en-US" dirty="0"/>
                    </a:p>
                  </a:txBody>
                  <a:tcPr/>
                </a:tc>
                <a:tc>
                  <a:txBody>
                    <a:bodyPr/>
                    <a:lstStyle/>
                    <a:p>
                      <a:r>
                        <a:rPr lang="en-US" dirty="0"/>
                        <a:t>2.90</a:t>
                      </a:r>
                    </a:p>
                  </a:txBody>
                  <a:tcPr/>
                </a:tc>
                <a:extLst>
                  <a:ext uri="{0D108BD9-81ED-4DB2-BD59-A6C34878D82A}">
                    <a16:rowId xmlns:a16="http://schemas.microsoft.com/office/drawing/2014/main" val="2996143804"/>
                  </a:ext>
                </a:extLst>
              </a:tr>
            </a:tbl>
          </a:graphicData>
        </a:graphic>
      </p:graphicFrame>
    </p:spTree>
    <p:extLst>
      <p:ext uri="{BB962C8B-B14F-4D97-AF65-F5344CB8AC3E}">
        <p14:creationId xmlns:p14="http://schemas.microsoft.com/office/powerpoint/2010/main" val="1442254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0BD05-8C91-1379-E07B-DDD9F4BD2D86}"/>
              </a:ext>
            </a:extLst>
          </p:cNvPr>
          <p:cNvSpPr>
            <a:spLocks noGrp="1"/>
          </p:cNvSpPr>
          <p:nvPr>
            <p:ph type="title"/>
          </p:nvPr>
        </p:nvSpPr>
        <p:spPr/>
        <p:txBody>
          <a:bodyPr>
            <a:normAutofit/>
          </a:bodyPr>
          <a:lstStyle/>
          <a:p>
            <a:pPr algn="ctr"/>
            <a:r>
              <a:rPr lang="en-US" sz="2400" b="1" dirty="0"/>
              <a:t>Visualizations</a:t>
            </a:r>
          </a:p>
        </p:txBody>
      </p:sp>
      <p:pic>
        <p:nvPicPr>
          <p:cNvPr id="7" name="Content Placeholder 6" descr="A graph with different colored squares&#10;&#10;AI-generated content may be incorrect.">
            <a:extLst>
              <a:ext uri="{FF2B5EF4-FFF2-40B4-BE49-F238E27FC236}">
                <a16:creationId xmlns:a16="http://schemas.microsoft.com/office/drawing/2014/main" id="{9E3254D9-3313-E5AB-884A-B32970C964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68153" y="1635711"/>
            <a:ext cx="6472968" cy="5222289"/>
          </a:xfrm>
        </p:spPr>
      </p:pic>
      <p:sp>
        <p:nvSpPr>
          <p:cNvPr id="8" name="TextBox 7">
            <a:extLst>
              <a:ext uri="{FF2B5EF4-FFF2-40B4-BE49-F238E27FC236}">
                <a16:creationId xmlns:a16="http://schemas.microsoft.com/office/drawing/2014/main" id="{29F768E0-3A41-22A0-2B3E-9383F4E3E8EE}"/>
              </a:ext>
            </a:extLst>
          </p:cNvPr>
          <p:cNvSpPr txBox="1"/>
          <p:nvPr/>
        </p:nvSpPr>
        <p:spPr>
          <a:xfrm>
            <a:off x="656216" y="2264433"/>
            <a:ext cx="3302598" cy="3970318"/>
          </a:xfrm>
          <a:prstGeom prst="rect">
            <a:avLst/>
          </a:prstGeom>
          <a:noFill/>
        </p:spPr>
        <p:txBody>
          <a:bodyPr wrap="square" rtlCol="0">
            <a:spAutoFit/>
          </a:bodyPr>
          <a:lstStyle/>
          <a:p>
            <a:r>
              <a:rPr lang="en-US" dirty="0"/>
              <a:t>This bar chart presents the Cronbach’s Alpha values for the Scarcity, Urgency, and Intention constructs. Each bar reflects the internal consistency of the items within each scale. Since all values are above the recommended cutoff of 0.70, the results demonstrate that the survey items reliably measure their intended psychological constructs. The chart also includes a threshold line at α = 0.70 to visually confirm acceptable reliability.</a:t>
            </a:r>
          </a:p>
        </p:txBody>
      </p:sp>
    </p:spTree>
    <p:extLst>
      <p:ext uri="{BB962C8B-B14F-4D97-AF65-F5344CB8AC3E}">
        <p14:creationId xmlns:p14="http://schemas.microsoft.com/office/powerpoint/2010/main" val="3882453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bar chart&#10;&#10;AI-generated content may be incorrect.">
            <a:extLst>
              <a:ext uri="{FF2B5EF4-FFF2-40B4-BE49-F238E27FC236}">
                <a16:creationId xmlns:a16="http://schemas.microsoft.com/office/drawing/2014/main" id="{AF0ED2E7-8D3D-31BF-F517-D19ECEE30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9787" y="1848467"/>
            <a:ext cx="9532426" cy="5009533"/>
          </a:xfrm>
          <a:prstGeom prst="rect">
            <a:avLst/>
          </a:prstGeom>
        </p:spPr>
      </p:pic>
      <p:sp>
        <p:nvSpPr>
          <p:cNvPr id="6" name="TextBox 5">
            <a:extLst>
              <a:ext uri="{FF2B5EF4-FFF2-40B4-BE49-F238E27FC236}">
                <a16:creationId xmlns:a16="http://schemas.microsoft.com/office/drawing/2014/main" id="{99E9D3E3-1FAB-DB0D-8B16-FBA171264129}"/>
              </a:ext>
            </a:extLst>
          </p:cNvPr>
          <p:cNvSpPr txBox="1"/>
          <p:nvPr/>
        </p:nvSpPr>
        <p:spPr>
          <a:xfrm>
            <a:off x="1329787" y="247426"/>
            <a:ext cx="9868924" cy="1477328"/>
          </a:xfrm>
          <a:prstGeom prst="rect">
            <a:avLst/>
          </a:prstGeom>
          <a:noFill/>
        </p:spPr>
        <p:txBody>
          <a:bodyPr wrap="square" rtlCol="0">
            <a:spAutoFit/>
          </a:bodyPr>
          <a:lstStyle/>
          <a:p>
            <a:r>
              <a:rPr lang="en-US"/>
              <a:t>This stacked bar chart visualizes how respondents answered each Likert-scale question within the Scarcity, Urgency, and Intention dimensions. Each bar represents a question, broken into colored segments corresponding to responses from 1 (strongly disagree) to 5 (strongly agree). The distribution makes it easy to compare response patterns across questions and identify items with higher levels of agreement or perceived intensity. This visualization helps assess how participants interpreted each construct.</a:t>
            </a:r>
            <a:endParaRPr lang="en-US" dirty="0"/>
          </a:p>
        </p:txBody>
      </p:sp>
    </p:spTree>
    <p:extLst>
      <p:ext uri="{BB962C8B-B14F-4D97-AF65-F5344CB8AC3E}">
        <p14:creationId xmlns:p14="http://schemas.microsoft.com/office/powerpoint/2010/main" val="642768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number of age&#10;&#10;AI-generated content may be incorrect.">
            <a:extLst>
              <a:ext uri="{FF2B5EF4-FFF2-40B4-BE49-F238E27FC236}">
                <a16:creationId xmlns:a16="http://schemas.microsoft.com/office/drawing/2014/main" id="{1BA3DA48-13A5-F256-78B5-2E9672AF9A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8615" y="628109"/>
            <a:ext cx="8612610" cy="5601781"/>
          </a:xfrm>
          <a:prstGeom prst="rect">
            <a:avLst/>
          </a:prstGeom>
        </p:spPr>
      </p:pic>
      <p:sp>
        <p:nvSpPr>
          <p:cNvPr id="6" name="TextBox 5">
            <a:extLst>
              <a:ext uri="{FF2B5EF4-FFF2-40B4-BE49-F238E27FC236}">
                <a16:creationId xmlns:a16="http://schemas.microsoft.com/office/drawing/2014/main" id="{E5D75085-FB26-0A2A-1413-8CF168529F70}"/>
              </a:ext>
            </a:extLst>
          </p:cNvPr>
          <p:cNvSpPr txBox="1"/>
          <p:nvPr/>
        </p:nvSpPr>
        <p:spPr>
          <a:xfrm>
            <a:off x="355002" y="1582339"/>
            <a:ext cx="2657139" cy="3693319"/>
          </a:xfrm>
          <a:prstGeom prst="rect">
            <a:avLst/>
          </a:prstGeom>
          <a:noFill/>
        </p:spPr>
        <p:txBody>
          <a:bodyPr wrap="square" rtlCol="0">
            <a:spAutoFit/>
          </a:bodyPr>
          <a:lstStyle/>
          <a:p>
            <a:r>
              <a:rPr lang="en-US" dirty="0"/>
              <a:t>This histogram illustrates the frequency of respondents across various age groups. The distribution helps identify which age ranges are most represented in the dataset. The kernel density curve (KDE) provides a smooth overview of the age trend, highlighting the central tendency and spread of participants’ ages.</a:t>
            </a:r>
          </a:p>
        </p:txBody>
      </p:sp>
    </p:spTree>
    <p:extLst>
      <p:ext uri="{BB962C8B-B14F-4D97-AF65-F5344CB8AC3E}">
        <p14:creationId xmlns:p14="http://schemas.microsoft.com/office/powerpoint/2010/main" val="2748395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a bar and a number of bars&#10;&#10;AI-generated content may be incorrect.">
            <a:extLst>
              <a:ext uri="{FF2B5EF4-FFF2-40B4-BE49-F238E27FC236}">
                <a16:creationId xmlns:a16="http://schemas.microsoft.com/office/drawing/2014/main" id="{2A7BB593-D035-F56D-4A3B-52C34188C2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3674" y="548635"/>
            <a:ext cx="8168836" cy="6212546"/>
          </a:xfrm>
          <a:prstGeom prst="rect">
            <a:avLst/>
          </a:prstGeom>
        </p:spPr>
      </p:pic>
      <p:sp>
        <p:nvSpPr>
          <p:cNvPr id="6" name="TextBox 5">
            <a:extLst>
              <a:ext uri="{FF2B5EF4-FFF2-40B4-BE49-F238E27FC236}">
                <a16:creationId xmlns:a16="http://schemas.microsoft.com/office/drawing/2014/main" id="{B3466037-A92C-FD9C-B360-8B86514C54EF}"/>
              </a:ext>
            </a:extLst>
          </p:cNvPr>
          <p:cNvSpPr txBox="1"/>
          <p:nvPr/>
        </p:nvSpPr>
        <p:spPr>
          <a:xfrm>
            <a:off x="802966" y="1592133"/>
            <a:ext cx="2528047" cy="3970318"/>
          </a:xfrm>
          <a:prstGeom prst="rect">
            <a:avLst/>
          </a:prstGeom>
          <a:noFill/>
        </p:spPr>
        <p:txBody>
          <a:bodyPr wrap="square" rtlCol="0">
            <a:spAutoFit/>
          </a:bodyPr>
          <a:lstStyle/>
          <a:p>
            <a:r>
              <a:rPr lang="en-US" dirty="0"/>
              <a:t>This bar chart illustrates the frequency of male and female participants in the dataset. The visualization shows the proportion of each gender, making it easy to identify which group is more represented in the sample. This information is important for understanding the demographic balance of the respondents.</a:t>
            </a:r>
          </a:p>
        </p:txBody>
      </p:sp>
    </p:spTree>
    <p:extLst>
      <p:ext uri="{BB962C8B-B14F-4D97-AF65-F5344CB8AC3E}">
        <p14:creationId xmlns:p14="http://schemas.microsoft.com/office/powerpoint/2010/main" val="3097326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box&#10;&#10;AI-generated content may be incorrect.">
            <a:extLst>
              <a:ext uri="{FF2B5EF4-FFF2-40B4-BE49-F238E27FC236}">
                <a16:creationId xmlns:a16="http://schemas.microsoft.com/office/drawing/2014/main" id="{B6D3D6F8-93FC-022F-3F69-15C59E62A1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52451" y="631527"/>
            <a:ext cx="7716819" cy="5758516"/>
          </a:xfrm>
        </p:spPr>
      </p:pic>
      <p:sp>
        <p:nvSpPr>
          <p:cNvPr id="6" name="TextBox 5">
            <a:extLst>
              <a:ext uri="{FF2B5EF4-FFF2-40B4-BE49-F238E27FC236}">
                <a16:creationId xmlns:a16="http://schemas.microsoft.com/office/drawing/2014/main" id="{C21A1748-14DE-93EF-92F1-793DFCCCF8B6}"/>
              </a:ext>
            </a:extLst>
          </p:cNvPr>
          <p:cNvSpPr txBox="1"/>
          <p:nvPr/>
        </p:nvSpPr>
        <p:spPr>
          <a:xfrm>
            <a:off x="322729" y="742278"/>
            <a:ext cx="2291379" cy="5669280"/>
          </a:xfrm>
          <a:prstGeom prst="rect">
            <a:avLst/>
          </a:prstGeom>
          <a:noFill/>
        </p:spPr>
        <p:txBody>
          <a:bodyPr wrap="square" rtlCol="0">
            <a:spAutoFit/>
          </a:bodyPr>
          <a:lstStyle/>
          <a:p>
            <a:endParaRPr lang="en-US" dirty="0"/>
          </a:p>
        </p:txBody>
      </p:sp>
      <p:sp>
        <p:nvSpPr>
          <p:cNvPr id="7" name="TextBox 6">
            <a:extLst>
              <a:ext uri="{FF2B5EF4-FFF2-40B4-BE49-F238E27FC236}">
                <a16:creationId xmlns:a16="http://schemas.microsoft.com/office/drawing/2014/main" id="{5CB66A82-8369-93BA-2F52-37F846B9930A}"/>
              </a:ext>
            </a:extLst>
          </p:cNvPr>
          <p:cNvSpPr txBox="1"/>
          <p:nvPr/>
        </p:nvSpPr>
        <p:spPr>
          <a:xfrm>
            <a:off x="322729" y="645459"/>
            <a:ext cx="3732904" cy="5909310"/>
          </a:xfrm>
          <a:prstGeom prst="rect">
            <a:avLst/>
          </a:prstGeom>
          <a:noFill/>
        </p:spPr>
        <p:txBody>
          <a:bodyPr wrap="square" rtlCol="0">
            <a:spAutoFit/>
          </a:bodyPr>
          <a:lstStyle/>
          <a:p>
            <a:r>
              <a:rPr lang="en-US" dirty="0"/>
              <a:t>The boxplot illustrates the distribution of Scarcity, Urgency, and Purchase Intention scores, showing that participants generally gave mid-to-high ratings across all three constructs. The medians for each group fall in the upper range of the Likert scale, indicating overall agreement with statements related to scarcity messaging, perceived urgency, and intention to take purchase-related actions. The relatively compact interquartile ranges suggest consistent responses among participants, with limited variability and no major outliers. Overall, the plot shows that respondents tend to perceive scarcity and urgency cues positively, and these perceptions align with a stronger intention to engage in real estate purchase behavior.</a:t>
            </a:r>
          </a:p>
        </p:txBody>
      </p:sp>
    </p:spTree>
    <p:extLst>
      <p:ext uri="{BB962C8B-B14F-4D97-AF65-F5344CB8AC3E}">
        <p14:creationId xmlns:p14="http://schemas.microsoft.com/office/powerpoint/2010/main" val="4112920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63E767F-ED17-B829-9EB0-A4D20A4536DB}"/>
              </a:ext>
            </a:extLst>
          </p:cNvPr>
          <p:cNvSpPr>
            <a:spLocks noGrp="1"/>
          </p:cNvSpPr>
          <p:nvPr>
            <p:ph type="title"/>
          </p:nvPr>
        </p:nvSpPr>
        <p:spPr>
          <a:xfrm>
            <a:off x="1050925" y="609600"/>
            <a:ext cx="9810750" cy="1216025"/>
          </a:xfrm>
        </p:spPr>
        <p:txBody>
          <a:bodyPr/>
          <a:lstStyle/>
          <a:p>
            <a:pPr algn="ctr"/>
            <a:r>
              <a:rPr lang="en-US" sz="2400" b="1" dirty="0"/>
              <a:t>conclution</a:t>
            </a:r>
            <a:endParaRPr lang="en-US" b="1" dirty="0"/>
          </a:p>
        </p:txBody>
      </p:sp>
      <p:sp>
        <p:nvSpPr>
          <p:cNvPr id="4" name="TextBox 3">
            <a:extLst>
              <a:ext uri="{FF2B5EF4-FFF2-40B4-BE49-F238E27FC236}">
                <a16:creationId xmlns:a16="http://schemas.microsoft.com/office/drawing/2014/main" id="{750ADAA9-03EF-DC14-02B9-32477C4374EC}"/>
              </a:ext>
            </a:extLst>
          </p:cNvPr>
          <p:cNvSpPr txBox="1"/>
          <p:nvPr/>
        </p:nvSpPr>
        <p:spPr>
          <a:xfrm>
            <a:off x="545910" y="1825625"/>
            <a:ext cx="11354938" cy="4524315"/>
          </a:xfrm>
          <a:prstGeom prst="rect">
            <a:avLst/>
          </a:prstGeom>
          <a:noFill/>
        </p:spPr>
        <p:txBody>
          <a:bodyPr wrap="square" rtlCol="0">
            <a:spAutoFit/>
          </a:bodyPr>
          <a:lstStyle/>
          <a:p>
            <a:r>
              <a:rPr lang="en-US" dirty="0"/>
              <a:t>The analysis of the real estate survey shows that Scarcity Messaging and Perceived Urgency have a positive impact on Purchase Intention. Key findings include:</a:t>
            </a:r>
          </a:p>
          <a:p>
            <a:endParaRPr lang="en-US" dirty="0"/>
          </a:p>
          <a:p>
            <a:r>
              <a:rPr lang="en-US" dirty="0"/>
              <a:t>High intra-construct consistency: Items within each group (Scarcity, Urgency, Intention) are strongly correlated, confirming the reliability of the survey dimensions.</a:t>
            </a:r>
          </a:p>
          <a:p>
            <a:endParaRPr lang="en-US" dirty="0"/>
          </a:p>
          <a:p>
            <a:r>
              <a:rPr lang="en-US" dirty="0"/>
              <a:t>Positive inter-construct relationships: Scarcity and Urgency are moderately correlated with Purchase Intention (r = 0.53 and r = 0.67 respectively), suggesting that marketing messages emphasizing limited availability or time-sensitive offers can effectively influence consumer decisions.</a:t>
            </a:r>
          </a:p>
          <a:p>
            <a:endParaRPr lang="en-US" dirty="0"/>
          </a:p>
          <a:p>
            <a:r>
              <a:rPr lang="en-US" dirty="0"/>
              <a:t>Demographics have minimal influence: Age, Gender, and Education show very weak correlations with survey responses, indicating that the effects of Scarcity and Urgency are consistent across different demographic groups.</a:t>
            </a:r>
          </a:p>
          <a:p>
            <a:endParaRPr lang="en-US" dirty="0"/>
          </a:p>
          <a:p>
            <a:r>
              <a:rPr lang="en-US" dirty="0"/>
              <a:t>Overall, the results support the idea that psychological triggers in marketing—specifically scarcity and urgency—can increase consumer motivation and accelerate decision-making in the real estate context.</a:t>
            </a:r>
          </a:p>
          <a:p>
            <a:endParaRPr lang="en-US" dirty="0"/>
          </a:p>
        </p:txBody>
      </p:sp>
    </p:spTree>
    <p:extLst>
      <p:ext uri="{BB962C8B-B14F-4D97-AF65-F5344CB8AC3E}">
        <p14:creationId xmlns:p14="http://schemas.microsoft.com/office/powerpoint/2010/main" val="33212469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B264848-3A16-4949-A859-B511C70379E9}"/>
              </a:ext>
            </a:extLst>
          </p:cNvPr>
          <p:cNvSpPr>
            <a:spLocks noGrp="1"/>
          </p:cNvSpPr>
          <p:nvPr>
            <p:ph type="title"/>
          </p:nvPr>
        </p:nvSpPr>
        <p:spPr>
          <a:xfrm>
            <a:off x="1050925" y="609600"/>
            <a:ext cx="9810750" cy="1216025"/>
          </a:xfrm>
        </p:spPr>
        <p:txBody>
          <a:bodyPr/>
          <a:lstStyle/>
          <a:p>
            <a:pPr algn="ctr"/>
            <a:r>
              <a:rPr lang="en-US" sz="2400" b="1" dirty="0"/>
              <a:t>recommendion</a:t>
            </a:r>
            <a:endParaRPr lang="en-US" b="1" dirty="0"/>
          </a:p>
        </p:txBody>
      </p:sp>
      <p:sp>
        <p:nvSpPr>
          <p:cNvPr id="4" name="TextBox 3">
            <a:extLst>
              <a:ext uri="{FF2B5EF4-FFF2-40B4-BE49-F238E27FC236}">
                <a16:creationId xmlns:a16="http://schemas.microsoft.com/office/drawing/2014/main" id="{605C18A2-7756-7EB1-2474-D6A6EDE52AF8}"/>
              </a:ext>
            </a:extLst>
          </p:cNvPr>
          <p:cNvSpPr txBox="1"/>
          <p:nvPr/>
        </p:nvSpPr>
        <p:spPr>
          <a:xfrm>
            <a:off x="354842" y="1825625"/>
            <a:ext cx="11218459" cy="3139321"/>
          </a:xfrm>
          <a:prstGeom prst="rect">
            <a:avLst/>
          </a:prstGeom>
          <a:noFill/>
        </p:spPr>
        <p:txBody>
          <a:bodyPr wrap="square" rtlCol="0">
            <a:spAutoFit/>
          </a:bodyPr>
          <a:lstStyle/>
          <a:p>
            <a:r>
              <a:rPr lang="en-US"/>
              <a:t>Focus on Scarcity Messaging: Highlight limited units, “almost sold out” properties, or exclusive opportunities to enhance perceived value and urgency.</a:t>
            </a:r>
          </a:p>
          <a:p>
            <a:endParaRPr lang="en-US"/>
          </a:p>
          <a:p>
            <a:r>
              <a:rPr lang="en-US"/>
              <a:t>Leverage Time-Sensitive Offers: Deadlines, limited-time promotions, or fast-action incentives can strengthen purchase intention.</a:t>
            </a:r>
          </a:p>
          <a:p>
            <a:endParaRPr lang="en-US"/>
          </a:p>
          <a:p>
            <a:r>
              <a:rPr lang="en-US"/>
              <a:t>Tailor Marketing Materials Across Channels: Apply these triggers consistently in emails, social media, and website listings to maximize impact.</a:t>
            </a:r>
          </a:p>
          <a:p>
            <a:endParaRPr lang="en-US"/>
          </a:p>
          <a:p>
            <a:r>
              <a:rPr lang="en-US"/>
              <a:t>Monitor and Refine Messaging: Use item-level feedback to adjust wording and presentation of marketing messages to better resonate with potential buyers.</a:t>
            </a:r>
            <a:endParaRPr lang="en-US" dirty="0"/>
          </a:p>
        </p:txBody>
      </p:sp>
    </p:spTree>
    <p:extLst>
      <p:ext uri="{BB962C8B-B14F-4D97-AF65-F5344CB8AC3E}">
        <p14:creationId xmlns:p14="http://schemas.microsoft.com/office/powerpoint/2010/main" val="2175551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BAF47E-3A33-60B1-F5DE-5FD602CEF56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38A53AD-EF78-A8A9-12A6-D9979304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EF1D5F3-6E00-A9C0-DBB0-86DE78735F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586B02-58E4-2FF5-6D34-F7C48AD55C72}"/>
              </a:ext>
            </a:extLst>
          </p:cNvPr>
          <p:cNvSpPr>
            <a:spLocks noGrp="1"/>
          </p:cNvSpPr>
          <p:nvPr>
            <p:ph type="ctrTitle"/>
          </p:nvPr>
        </p:nvSpPr>
        <p:spPr>
          <a:xfrm>
            <a:off x="1148005" y="904411"/>
            <a:ext cx="5320206" cy="2807540"/>
          </a:xfrm>
        </p:spPr>
        <p:txBody>
          <a:bodyPr>
            <a:normAutofit/>
          </a:bodyPr>
          <a:lstStyle/>
          <a:p>
            <a:r>
              <a:rPr lang="en-US" sz="3200" dirty="0"/>
              <a:t>Thank you</a:t>
            </a:r>
          </a:p>
        </p:txBody>
      </p:sp>
      <p:pic>
        <p:nvPicPr>
          <p:cNvPr id="4" name="Picture 3" descr="Top view of wood desk with the plant, white keyboard, coffee in a white mug, notebook, and pen">
            <a:extLst>
              <a:ext uri="{FF2B5EF4-FFF2-40B4-BE49-F238E27FC236}">
                <a16:creationId xmlns:a16="http://schemas.microsoft.com/office/drawing/2014/main" id="{A4AE678B-80DE-B61B-A5CA-3D4E97F77CE8}"/>
              </a:ext>
            </a:extLst>
          </p:cNvPr>
          <p:cNvPicPr>
            <a:picLocks noChangeAspect="1"/>
          </p:cNvPicPr>
          <p:nvPr/>
        </p:nvPicPr>
        <p:blipFill>
          <a:blip r:embed="rId2"/>
          <a:srcRect l="27380" r="27643" b="-2"/>
          <a:stretch>
            <a:fillRect/>
          </a:stretch>
        </p:blipFill>
        <p:spPr>
          <a:xfrm>
            <a:off x="7616215" y="-23854"/>
            <a:ext cx="4575785" cy="6892740"/>
          </a:xfrm>
          <a:custGeom>
            <a:avLst/>
            <a:gdLst/>
            <a:ahLst/>
            <a:cxnLst/>
            <a:rect l="l" t="t" r="r" b="b"/>
            <a:pathLst>
              <a:path w="4575785" h="6857999">
                <a:moveTo>
                  <a:pt x="517468" y="0"/>
                </a:moveTo>
                <a:lnTo>
                  <a:pt x="4575785" y="0"/>
                </a:lnTo>
                <a:lnTo>
                  <a:pt x="4575785" y="6857999"/>
                </a:lnTo>
                <a:lnTo>
                  <a:pt x="960511" y="6857999"/>
                </a:lnTo>
                <a:lnTo>
                  <a:pt x="942694" y="6843617"/>
                </a:lnTo>
                <a:cubicBezTo>
                  <a:pt x="964945" y="6792705"/>
                  <a:pt x="892574" y="6836929"/>
                  <a:pt x="865960" y="6827318"/>
                </a:cubicBezTo>
                <a:lnTo>
                  <a:pt x="861487" y="6823037"/>
                </a:lnTo>
                <a:lnTo>
                  <a:pt x="859513" y="6806858"/>
                </a:lnTo>
                <a:lnTo>
                  <a:pt x="860461" y="6800037"/>
                </a:lnTo>
                <a:cubicBezTo>
                  <a:pt x="860484" y="6795612"/>
                  <a:pt x="859691" y="6793024"/>
                  <a:pt x="858251" y="6791626"/>
                </a:cubicBezTo>
                <a:lnTo>
                  <a:pt x="857660" y="6791654"/>
                </a:lnTo>
                <a:lnTo>
                  <a:pt x="856643" y="6783314"/>
                </a:lnTo>
                <a:cubicBezTo>
                  <a:pt x="856157" y="6768705"/>
                  <a:pt x="856848" y="6753980"/>
                  <a:pt x="858459" y="6739543"/>
                </a:cubicBezTo>
                <a:cubicBezTo>
                  <a:pt x="825704" y="6742272"/>
                  <a:pt x="849542" y="6681110"/>
                  <a:pt x="794118" y="6710916"/>
                </a:cubicBezTo>
                <a:cubicBezTo>
                  <a:pt x="794610" y="6692179"/>
                  <a:pt x="815573" y="6671806"/>
                  <a:pt x="779817" y="6693690"/>
                </a:cubicBezTo>
                <a:cubicBezTo>
                  <a:pt x="778915" y="6687990"/>
                  <a:pt x="774885" y="6685995"/>
                  <a:pt x="769310" y="6685745"/>
                </a:cubicBezTo>
                <a:lnTo>
                  <a:pt x="766802" y="6686064"/>
                </a:lnTo>
                <a:cubicBezTo>
                  <a:pt x="767473" y="6672038"/>
                  <a:pt x="768145" y="6658011"/>
                  <a:pt x="768816" y="6643985"/>
                </a:cubicBezTo>
                <a:lnTo>
                  <a:pt x="764758" y="6640288"/>
                </a:lnTo>
                <a:lnTo>
                  <a:pt x="771603" y="6610439"/>
                </a:lnTo>
                <a:cubicBezTo>
                  <a:pt x="771799" y="6605729"/>
                  <a:pt x="776328" y="6505678"/>
                  <a:pt x="776524" y="6500968"/>
                </a:cubicBezTo>
                <a:lnTo>
                  <a:pt x="716862" y="6252242"/>
                </a:lnTo>
                <a:cubicBezTo>
                  <a:pt x="710358" y="6209033"/>
                  <a:pt x="712158" y="6177416"/>
                  <a:pt x="706006" y="6116988"/>
                </a:cubicBezTo>
                <a:cubicBezTo>
                  <a:pt x="664744" y="6009788"/>
                  <a:pt x="669134" y="5997889"/>
                  <a:pt x="675681" y="5921438"/>
                </a:cubicBezTo>
                <a:cubicBezTo>
                  <a:pt x="609567" y="5910253"/>
                  <a:pt x="667197" y="5880778"/>
                  <a:pt x="646967" y="5848021"/>
                </a:cubicBezTo>
                <a:cubicBezTo>
                  <a:pt x="633539" y="5819166"/>
                  <a:pt x="610193" y="5775630"/>
                  <a:pt x="595120" y="5722308"/>
                </a:cubicBezTo>
                <a:cubicBezTo>
                  <a:pt x="587517" y="5685814"/>
                  <a:pt x="566330" y="5564010"/>
                  <a:pt x="556522" y="5528087"/>
                </a:cubicBezTo>
                <a:cubicBezTo>
                  <a:pt x="551310" y="5519174"/>
                  <a:pt x="556171" y="5505252"/>
                  <a:pt x="536270" y="5506770"/>
                </a:cubicBezTo>
                <a:cubicBezTo>
                  <a:pt x="512052" y="5506489"/>
                  <a:pt x="543356" y="5459435"/>
                  <a:pt x="516612" y="5473320"/>
                </a:cubicBezTo>
                <a:cubicBezTo>
                  <a:pt x="537947" y="5440196"/>
                  <a:pt x="486731" y="5435838"/>
                  <a:pt x="471989" y="5418523"/>
                </a:cubicBezTo>
                <a:cubicBezTo>
                  <a:pt x="493820" y="5390817"/>
                  <a:pt x="454363" y="5377479"/>
                  <a:pt x="442299" y="5333204"/>
                </a:cubicBezTo>
                <a:cubicBezTo>
                  <a:pt x="467689" y="5302287"/>
                  <a:pt x="420786" y="5307848"/>
                  <a:pt x="452960" y="5255192"/>
                </a:cubicBezTo>
                <a:cubicBezTo>
                  <a:pt x="453300" y="5233631"/>
                  <a:pt x="429983" y="5195187"/>
                  <a:pt x="431339" y="5156169"/>
                </a:cubicBezTo>
                <a:cubicBezTo>
                  <a:pt x="398945" y="5067566"/>
                  <a:pt x="403718" y="5079988"/>
                  <a:pt x="404757" y="5025421"/>
                </a:cubicBezTo>
                <a:cubicBezTo>
                  <a:pt x="400018" y="4966103"/>
                  <a:pt x="402758" y="4976631"/>
                  <a:pt x="395660" y="4924394"/>
                </a:cubicBezTo>
                <a:cubicBezTo>
                  <a:pt x="383838" y="4897752"/>
                  <a:pt x="406451" y="4876973"/>
                  <a:pt x="390158" y="4861232"/>
                </a:cubicBezTo>
                <a:cubicBezTo>
                  <a:pt x="362582" y="4877952"/>
                  <a:pt x="368360" y="4813711"/>
                  <a:pt x="341238" y="4838615"/>
                </a:cubicBezTo>
                <a:cubicBezTo>
                  <a:pt x="311503" y="4831441"/>
                  <a:pt x="352577" y="4804970"/>
                  <a:pt x="326273" y="4796524"/>
                </a:cubicBezTo>
                <a:lnTo>
                  <a:pt x="284996" y="4672372"/>
                </a:lnTo>
                <a:cubicBezTo>
                  <a:pt x="298118" y="4649489"/>
                  <a:pt x="287003" y="4640074"/>
                  <a:pt x="267970" y="4634255"/>
                </a:cubicBezTo>
                <a:cubicBezTo>
                  <a:pt x="263754" y="4595383"/>
                  <a:pt x="222766" y="4593405"/>
                  <a:pt x="203275" y="4555830"/>
                </a:cubicBezTo>
                <a:cubicBezTo>
                  <a:pt x="181514" y="4524570"/>
                  <a:pt x="154438" y="4520149"/>
                  <a:pt x="133797" y="4479914"/>
                </a:cubicBezTo>
                <a:cubicBezTo>
                  <a:pt x="124082" y="4457346"/>
                  <a:pt x="105185" y="4427564"/>
                  <a:pt x="84156" y="4415916"/>
                </a:cubicBezTo>
                <a:lnTo>
                  <a:pt x="83303" y="4414752"/>
                </a:lnTo>
                <a:lnTo>
                  <a:pt x="72062" y="4388525"/>
                </a:lnTo>
                <a:lnTo>
                  <a:pt x="75315" y="4375182"/>
                </a:lnTo>
                <a:cubicBezTo>
                  <a:pt x="75941" y="4370194"/>
                  <a:pt x="75530" y="4367154"/>
                  <a:pt x="74333" y="4365355"/>
                </a:cubicBezTo>
                <a:lnTo>
                  <a:pt x="68893" y="4364787"/>
                </a:lnTo>
                <a:cubicBezTo>
                  <a:pt x="68887" y="4364737"/>
                  <a:pt x="68881" y="4364686"/>
                  <a:pt x="68875" y="4364636"/>
                </a:cubicBezTo>
                <a:cubicBezTo>
                  <a:pt x="68620" y="4351507"/>
                  <a:pt x="69309" y="4337030"/>
                  <a:pt x="58168" y="4323582"/>
                </a:cubicBezTo>
                <a:cubicBezTo>
                  <a:pt x="61811" y="4263350"/>
                  <a:pt x="99263" y="4233013"/>
                  <a:pt x="79972" y="4208494"/>
                </a:cubicBezTo>
                <a:cubicBezTo>
                  <a:pt x="88758" y="4180446"/>
                  <a:pt x="125844" y="4152085"/>
                  <a:pt x="106280" y="4120638"/>
                </a:cubicBezTo>
                <a:cubicBezTo>
                  <a:pt x="111598" y="4121936"/>
                  <a:pt x="113804" y="4120147"/>
                  <a:pt x="114398" y="4116558"/>
                </a:cubicBezTo>
                <a:cubicBezTo>
                  <a:pt x="114157" y="4114248"/>
                  <a:pt x="113917" y="4111937"/>
                  <a:pt x="113677" y="4109627"/>
                </a:cubicBezTo>
                <a:lnTo>
                  <a:pt x="105699" y="4105626"/>
                </a:lnTo>
                <a:cubicBezTo>
                  <a:pt x="77890" y="4088880"/>
                  <a:pt x="108987" y="4082598"/>
                  <a:pt x="106408" y="4051443"/>
                </a:cubicBezTo>
                <a:cubicBezTo>
                  <a:pt x="106858" y="4036630"/>
                  <a:pt x="97032" y="3985550"/>
                  <a:pt x="103822" y="3988496"/>
                </a:cubicBezTo>
                <a:lnTo>
                  <a:pt x="75372" y="3857059"/>
                </a:lnTo>
                <a:cubicBezTo>
                  <a:pt x="82817" y="3836376"/>
                  <a:pt x="81742" y="3824520"/>
                  <a:pt x="64937" y="3815652"/>
                </a:cubicBezTo>
                <a:cubicBezTo>
                  <a:pt x="102287" y="3718925"/>
                  <a:pt x="55573" y="3772320"/>
                  <a:pt x="59080" y="3696747"/>
                </a:cubicBezTo>
                <a:cubicBezTo>
                  <a:pt x="66269" y="3629648"/>
                  <a:pt x="63240" y="3571908"/>
                  <a:pt x="85623" y="3491441"/>
                </a:cubicBezTo>
                <a:cubicBezTo>
                  <a:pt x="98410" y="3474059"/>
                  <a:pt x="99525" y="3431012"/>
                  <a:pt x="100691" y="3417526"/>
                </a:cubicBezTo>
                <a:cubicBezTo>
                  <a:pt x="101857" y="3404040"/>
                  <a:pt x="95556" y="3412369"/>
                  <a:pt x="92620" y="3410525"/>
                </a:cubicBezTo>
                <a:cubicBezTo>
                  <a:pt x="92153" y="3374230"/>
                  <a:pt x="83244" y="3285268"/>
                  <a:pt x="79737" y="3235496"/>
                </a:cubicBezTo>
                <a:cubicBezTo>
                  <a:pt x="70953" y="3207448"/>
                  <a:pt x="52012" y="3143347"/>
                  <a:pt x="71576" y="3111898"/>
                </a:cubicBezTo>
                <a:cubicBezTo>
                  <a:pt x="66408" y="3077014"/>
                  <a:pt x="53542" y="3056489"/>
                  <a:pt x="48725" y="3026189"/>
                </a:cubicBezTo>
                <a:cubicBezTo>
                  <a:pt x="35029" y="3013335"/>
                  <a:pt x="35295" y="2950066"/>
                  <a:pt x="42673" y="2930099"/>
                </a:cubicBezTo>
                <a:cubicBezTo>
                  <a:pt x="72765" y="2876461"/>
                  <a:pt x="20837" y="2811743"/>
                  <a:pt x="43260" y="2768401"/>
                </a:cubicBezTo>
                <a:cubicBezTo>
                  <a:pt x="44784" y="2755816"/>
                  <a:pt x="43709" y="2744724"/>
                  <a:pt x="41022" y="2734617"/>
                </a:cubicBezTo>
                <a:lnTo>
                  <a:pt x="29707" y="2708118"/>
                </a:lnTo>
                <a:lnTo>
                  <a:pt x="18896" y="2704187"/>
                </a:lnTo>
                <a:lnTo>
                  <a:pt x="16157" y="2686013"/>
                </a:lnTo>
                <a:lnTo>
                  <a:pt x="0" y="2656506"/>
                </a:lnTo>
                <a:cubicBezTo>
                  <a:pt x="46275" y="2648213"/>
                  <a:pt x="-21852" y="2580542"/>
                  <a:pt x="20000" y="2589495"/>
                </a:cubicBezTo>
                <a:cubicBezTo>
                  <a:pt x="9004" y="2539865"/>
                  <a:pt x="51725" y="2561406"/>
                  <a:pt x="4503" y="2517909"/>
                </a:cubicBezTo>
                <a:cubicBezTo>
                  <a:pt x="18312" y="2426183"/>
                  <a:pt x="2043" y="2320005"/>
                  <a:pt x="38580" y="2235940"/>
                </a:cubicBezTo>
                <a:cubicBezTo>
                  <a:pt x="39530" y="2131535"/>
                  <a:pt x="31342" y="1983035"/>
                  <a:pt x="28357" y="1891475"/>
                </a:cubicBezTo>
                <a:cubicBezTo>
                  <a:pt x="18536" y="1816240"/>
                  <a:pt x="53985" y="1820215"/>
                  <a:pt x="16422" y="1754299"/>
                </a:cubicBezTo>
                <a:cubicBezTo>
                  <a:pt x="22523" y="1748800"/>
                  <a:pt x="14115" y="1712020"/>
                  <a:pt x="17619" y="1704948"/>
                </a:cubicBezTo>
                <a:lnTo>
                  <a:pt x="11875" y="1640075"/>
                </a:lnTo>
                <a:lnTo>
                  <a:pt x="10148" y="1637400"/>
                </a:lnTo>
                <a:cubicBezTo>
                  <a:pt x="6571" y="1625366"/>
                  <a:pt x="7662" y="1617809"/>
                  <a:pt x="10809" y="1612250"/>
                </a:cubicBezTo>
                <a:lnTo>
                  <a:pt x="30710" y="1498099"/>
                </a:lnTo>
                <a:lnTo>
                  <a:pt x="28832" y="1497366"/>
                </a:lnTo>
                <a:lnTo>
                  <a:pt x="25420" y="1490044"/>
                </a:lnTo>
                <a:lnTo>
                  <a:pt x="36357" y="1429750"/>
                </a:lnTo>
                <a:cubicBezTo>
                  <a:pt x="56105" y="1395764"/>
                  <a:pt x="51096" y="1348657"/>
                  <a:pt x="63323" y="1316453"/>
                </a:cubicBezTo>
                <a:cubicBezTo>
                  <a:pt x="113953" y="1206017"/>
                  <a:pt x="97314" y="1160971"/>
                  <a:pt x="167299" y="1100758"/>
                </a:cubicBezTo>
                <a:cubicBezTo>
                  <a:pt x="183322" y="1066821"/>
                  <a:pt x="207320" y="1013057"/>
                  <a:pt x="218971" y="997428"/>
                </a:cubicBezTo>
                <a:cubicBezTo>
                  <a:pt x="225661" y="983599"/>
                  <a:pt x="245059" y="996998"/>
                  <a:pt x="249304" y="969068"/>
                </a:cubicBezTo>
                <a:cubicBezTo>
                  <a:pt x="273910" y="912445"/>
                  <a:pt x="257335" y="876944"/>
                  <a:pt x="307518" y="815816"/>
                </a:cubicBezTo>
                <a:cubicBezTo>
                  <a:pt x="319844" y="734499"/>
                  <a:pt x="427269" y="648257"/>
                  <a:pt x="438631" y="588216"/>
                </a:cubicBezTo>
                <a:cubicBezTo>
                  <a:pt x="468336" y="534577"/>
                  <a:pt x="480025" y="521047"/>
                  <a:pt x="494548" y="466832"/>
                </a:cubicBezTo>
                <a:cubicBezTo>
                  <a:pt x="513994" y="444023"/>
                  <a:pt x="469014" y="421695"/>
                  <a:pt x="512985" y="406165"/>
                </a:cubicBezTo>
                <a:cubicBezTo>
                  <a:pt x="519819" y="312467"/>
                  <a:pt x="496295" y="285415"/>
                  <a:pt x="499246" y="226337"/>
                </a:cubicBezTo>
                <a:cubicBezTo>
                  <a:pt x="511217" y="180655"/>
                  <a:pt x="525793" y="85726"/>
                  <a:pt x="530694" y="51692"/>
                </a:cubicBezTo>
                <a:cubicBezTo>
                  <a:pt x="512001" y="39736"/>
                  <a:pt x="522977" y="34428"/>
                  <a:pt x="528655" y="22135"/>
                </a:cubicBezTo>
                <a:cubicBezTo>
                  <a:pt x="511506" y="14446"/>
                  <a:pt x="513258" y="7722"/>
                  <a:pt x="516964" y="1039"/>
                </a:cubicBezTo>
                <a:close/>
              </a:path>
            </a:pathLst>
          </a:custGeom>
        </p:spPr>
      </p:pic>
    </p:spTree>
    <p:extLst>
      <p:ext uri="{BB962C8B-B14F-4D97-AF65-F5344CB8AC3E}">
        <p14:creationId xmlns:p14="http://schemas.microsoft.com/office/powerpoint/2010/main" val="8975485"/>
      </p:ext>
    </p:extLst>
  </p:cSld>
  <p:clrMapOvr>
    <a:masterClrMapping/>
  </p:clrMapOvr>
</p:sld>
</file>

<file path=ppt/theme/theme1.xml><?xml version="1.0" encoding="utf-8"?>
<a:theme xmlns:a="http://schemas.openxmlformats.org/drawingml/2006/main" name="ArchiveVTI">
  <a:themeElements>
    <a:clrScheme name="Archive">
      <a:dk1>
        <a:sysClr val="windowText" lastClr="000000"/>
      </a:dk1>
      <a:lt1>
        <a:sysClr val="window" lastClr="FFFFFF"/>
      </a:lt1>
      <a:dk2>
        <a:srgbClr val="353B3D"/>
      </a:dk2>
      <a:lt2>
        <a:srgbClr val="EEECEA"/>
      </a:lt2>
      <a:accent1>
        <a:srgbClr val="A65E5E"/>
      </a:accent1>
      <a:accent2>
        <a:srgbClr val="9D6053"/>
      </a:accent2>
      <a:accent3>
        <a:srgbClr val="968274"/>
      </a:accent3>
      <a:accent4>
        <a:srgbClr val="878079"/>
      </a:accent4>
      <a:accent5>
        <a:srgbClr val="6C737A"/>
      </a:accent5>
      <a:accent6>
        <a:srgbClr val="697777"/>
      </a:accent6>
      <a:hlink>
        <a:srgbClr val="A25872"/>
      </a:hlink>
      <a:folHlink>
        <a:srgbClr val="667A7E"/>
      </a:folHlink>
    </a:clrScheme>
    <a:fontScheme name="Custom 170">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iveVTI" id="{514BDC9F-20AC-40CA-9FE7-B30987BCD2D4}" vid="{D8FA1533-D953-46ED-B2C7-B32AF1BED7A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70A5190448F8A448305D24CCCEB6F24" ma:contentTypeVersion="7" ma:contentTypeDescription="Create a new document." ma:contentTypeScope="" ma:versionID="8937d5e3bca9f450f1262aeef9466672">
  <xsd:schema xmlns:xsd="http://www.w3.org/2001/XMLSchema" xmlns:xs="http://www.w3.org/2001/XMLSchema" xmlns:p="http://schemas.microsoft.com/office/2006/metadata/properties" xmlns:ns3="52d6ae77-14f1-4dda-921f-44d0b3f11a2e" targetNamespace="http://schemas.microsoft.com/office/2006/metadata/properties" ma:root="true" ma:fieldsID="98afb7ada753703a60d2b9018abe0622" ns3:_="">
    <xsd:import namespace="52d6ae77-14f1-4dda-921f-44d0b3f11a2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d6ae77-14f1-4dda-921f-44d0b3f11a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4438E0-00DE-4714-AB52-F3819B3C732A}">
  <ds:schemaRefs>
    <ds:schemaRef ds:uri="http://purl.org/dc/elements/1.1/"/>
    <ds:schemaRef ds:uri="http://schemas.microsoft.com/office/infopath/2007/PartnerControls"/>
    <ds:schemaRef ds:uri="http://purl.org/dc/terms/"/>
    <ds:schemaRef ds:uri="http://schemas.microsoft.com/office/2006/metadata/properties"/>
    <ds:schemaRef ds:uri="http://www.w3.org/XML/1998/namespace"/>
    <ds:schemaRef ds:uri="http://schemas.microsoft.com/office/2006/documentManagement/types"/>
    <ds:schemaRef ds:uri="http://purl.org/dc/dcmitype/"/>
    <ds:schemaRef ds:uri="http://schemas.openxmlformats.org/package/2006/metadata/core-properties"/>
    <ds:schemaRef ds:uri="52d6ae77-14f1-4dda-921f-44d0b3f11a2e"/>
  </ds:schemaRefs>
</ds:datastoreItem>
</file>

<file path=customXml/itemProps2.xml><?xml version="1.0" encoding="utf-8"?>
<ds:datastoreItem xmlns:ds="http://schemas.openxmlformats.org/officeDocument/2006/customXml" ds:itemID="{0EB44DBB-122B-4012-A2B1-90B9690BE4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d6ae77-14f1-4dda-921f-44d0b3f11a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DCF1034-3E01-4FDE-97B6-166C9839B7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267</TotalTime>
  <Words>2302</Words>
  <Application>Microsoft Office PowerPoint</Application>
  <PresentationFormat>Widescreen</PresentationFormat>
  <Paragraphs>365</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Batang</vt:lpstr>
      <vt:lpstr>Arial</vt:lpstr>
      <vt:lpstr>Bembo</vt:lpstr>
      <vt:lpstr>Calibri</vt:lpstr>
      <vt:lpstr>ArchiveVTI</vt:lpstr>
      <vt:lpstr>Practice dataset Analysis</vt:lpstr>
      <vt:lpstr>1.Introduction 2.Loding Data 3.Data Cleaning 4. Descriptive Statistics 5. correlation 6. Reliability 7. Regression 8.validity&amp;t_test 9.anova 10. Visualizations 11.conclution 12.recommendition  </vt:lpstr>
      <vt:lpstr>INtroduction</vt:lpstr>
      <vt:lpstr>Loading Data</vt:lpstr>
      <vt:lpstr>Cleaning Data</vt:lpstr>
      <vt:lpstr>PowerPoint Presentation</vt:lpstr>
      <vt:lpstr>Descriptive Statistics</vt:lpstr>
      <vt:lpstr>PowerPoint Presentation</vt:lpstr>
      <vt:lpstr>PowerPoint Presentation</vt:lpstr>
      <vt:lpstr>PowerPoint Presentation</vt:lpstr>
      <vt:lpstr>Correlation</vt:lpstr>
      <vt:lpstr>Correlation</vt:lpstr>
      <vt:lpstr>PowerPoint Presentation</vt:lpstr>
      <vt:lpstr>Reliability</vt:lpstr>
      <vt:lpstr>Regression</vt:lpstr>
      <vt:lpstr>PowerPoint Presentation</vt:lpstr>
      <vt:lpstr>validation</vt:lpstr>
      <vt:lpstr>PowerPoint Presentation</vt:lpstr>
      <vt:lpstr>ANOVA</vt:lpstr>
      <vt:lpstr>Visualizations</vt:lpstr>
      <vt:lpstr>PowerPoint Presentation</vt:lpstr>
      <vt:lpstr>PowerPoint Presentation</vt:lpstr>
      <vt:lpstr>PowerPoint Presentation</vt:lpstr>
      <vt:lpstr>PowerPoint Presentation</vt:lpstr>
      <vt:lpstr>conclution</vt:lpstr>
      <vt:lpstr>recommendion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احمد حمد ابراهيم محمد</dc:creator>
  <cp:lastModifiedBy>farah osama</cp:lastModifiedBy>
  <cp:revision>6</cp:revision>
  <dcterms:created xsi:type="dcterms:W3CDTF">2025-11-20T20:38:17Z</dcterms:created>
  <dcterms:modified xsi:type="dcterms:W3CDTF">2025-11-21T11:45:55Z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0x010100470A5190448F8A448305D24CCCEB6F24</vt:lpwstr>
  </property>
</Properties>
</file>